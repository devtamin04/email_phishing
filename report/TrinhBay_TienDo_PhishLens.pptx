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Chỉ văn bản – TF-IDF</c:v>
                </c:pt>
              </c:strCache>
            </c:strRef>
          </c:tx>
          <c:spPr>
            <a:solidFill>
              <a:srgbClr val="2A78D6"/>
            </a:solidFill>
          </c:spPr>
          <c:cat>
            <c:strRef>
              <c:f>Sheet1!$A$2:$A$7</c:f>
              <c:strCache>
                <c:ptCount val="6"/>
                <c:pt idx="0">
                  <c:v>Gốc (văn bản)</c:v>
                </c:pt>
                <c:pt idx="1">
                  <c:v>LLM viết lại</c:v>
                </c:pt>
                <c:pt idx="2">
                  <c:v>Chuyển vào ảnh</c:v>
                </c:pt>
                <c:pt idx="3">
                  <c:v>Ảnh + mã QR</c:v>
                </c:pt>
                <c:pt idx="4">
                  <c:v>Tệp Word đính kèm</c:v>
                </c:pt>
                <c:pt idx="5">
                  <c:v>Tệp HTML đính kèm</c:v>
                </c:pt>
              </c:strCache>
            </c:strRef>
          </c:cat>
          <c:val>
            <c:numRef>
              <c:f>Sheet1!$B$2:$B$7</c:f>
              <c:numCache>
                <c:formatCode>General</c:formatCode>
                <c:ptCount val="6"/>
                <c:pt idx="0">
                  <c:v>0.8</c:v>
                </c:pt>
                <c:pt idx="1">
                  <c:v>0.6666666666666666</c:v>
                </c:pt>
                <c:pt idx="2">
                  <c:v>0.0</c:v>
                </c:pt>
                <c:pt idx="3">
                  <c:v>0.0</c:v>
                </c:pt>
                <c:pt idx="4">
                  <c:v>0.0</c:v>
                </c:pt>
                <c:pt idx="5">
                  <c:v>0.0</c:v>
                </c:pt>
              </c:numCache>
            </c:numRef>
          </c:val>
        </c:ser>
        <c:ser>
          <c:idx val="1"/>
          <c:order val="1"/>
          <c:tx>
            <c:strRef>
              <c:f>Sheet1!$C$1</c:f>
              <c:strCache>
                <c:ptCount val="1"/>
                <c:pt idx="0">
                  <c:v>Chỉ văn bản – KD-BiLSTM</c:v>
                </c:pt>
              </c:strCache>
            </c:strRef>
          </c:tx>
          <c:spPr>
            <a:solidFill>
              <a:srgbClr val="EB6834"/>
            </a:solidFill>
          </c:spPr>
          <c:cat>
            <c:strRef>
              <c:f>Sheet1!$A$2:$A$7</c:f>
              <c:strCache>
                <c:ptCount val="6"/>
                <c:pt idx="0">
                  <c:v>Gốc (văn bản)</c:v>
                </c:pt>
                <c:pt idx="1">
                  <c:v>LLM viết lại</c:v>
                </c:pt>
                <c:pt idx="2">
                  <c:v>Chuyển vào ảnh</c:v>
                </c:pt>
                <c:pt idx="3">
                  <c:v>Ảnh + mã QR</c:v>
                </c:pt>
                <c:pt idx="4">
                  <c:v>Tệp Word đính kèm</c:v>
                </c:pt>
                <c:pt idx="5">
                  <c:v>Tệp HTML đính kèm</c:v>
                </c:pt>
              </c:strCache>
            </c:strRef>
          </c:cat>
          <c:val>
            <c:numRef>
              <c:f>Sheet1!$C$2:$C$7</c:f>
              <c:numCache>
                <c:formatCode>General</c:formatCode>
                <c:ptCount val="6"/>
                <c:pt idx="0">
                  <c:v>0.6666666666666666</c:v>
                </c:pt>
                <c:pt idx="1">
                  <c:v>0.6</c:v>
                </c:pt>
                <c:pt idx="2">
                  <c:v>0.0</c:v>
                </c:pt>
                <c:pt idx="3">
                  <c:v>0.0</c:v>
                </c:pt>
                <c:pt idx="4">
                  <c:v>0.0</c:v>
                </c:pt>
                <c:pt idx="5">
                  <c:v>0.0</c:v>
                </c:pt>
              </c:numCache>
            </c:numRef>
          </c:val>
        </c:ser>
        <c:ser>
          <c:idx val="2"/>
          <c:order val="2"/>
          <c:tx>
            <c:strRef>
              <c:f>Sheet1!$D$1</c:f>
              <c:strCache>
                <c:ptCount val="1"/>
                <c:pt idx="0">
                  <c:v>PhishLens đa kênh – TF-IDF</c:v>
                </c:pt>
              </c:strCache>
            </c:strRef>
          </c:tx>
          <c:spPr>
            <a:solidFill>
              <a:srgbClr val="1BAF7A"/>
            </a:solidFill>
          </c:spPr>
          <c:cat>
            <c:strRef>
              <c:f>Sheet1!$A$2:$A$7</c:f>
              <c:strCache>
                <c:ptCount val="6"/>
                <c:pt idx="0">
                  <c:v>Gốc (văn bản)</c:v>
                </c:pt>
                <c:pt idx="1">
                  <c:v>LLM viết lại</c:v>
                </c:pt>
                <c:pt idx="2">
                  <c:v>Chuyển vào ảnh</c:v>
                </c:pt>
                <c:pt idx="3">
                  <c:v>Ảnh + mã QR</c:v>
                </c:pt>
                <c:pt idx="4">
                  <c:v>Tệp Word đính kèm</c:v>
                </c:pt>
                <c:pt idx="5">
                  <c:v>Tệp HTML đính kèm</c:v>
                </c:pt>
              </c:strCache>
            </c:strRef>
          </c:cat>
          <c:val>
            <c:numRef>
              <c:f>Sheet1!$D$2:$D$7</c:f>
              <c:numCache>
                <c:formatCode>General</c:formatCode>
                <c:ptCount val="6"/>
                <c:pt idx="0">
                  <c:v>0.8</c:v>
                </c:pt>
                <c:pt idx="1">
                  <c:v>0.8</c:v>
                </c:pt>
                <c:pt idx="2">
                  <c:v>0.9</c:v>
                </c:pt>
                <c:pt idx="3">
                  <c:v>1.0</c:v>
                </c:pt>
                <c:pt idx="4">
                  <c:v>0.7</c:v>
                </c:pt>
                <c:pt idx="5">
                  <c:v>1.0</c:v>
                </c:pt>
              </c:numCache>
            </c:numRef>
          </c:val>
        </c:ser>
        <c:ser>
          <c:idx val="3"/>
          <c:order val="3"/>
          <c:tx>
            <c:strRef>
              <c:f>Sheet1!$E$1</c:f>
              <c:strCache>
                <c:ptCount val="1"/>
                <c:pt idx="0">
                  <c:v>PhishLens đa kênh – KD-BiLSTM</c:v>
                </c:pt>
              </c:strCache>
            </c:strRef>
          </c:tx>
          <c:spPr>
            <a:solidFill>
              <a:srgbClr val="EDA100"/>
            </a:solidFill>
          </c:spPr>
          <c:cat>
            <c:strRef>
              <c:f>Sheet1!$A$2:$A$7</c:f>
              <c:strCache>
                <c:ptCount val="6"/>
                <c:pt idx="0">
                  <c:v>Gốc (văn bản)</c:v>
                </c:pt>
                <c:pt idx="1">
                  <c:v>LLM viết lại</c:v>
                </c:pt>
                <c:pt idx="2">
                  <c:v>Chuyển vào ảnh</c:v>
                </c:pt>
                <c:pt idx="3">
                  <c:v>Ảnh + mã QR</c:v>
                </c:pt>
                <c:pt idx="4">
                  <c:v>Tệp Word đính kèm</c:v>
                </c:pt>
                <c:pt idx="5">
                  <c:v>Tệp HTML đính kèm</c:v>
                </c:pt>
              </c:strCache>
            </c:strRef>
          </c:cat>
          <c:val>
            <c:numRef>
              <c:f>Sheet1!$E$2:$E$7</c:f>
              <c:numCache>
                <c:formatCode>General</c:formatCode>
                <c:ptCount val="6"/>
                <c:pt idx="0">
                  <c:v>0.8</c:v>
                </c:pt>
                <c:pt idx="1">
                  <c:v>0.8</c:v>
                </c:pt>
                <c:pt idx="2">
                  <c:v>0.9666666666666667</c:v>
                </c:pt>
                <c:pt idx="3">
                  <c:v>1.0</c:v>
                </c:pt>
                <c:pt idx="4">
                  <c:v>0.5666666666666667</c:v>
                </c:pt>
                <c:pt idx="5">
                  <c:v>1.0</c:v>
                </c:pt>
              </c:numCache>
            </c:numRef>
          </c:val>
        </c:ser>
        <c:dLbls>
          <c:numFmt formatCode="0%" sourceLinked="0"/>
          <c:txPr>
            <a:bodyPr/>
            <a:lstStyle/>
            <a:p>
              <a:pPr>
                <a:defRPr sz="900">
                  <a:solidFill>
                    <a:srgbClr val="52514E"/>
                  </a:solidFill>
                  <a:latin typeface="Arial"/>
                </a:defRPr>
              </a:pPr>
            </a:p>
          </c:txPr>
          <c:dLblPos val="outEnd"/>
          <c:showLegendKey val="0"/>
          <c:showVal val="1"/>
          <c:showCatName val="0"/>
          <c:showSerName val="0"/>
          <c:showPercent val="0"/>
          <c:showBubbleSize val="0"/>
          <c:showLeaderLines val="1"/>
        </c:dLbls>
        <c:gapWidth val="60"/>
        <c:overlap val="-8"/>
        <c:axId val="-2068027336"/>
        <c:axId val="-2113994440"/>
      </c:barChart>
      <c:catAx>
        <c:axId val="-2068027336"/>
        <c:scaling>
          <c:orientation val="maxMin"/>
        </c:scaling>
        <c:delete val="0"/>
        <c:axPos val="l"/>
        <c:majorTickMark val="out"/>
        <c:minorTickMark val="none"/>
        <c:tickLblPos val="nextTo"/>
        <c:spPr>
          <a:ln>
            <a:solidFill>
              <a:srgbClr val="E1E0D9"/>
            </a:solidFill>
          </a:ln>
        </c:spPr>
        <c:txPr>
          <a:bodyPr/>
          <a:lstStyle/>
          <a:p>
            <a:pPr>
              <a:defRPr sz="1200">
                <a:latin typeface="Arial"/>
              </a:defRPr>
            </a:pPr>
          </a:p>
        </c:txPr>
        <c:crossAx val="-2113994440"/>
        <c:crosses val="autoZero"/>
        <c:auto val="1"/>
        <c:lblAlgn val="ctr"/>
        <c:lblOffset val="100"/>
        <c:noMultiLvlLbl val="0"/>
      </c:catAx>
      <c:valAx>
        <c:axId val="-2113994440"/>
        <c:scaling>
          <c:max val="1.0"/>
          <c:min val="0.0"/>
        </c:scaling>
        <c:delete val="0"/>
        <c:axPos val="b"/>
        <c:majorGridlines>
          <c:spPr>
            <a:ln>
              <a:solidFill>
                <a:srgbClr val="E1E0D9"/>
              </a:solidFill>
            </a:ln>
          </c:spPr>
        </c:majorGridlines>
        <c:numFmt formatCode="0%" sourceLinked="0"/>
        <c:majorTickMark val="out"/>
        <c:minorTickMark val="none"/>
        <c:tickLblPos val="nextTo"/>
        <c:spPr>
          <a:ln>
            <a:noFill/>
          </a:ln>
        </c:spPr>
        <c:txPr>
          <a:bodyPr/>
          <a:lstStyle/>
          <a:p>
            <a:pPr>
              <a:defRPr sz="1000">
                <a:solidFill>
                  <a:srgbClr val="898781"/>
                </a:solidFill>
              </a:defRPr>
            </a:pPr>
          </a:p>
        </c:txPr>
        <c:crossAx val="-2068027336"/>
        <c:crosses val="autoZero"/>
        <c:majorUnit val="0.25"/>
      </c:valAx>
    </c:plotArea>
    <c:legend>
      <c:legendPos val="t"/>
      <c:overlay val="0"/>
      <c:txPr>
        <a:bodyPr/>
        <a:lstStyle/>
        <a:p>
          <a:pPr>
            <a:defRPr sz="1100">
              <a:solidFill>
                <a:srgbClr val="52514E"/>
              </a:solidFill>
              <a:latin typeface="Arial"/>
            </a:defRPr>
          </a:pPr>
        </a:p>
      </c:txP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554480"/>
            <a:ext cx="10515600" cy="457200"/>
          </a:xfrm>
          <a:prstGeom prst="rect">
            <a:avLst/>
          </a:prstGeom>
          <a:noFill/>
        </p:spPr>
        <p:txBody>
          <a:bodyPr wrap="square" anchor="t" lIns="45720" rIns="45720">
            <a:spAutoFit/>
          </a:bodyPr>
          <a:lstStyle/>
          <a:p>
            <a:pPr>
              <a:spcAft>
                <a:spcPts val="600"/>
              </a:spcAft>
            </a:pPr>
            <a:r>
              <a:rPr sz="1600" b="1" i="0">
                <a:solidFill>
                  <a:srgbClr val="2A78D6"/>
                </a:solidFill>
                <a:latin typeface="Arial"/>
              </a:rPr>
              <a:t>TỪ BÀI BÁO ĐẾN ỨNG DỤNG</a:t>
            </a:r>
          </a:p>
        </p:txBody>
      </p:sp>
      <p:sp>
        <p:nvSpPr>
          <p:cNvPr id="4" name="TextBox 3"/>
          <p:cNvSpPr txBox="1"/>
          <p:nvPr/>
        </p:nvSpPr>
        <p:spPr>
          <a:xfrm>
            <a:off x="822960" y="2011680"/>
            <a:ext cx="10515600" cy="1097280"/>
          </a:xfrm>
          <a:prstGeom prst="rect">
            <a:avLst/>
          </a:prstGeom>
          <a:noFill/>
        </p:spPr>
        <p:txBody>
          <a:bodyPr wrap="square" anchor="t" lIns="45720" rIns="45720">
            <a:spAutoFit/>
          </a:bodyPr>
          <a:lstStyle/>
          <a:p>
            <a:pPr>
              <a:spcAft>
                <a:spcPts val="600"/>
              </a:spcAft>
            </a:pPr>
            <a:r>
              <a:rPr sz="4200" b="1" i="0">
                <a:solidFill>
                  <a:srgbClr val="0B0B0B"/>
                </a:solidFill>
                <a:latin typeface="Arial"/>
              </a:rPr>
              <a:t>Phát hiện email lừa đảo thế hệ LLM</a:t>
            </a:r>
          </a:p>
        </p:txBody>
      </p:sp>
      <p:sp>
        <p:nvSpPr>
          <p:cNvPr id="5" name="TextBox 4"/>
          <p:cNvSpPr txBox="1"/>
          <p:nvPr/>
        </p:nvSpPr>
        <p:spPr>
          <a:xfrm>
            <a:off x="822960" y="3017520"/>
            <a:ext cx="10515600" cy="914400"/>
          </a:xfrm>
          <a:prstGeom prst="rect">
            <a:avLst/>
          </a:prstGeom>
          <a:noFill/>
        </p:spPr>
        <p:txBody>
          <a:bodyPr wrap="square" anchor="t" lIns="45720" rIns="45720">
            <a:spAutoFit/>
          </a:bodyPr>
          <a:lstStyle/>
          <a:p>
            <a:pPr>
              <a:spcAft>
                <a:spcPts val="600"/>
              </a:spcAft>
            </a:pPr>
            <a:r>
              <a:rPr sz="2200" b="0" i="0">
                <a:solidFill>
                  <a:srgbClr val="52514E"/>
                </a:solidFill>
                <a:latin typeface="Arial"/>
              </a:rPr>
              <a:t>Tìm hiểu KD-BiLSTM · Tái hiện · Xây dựng PhishLens Edu cho trường học</a:t>
            </a:r>
          </a:p>
        </p:txBody>
      </p:sp>
      <p:sp>
        <p:nvSpPr>
          <p:cNvPr id="6" name="TextBox 5"/>
          <p:cNvSpPr txBox="1"/>
          <p:nvPr/>
        </p:nvSpPr>
        <p:spPr>
          <a:xfrm>
            <a:off x="822960" y="4297680"/>
            <a:ext cx="10515600" cy="1280160"/>
          </a:xfrm>
          <a:prstGeom prst="rect">
            <a:avLst/>
          </a:prstGeom>
          <a:noFill/>
        </p:spPr>
        <p:txBody>
          <a:bodyPr wrap="square" anchor="t" lIns="45720" rIns="45720">
            <a:spAutoFit/>
          </a:bodyPr>
          <a:lstStyle/>
          <a:p>
            <a:pPr>
              <a:spcAft>
                <a:spcPts val="600"/>
              </a:spcAft>
            </a:pPr>
            <a:r>
              <a:rPr sz="1300" b="0" i="1">
                <a:solidFill>
                  <a:srgbClr val="898781"/>
                </a:solidFill>
                <a:latin typeface="Arial"/>
              </a:rPr>
              <a:t>Bài báo: M. Eskandarian et al., "A lightweight defense mechanism against next-generation of phishing emails using distilled attention-augmented BiLSTM", Journal of Information Security and Applications 101 (2026) 104552.</a:t>
            </a:r>
          </a:p>
          <a:p>
            <a:pPr>
              <a:spcAft>
                <a:spcPts val="600"/>
              </a:spcAft>
            </a:pPr>
            <a:r>
              <a:rPr sz="1600" b="0" i="0">
                <a:solidFill>
                  <a:srgbClr val="0B0B0B"/>
                </a:solidFill>
                <a:latin typeface="Arial"/>
              </a:rPr>
              <a:t>Nhóm thực hiện: [Họ tên các thành viên]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Nội dung trình bày</a:t>
            </a:r>
          </a:p>
        </p:txBody>
      </p:sp>
      <p:sp>
        <p:nvSpPr>
          <p:cNvPr id="4" name="TextBox 3"/>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2</a:t>
            </a:r>
          </a:p>
        </p:txBody>
      </p:sp>
      <p:sp>
        <p:nvSpPr>
          <p:cNvPr id="5" name="Rounded Rectangle 4"/>
          <p:cNvSpPr/>
          <p:nvPr/>
        </p:nvSpPr>
        <p:spPr>
          <a:xfrm>
            <a:off x="548640" y="1554480"/>
            <a:ext cx="3566160" cy="237744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783080"/>
            <a:ext cx="594360" cy="594360"/>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I</a:t>
            </a:r>
          </a:p>
        </p:txBody>
      </p:sp>
      <p:sp>
        <p:nvSpPr>
          <p:cNvPr id="7" name="TextBox 6"/>
          <p:cNvSpPr txBox="1"/>
          <p:nvPr/>
        </p:nvSpPr>
        <p:spPr>
          <a:xfrm>
            <a:off x="777240" y="2514600"/>
            <a:ext cx="3108960" cy="1371600"/>
          </a:xfrm>
          <a:prstGeom prst="rect">
            <a:avLst/>
          </a:prstGeom>
          <a:noFill/>
        </p:spPr>
        <p:txBody>
          <a:bodyPr wrap="square" anchor="t" lIns="45720" rIns="45720">
            <a:spAutoFit/>
          </a:bodyPr>
          <a:lstStyle/>
          <a:p>
            <a:pPr>
              <a:spcAft>
                <a:spcPts val="600"/>
              </a:spcAft>
            </a:pPr>
            <a:r>
              <a:rPr sz="2200" b="1" i="0">
                <a:solidFill>
                  <a:srgbClr val="0B0B0B"/>
                </a:solidFill>
                <a:latin typeface="Arial"/>
              </a:rPr>
              <a:t>Tìm hiểu</a:t>
            </a:r>
          </a:p>
          <a:p>
            <a:pPr>
              <a:spcAft>
                <a:spcPts val="600"/>
              </a:spcAft>
            </a:pPr>
            <a:r>
              <a:rPr sz="1400" b="0" i="0">
                <a:solidFill>
                  <a:srgbClr val="52514E"/>
                </a:solidFill>
                <a:latin typeface="Arial"/>
              </a:rPr>
              <a:t>Bối cảnh, bài báo KD-BiLSTM: dữ liệu, mô hình, kết quả, khoảng trống</a:t>
            </a:r>
          </a:p>
        </p:txBody>
      </p:sp>
      <p:sp>
        <p:nvSpPr>
          <p:cNvPr id="8" name="Right Arrow 7"/>
          <p:cNvSpPr/>
          <p:nvPr/>
        </p:nvSpPr>
        <p:spPr>
          <a:xfrm>
            <a:off x="4133088" y="2606040"/>
            <a:ext cx="182880" cy="274320"/>
          </a:xfrm>
          <a:prstGeom prst="rightArrow">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43400" y="1554480"/>
            <a:ext cx="3566160" cy="237744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72000" y="1783080"/>
            <a:ext cx="594360" cy="594360"/>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II</a:t>
            </a:r>
          </a:p>
        </p:txBody>
      </p:sp>
      <p:sp>
        <p:nvSpPr>
          <p:cNvPr id="11" name="TextBox 10"/>
          <p:cNvSpPr txBox="1"/>
          <p:nvPr/>
        </p:nvSpPr>
        <p:spPr>
          <a:xfrm>
            <a:off x="4572000" y="2514600"/>
            <a:ext cx="3108960" cy="1371600"/>
          </a:xfrm>
          <a:prstGeom prst="rect">
            <a:avLst/>
          </a:prstGeom>
          <a:noFill/>
        </p:spPr>
        <p:txBody>
          <a:bodyPr wrap="square" anchor="t" lIns="45720" rIns="45720">
            <a:spAutoFit/>
          </a:bodyPr>
          <a:lstStyle/>
          <a:p>
            <a:pPr>
              <a:spcAft>
                <a:spcPts val="600"/>
              </a:spcAft>
            </a:pPr>
            <a:r>
              <a:rPr sz="2200" b="1" i="0">
                <a:solidFill>
                  <a:srgbClr val="0B0B0B"/>
                </a:solidFill>
                <a:latin typeface="Arial"/>
              </a:rPr>
              <a:t>Nội dung thực hiện</a:t>
            </a:r>
          </a:p>
          <a:p>
            <a:pPr>
              <a:spcAft>
                <a:spcPts val="600"/>
              </a:spcAft>
            </a:pPr>
            <a:r>
              <a:rPr sz="1400" b="0" i="0">
                <a:solidFill>
                  <a:srgbClr val="52514E"/>
                </a:solidFill>
                <a:latin typeface="Arial"/>
              </a:rPr>
              <a:t>Tái hiện bài báo · xây dựng PhishLens Edu · đánh giá độ bền</a:t>
            </a:r>
          </a:p>
        </p:txBody>
      </p:sp>
      <p:sp>
        <p:nvSpPr>
          <p:cNvPr id="12" name="Right Arrow 11"/>
          <p:cNvSpPr/>
          <p:nvPr/>
        </p:nvSpPr>
        <p:spPr>
          <a:xfrm>
            <a:off x="7927848" y="2606040"/>
            <a:ext cx="182880" cy="274320"/>
          </a:xfrm>
          <a:prstGeom prst="rightArrow">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38160" y="1554480"/>
            <a:ext cx="3566160" cy="2377440"/>
          </a:xfrm>
          <a:prstGeom prst="roundRect">
            <a:avLst>
              <a:gd name="adj" fmla="val 6000"/>
            </a:avLst>
          </a:prstGeom>
          <a:solidFill>
            <a:srgbClr val="CDE2FB"/>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66760" y="1783080"/>
            <a:ext cx="594360" cy="594360"/>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III</a:t>
            </a:r>
          </a:p>
        </p:txBody>
      </p:sp>
      <p:sp>
        <p:nvSpPr>
          <p:cNvPr id="15" name="TextBox 14"/>
          <p:cNvSpPr txBox="1"/>
          <p:nvPr/>
        </p:nvSpPr>
        <p:spPr>
          <a:xfrm>
            <a:off x="8366760" y="2514600"/>
            <a:ext cx="3108960" cy="1371600"/>
          </a:xfrm>
          <a:prstGeom prst="rect">
            <a:avLst/>
          </a:prstGeom>
          <a:noFill/>
        </p:spPr>
        <p:txBody>
          <a:bodyPr wrap="square" anchor="t" lIns="45720" rIns="45720">
            <a:spAutoFit/>
          </a:bodyPr>
          <a:lstStyle/>
          <a:p>
            <a:pPr>
              <a:spcAft>
                <a:spcPts val="600"/>
              </a:spcAft>
            </a:pPr>
            <a:r>
              <a:rPr sz="2200" b="1" i="0">
                <a:solidFill>
                  <a:srgbClr val="2A78D6"/>
                </a:solidFill>
                <a:latin typeface="Arial"/>
              </a:rPr>
              <a:t>Đóng góp</a:t>
            </a:r>
          </a:p>
          <a:p>
            <a:pPr>
              <a:spcAft>
                <a:spcPts val="600"/>
              </a:spcAft>
            </a:pPr>
            <a:r>
              <a:rPr sz="1400" b="0" i="0">
                <a:solidFill>
                  <a:srgbClr val="52514E"/>
                </a:solidFill>
                <a:latin typeface="Arial"/>
              </a:rPr>
              <a:t>Những gì nhóm bổ sung so với bài báo, phát hiện, hướng phát triển</a:t>
            </a:r>
          </a:p>
        </p:txBody>
      </p:sp>
      <p:sp>
        <p:nvSpPr>
          <p:cNvPr id="16" name="TextBox 15"/>
          <p:cNvSpPr txBox="1"/>
          <p:nvPr/>
        </p:nvSpPr>
        <p:spPr>
          <a:xfrm>
            <a:off x="548640" y="4343400"/>
            <a:ext cx="11155680" cy="365760"/>
          </a:xfrm>
          <a:prstGeom prst="rect">
            <a:avLst/>
          </a:prstGeom>
          <a:noFill/>
        </p:spPr>
        <p:txBody>
          <a:bodyPr wrap="square" anchor="t" lIns="45720" rIns="45720">
            <a:spAutoFit/>
          </a:bodyPr>
          <a:lstStyle/>
          <a:p>
            <a:pPr>
              <a:spcAft>
                <a:spcPts val="600"/>
              </a:spcAft>
            </a:pPr>
            <a:r>
              <a:rPr sz="1600" b="1" i="0">
                <a:solidFill>
                  <a:srgbClr val="0B0B0B"/>
                </a:solidFill>
                <a:latin typeface="Arial"/>
              </a:rPr>
              <a:t>Mạch trình bày</a:t>
            </a:r>
          </a:p>
        </p:txBody>
      </p:sp>
      <p:sp>
        <p:nvSpPr>
          <p:cNvPr id="17" name="Rounded Rectangle 16"/>
          <p:cNvSpPr/>
          <p:nvPr/>
        </p:nvSpPr>
        <p:spPr>
          <a:xfrm>
            <a:off x="548640" y="4800600"/>
            <a:ext cx="1920240" cy="73152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910328"/>
            <a:ext cx="1645920" cy="548640"/>
          </a:xfrm>
          <a:prstGeom prst="rect">
            <a:avLst/>
          </a:prstGeom>
          <a:noFill/>
        </p:spPr>
        <p:txBody>
          <a:bodyPr wrap="square" anchor="t" lIns="45720" rIns="45720">
            <a:spAutoFit/>
          </a:bodyPr>
          <a:lstStyle/>
          <a:p>
            <a:pPr>
              <a:spcAft>
                <a:spcPts val="400"/>
              </a:spcAft>
            </a:pPr>
            <a:r>
              <a:rPr sz="1500" b="1" i="0">
                <a:solidFill>
                  <a:srgbClr val="0B0B0B"/>
                </a:solidFill>
                <a:latin typeface="Arial"/>
              </a:rPr>
              <a:t>Bài báo gốc</a:t>
            </a:r>
          </a:p>
          <a:p>
            <a:pPr>
              <a:spcAft>
                <a:spcPts val="600"/>
              </a:spcAft>
            </a:pPr>
            <a:r>
              <a:rPr sz="1300" b="0" i="0">
                <a:solidFill>
                  <a:srgbClr val="52514E"/>
                </a:solidFill>
                <a:latin typeface="Arial"/>
              </a:rPr>
              <a:t/>
            </a:r>
          </a:p>
        </p:txBody>
      </p:sp>
      <p:sp>
        <p:nvSpPr>
          <p:cNvPr id="19" name="Right Arrow 18"/>
          <p:cNvSpPr/>
          <p:nvPr/>
        </p:nvSpPr>
        <p:spPr>
          <a:xfrm>
            <a:off x="2487168" y="5029200"/>
            <a:ext cx="320040" cy="274320"/>
          </a:xfrm>
          <a:prstGeom prst="rightArrow">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834640" y="4800600"/>
            <a:ext cx="1920240" cy="73152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71800" y="4910328"/>
            <a:ext cx="1645920" cy="548640"/>
          </a:xfrm>
          <a:prstGeom prst="rect">
            <a:avLst/>
          </a:prstGeom>
          <a:noFill/>
        </p:spPr>
        <p:txBody>
          <a:bodyPr wrap="square" anchor="t" lIns="45720" rIns="45720">
            <a:spAutoFit/>
          </a:bodyPr>
          <a:lstStyle/>
          <a:p>
            <a:pPr>
              <a:spcAft>
                <a:spcPts val="400"/>
              </a:spcAft>
            </a:pPr>
            <a:r>
              <a:rPr sz="1500" b="1" i="0">
                <a:solidFill>
                  <a:srgbClr val="0B0B0B"/>
                </a:solidFill>
                <a:latin typeface="Arial"/>
              </a:rPr>
              <a:t>Tái hiện pipeline</a:t>
            </a:r>
          </a:p>
          <a:p>
            <a:pPr>
              <a:spcAft>
                <a:spcPts val="600"/>
              </a:spcAft>
            </a:pPr>
            <a:r>
              <a:rPr sz="1300" b="0" i="0">
                <a:solidFill>
                  <a:srgbClr val="52514E"/>
                </a:solidFill>
                <a:latin typeface="Arial"/>
              </a:rPr>
              <a:t/>
            </a:r>
          </a:p>
        </p:txBody>
      </p:sp>
      <p:sp>
        <p:nvSpPr>
          <p:cNvPr id="22" name="Right Arrow 21"/>
          <p:cNvSpPr/>
          <p:nvPr/>
        </p:nvSpPr>
        <p:spPr>
          <a:xfrm>
            <a:off x="4773168" y="5029200"/>
            <a:ext cx="320040" cy="274320"/>
          </a:xfrm>
          <a:prstGeom prst="rightArrow">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120640" y="4800600"/>
            <a:ext cx="1920240" cy="73152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57800" y="4910328"/>
            <a:ext cx="1645920" cy="548640"/>
          </a:xfrm>
          <a:prstGeom prst="rect">
            <a:avLst/>
          </a:prstGeom>
          <a:noFill/>
        </p:spPr>
        <p:txBody>
          <a:bodyPr wrap="square" anchor="t" lIns="45720" rIns="45720">
            <a:spAutoFit/>
          </a:bodyPr>
          <a:lstStyle/>
          <a:p>
            <a:pPr>
              <a:spcAft>
                <a:spcPts val="400"/>
              </a:spcAft>
            </a:pPr>
            <a:r>
              <a:rPr sz="1500" b="1" i="0">
                <a:solidFill>
                  <a:srgbClr val="0B0B0B"/>
                </a:solidFill>
                <a:latin typeface="Arial"/>
              </a:rPr>
              <a:t>Tìm ra khoảng trống</a:t>
            </a:r>
          </a:p>
          <a:p>
            <a:pPr>
              <a:spcAft>
                <a:spcPts val="600"/>
              </a:spcAft>
            </a:pPr>
            <a:r>
              <a:rPr sz="1300" b="0" i="0">
                <a:solidFill>
                  <a:srgbClr val="52514E"/>
                </a:solidFill>
                <a:latin typeface="Arial"/>
              </a:rPr>
              <a:t/>
            </a:r>
          </a:p>
        </p:txBody>
      </p:sp>
      <p:sp>
        <p:nvSpPr>
          <p:cNvPr id="25" name="Right Arrow 24"/>
          <p:cNvSpPr/>
          <p:nvPr/>
        </p:nvSpPr>
        <p:spPr>
          <a:xfrm>
            <a:off x="7059168" y="5029200"/>
            <a:ext cx="320040" cy="274320"/>
          </a:xfrm>
          <a:prstGeom prst="rightArrow">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06640" y="4800600"/>
            <a:ext cx="1920240" cy="731520"/>
          </a:xfrm>
          <a:prstGeom prst="roundRect">
            <a:avLst>
              <a:gd name="adj" fmla="val 6000"/>
            </a:avLst>
          </a:prstGeom>
          <a:solidFill>
            <a:srgbClr val="CDE2FB"/>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43800" y="4910328"/>
            <a:ext cx="1645920" cy="548640"/>
          </a:xfrm>
          <a:prstGeom prst="rect">
            <a:avLst/>
          </a:prstGeom>
          <a:noFill/>
        </p:spPr>
        <p:txBody>
          <a:bodyPr wrap="square" anchor="t" lIns="45720" rIns="45720">
            <a:spAutoFit/>
          </a:bodyPr>
          <a:lstStyle/>
          <a:p>
            <a:pPr>
              <a:spcAft>
                <a:spcPts val="400"/>
              </a:spcAft>
            </a:pPr>
            <a:r>
              <a:rPr sz="1500" b="1" i="0">
                <a:solidFill>
                  <a:srgbClr val="2A78D6"/>
                </a:solidFill>
                <a:latin typeface="Arial"/>
              </a:rPr>
              <a:t>PhishLens Edu</a:t>
            </a:r>
          </a:p>
          <a:p>
            <a:pPr>
              <a:spcAft>
                <a:spcPts val="600"/>
              </a:spcAft>
            </a:pPr>
            <a:r>
              <a:rPr sz="1300" b="0" i="0">
                <a:solidFill>
                  <a:srgbClr val="52514E"/>
                </a:solidFill>
                <a:latin typeface="Arial"/>
              </a:rPr>
              <a:t/>
            </a:r>
          </a:p>
        </p:txBody>
      </p:sp>
      <p:sp>
        <p:nvSpPr>
          <p:cNvPr id="28" name="Right Arrow 27"/>
          <p:cNvSpPr/>
          <p:nvPr/>
        </p:nvSpPr>
        <p:spPr>
          <a:xfrm>
            <a:off x="9345168" y="5029200"/>
            <a:ext cx="320040" cy="274320"/>
          </a:xfrm>
          <a:prstGeom prst="rightArrow">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92640" y="4800600"/>
            <a:ext cx="1920240" cy="731520"/>
          </a:xfrm>
          <a:prstGeom prst="roundRect">
            <a:avLst>
              <a:gd name="adj" fmla="val 6000"/>
            </a:avLst>
          </a:prstGeom>
          <a:solidFill>
            <a:srgbClr val="CDE2FB"/>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29800" y="4910328"/>
            <a:ext cx="1645920" cy="548640"/>
          </a:xfrm>
          <a:prstGeom prst="rect">
            <a:avLst/>
          </a:prstGeom>
          <a:noFill/>
        </p:spPr>
        <p:txBody>
          <a:bodyPr wrap="square" anchor="t" lIns="45720" rIns="45720">
            <a:spAutoFit/>
          </a:bodyPr>
          <a:lstStyle/>
          <a:p>
            <a:pPr>
              <a:spcAft>
                <a:spcPts val="400"/>
              </a:spcAft>
            </a:pPr>
            <a:r>
              <a:rPr sz="1500" b="1" i="0">
                <a:solidFill>
                  <a:srgbClr val="2A78D6"/>
                </a:solidFill>
                <a:latin typeface="Arial"/>
              </a:rPr>
              <a:t>Đánh giá độ bền</a:t>
            </a:r>
          </a:p>
          <a:p>
            <a:pPr>
              <a:spcAft>
                <a:spcPts val="600"/>
              </a:spcAft>
            </a:pPr>
            <a:r>
              <a:rPr sz="1300" b="0" i="0">
                <a:solidFill>
                  <a:srgbClr val="52514E"/>
                </a:solidFill>
                <a:latin typeface="Arial"/>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A78D6"/>
        </a:solidFill>
        <a:effectLst/>
      </p:bgPr>
    </p:bg>
    <p:spTree>
      <p:nvGrpSpPr>
        <p:cNvPr id="1" name=""/>
        <p:cNvGrpSpPr/>
        <p:nvPr/>
      </p:nvGrpSpPr>
      <p:grpSpPr/>
      <p:sp>
        <p:nvSpPr>
          <p:cNvPr id="2" name="TextBox 1"/>
          <p:cNvSpPr txBox="1"/>
          <p:nvPr/>
        </p:nvSpPr>
        <p:spPr>
          <a:xfrm>
            <a:off x="822960" y="2011680"/>
            <a:ext cx="10515600" cy="914400"/>
          </a:xfrm>
          <a:prstGeom prst="rect">
            <a:avLst/>
          </a:prstGeom>
          <a:noFill/>
        </p:spPr>
        <p:txBody>
          <a:bodyPr wrap="square" anchor="t" lIns="45720" rIns="45720">
            <a:spAutoFit/>
          </a:bodyPr>
          <a:lstStyle/>
          <a:p>
            <a:pPr>
              <a:spcAft>
                <a:spcPts val="600"/>
              </a:spcAft>
            </a:pPr>
            <a:r>
              <a:rPr sz="2000" b="1" i="0">
                <a:solidFill>
                  <a:srgbClr val="CDE2FB"/>
                </a:solidFill>
                <a:latin typeface="Arial"/>
              </a:rPr>
              <a:t>PHẦN I</a:t>
            </a:r>
          </a:p>
        </p:txBody>
      </p:sp>
      <p:sp>
        <p:nvSpPr>
          <p:cNvPr id="3" name="TextBox 2"/>
          <p:cNvSpPr txBox="1"/>
          <p:nvPr/>
        </p:nvSpPr>
        <p:spPr>
          <a:xfrm>
            <a:off x="822960" y="2651760"/>
            <a:ext cx="10515600" cy="1188720"/>
          </a:xfrm>
          <a:prstGeom prst="rect">
            <a:avLst/>
          </a:prstGeom>
          <a:noFill/>
        </p:spPr>
        <p:txBody>
          <a:bodyPr wrap="square" anchor="t" lIns="45720" rIns="45720">
            <a:spAutoFit/>
          </a:bodyPr>
          <a:lstStyle/>
          <a:p>
            <a:pPr>
              <a:spcAft>
                <a:spcPts val="600"/>
              </a:spcAft>
            </a:pPr>
            <a:r>
              <a:rPr sz="4800" b="1" i="0">
                <a:solidFill>
                  <a:srgbClr val="FFFFFF"/>
                </a:solidFill>
                <a:latin typeface="Arial"/>
              </a:rPr>
              <a:t>Tìm hiểu</a:t>
            </a:r>
          </a:p>
        </p:txBody>
      </p:sp>
      <p:sp>
        <p:nvSpPr>
          <p:cNvPr id="4" name="TextBox 3"/>
          <p:cNvSpPr txBox="1"/>
          <p:nvPr/>
        </p:nvSpPr>
        <p:spPr>
          <a:xfrm>
            <a:off x="822960" y="3840480"/>
            <a:ext cx="10515600" cy="914400"/>
          </a:xfrm>
          <a:prstGeom prst="rect">
            <a:avLst/>
          </a:prstGeom>
          <a:noFill/>
        </p:spPr>
        <p:txBody>
          <a:bodyPr wrap="square" anchor="t" lIns="45720" rIns="45720">
            <a:spAutoFit/>
          </a:bodyPr>
          <a:lstStyle/>
          <a:p>
            <a:pPr>
              <a:spcAft>
                <a:spcPts val="600"/>
              </a:spcAft>
            </a:pPr>
            <a:r>
              <a:rPr sz="2000" b="0" i="0">
                <a:solidFill>
                  <a:srgbClr val="CDE2FB"/>
                </a:solidFill>
                <a:latin typeface="Arial"/>
              </a:rPr>
              <a:t>Bối cảnh, bài báo KD-BiLSTM: dữ liệu, mô hình, kết quả, khoảng trống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I · TÌM HIỂU</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Bối cảnh: email lừa đảo trong thời LLM</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4</a:t>
            </a:r>
          </a:p>
        </p:txBody>
      </p:sp>
      <p:sp>
        <p:nvSpPr>
          <p:cNvPr id="6" name="TextBox 5"/>
          <p:cNvSpPr txBox="1"/>
          <p:nvPr/>
        </p:nvSpPr>
        <p:spPr>
          <a:xfrm>
            <a:off x="548640" y="1463040"/>
            <a:ext cx="6400800" cy="4754880"/>
          </a:xfrm>
          <a:prstGeom prst="rect">
            <a:avLst/>
          </a:prstGeom>
          <a:noFill/>
        </p:spPr>
        <p:txBody>
          <a:bodyPr wrap="square" anchor="t" lIns="45720" rIns="45720">
            <a:spAutoFit/>
          </a:bodyPr>
          <a:lstStyle/>
          <a:p>
            <a:pPr>
              <a:spcAft>
                <a:spcPts val="900"/>
              </a:spcAft>
            </a:pPr>
            <a:r>
              <a:rPr sz="1600" b="0" i="0">
                <a:solidFill>
                  <a:srgbClr val="2A78D6"/>
                </a:solidFill>
                <a:latin typeface="Arial"/>
              </a:rPr>
              <a:t>•  </a:t>
            </a:r>
            <a:r>
              <a:rPr sz="1600" b="1" i="0">
                <a:solidFill>
                  <a:srgbClr val="0B0B0B"/>
                </a:solidFill>
                <a:latin typeface="Arial"/>
              </a:rPr>
              <a:t>LLM giúp kẻ tấn công </a:t>
            </a:r>
            <a:r>
              <a:rPr sz="1600" b="0" i="0">
                <a:solidFill>
                  <a:srgbClr val="0B0B0B"/>
                </a:solidFill>
                <a:latin typeface="Arial"/>
              </a:rPr>
              <a:t>viết email trôi chảy, lịch sự, cá nhân hóa với chi phí gần bằng 0</a:t>
            </a:r>
          </a:p>
          <a:p>
            <a:pPr>
              <a:spcAft>
                <a:spcPts val="900"/>
              </a:spcAft>
            </a:pPr>
            <a:r>
              <a:rPr sz="1600" b="0" i="0">
                <a:solidFill>
                  <a:srgbClr val="2A78D6"/>
                </a:solidFill>
                <a:latin typeface="Arial"/>
              </a:rPr>
              <a:t>•  </a:t>
            </a:r>
            <a:r>
              <a:rPr sz="1600" b="1" i="0">
                <a:solidFill>
                  <a:srgbClr val="0B0B0B"/>
                </a:solidFill>
                <a:latin typeface="Arial"/>
              </a:rPr>
              <a:t>Ba hành vi né tránh tiêu biểu:</a:t>
            </a:r>
            <a:r>
              <a:rPr sz="1600" b="0" i="0">
                <a:solidFill>
                  <a:srgbClr val="0B0B0B"/>
                </a:solidFill>
                <a:latin typeface="Arial"/>
              </a:rPr>
              <a:t/>
            </a:r>
          </a:p>
          <a:p>
            <a:pPr lvl="1">
              <a:spcAft>
                <a:spcPts val="500"/>
              </a:spcAft>
            </a:pPr>
            <a:r>
              <a:rPr sz="1400" b="0" i="0">
                <a:solidFill>
                  <a:srgbClr val="898781"/>
                </a:solidFill>
                <a:latin typeface="Arial"/>
              </a:rPr>
              <a:t>–  </a:t>
            </a:r>
            <a:r>
              <a:rPr sz="1400" b="0" i="0">
                <a:solidFill>
                  <a:srgbClr val="52514E"/>
                </a:solidFill>
                <a:latin typeface="Arial"/>
              </a:rPr>
              <a:t>Paraphrase: diễn đạt lại để né chữ ký từ khóa</a:t>
            </a:r>
          </a:p>
          <a:p>
            <a:pPr lvl="1">
              <a:spcAft>
                <a:spcPts val="500"/>
              </a:spcAft>
            </a:pPr>
            <a:r>
              <a:rPr sz="1400" b="0" i="0">
                <a:solidFill>
                  <a:srgbClr val="898781"/>
                </a:solidFill>
                <a:latin typeface="Arial"/>
              </a:rPr>
              <a:t>–  </a:t>
            </a:r>
            <a:r>
              <a:rPr sz="1400" b="0" i="0">
                <a:solidFill>
                  <a:srgbClr val="52514E"/>
                </a:solidFill>
                <a:latin typeface="Arial"/>
              </a:rPr>
              <a:t>Masking: làm mềm dấu hiệu lộ liễu thành giọng công sở</a:t>
            </a:r>
          </a:p>
          <a:p>
            <a:pPr lvl="1">
              <a:spcAft>
                <a:spcPts val="500"/>
              </a:spcAft>
            </a:pPr>
            <a:r>
              <a:rPr sz="1400" b="0" i="0">
                <a:solidFill>
                  <a:srgbClr val="898781"/>
                </a:solidFill>
                <a:latin typeface="Arial"/>
              </a:rPr>
              <a:t>–  </a:t>
            </a:r>
            <a:r>
              <a:rPr sz="1400" b="0" i="0">
                <a:solidFill>
                  <a:srgbClr val="52514E"/>
                </a:solidFill>
                <a:latin typeface="Arial"/>
              </a:rPr>
              <a:t>Personalization: chèn tên, chức danh, bối cảnh của người nhận</a:t>
            </a:r>
          </a:p>
          <a:p>
            <a:pPr>
              <a:spcAft>
                <a:spcPts val="900"/>
              </a:spcAft>
            </a:pPr>
            <a:r>
              <a:rPr sz="1600" b="0" i="0">
                <a:solidFill>
                  <a:srgbClr val="2A78D6"/>
                </a:solidFill>
                <a:latin typeface="Arial"/>
              </a:rPr>
              <a:t>•  </a:t>
            </a:r>
            <a:r>
              <a:rPr sz="1600" b="1" i="0">
                <a:solidFill>
                  <a:srgbClr val="0B0B0B"/>
                </a:solidFill>
                <a:latin typeface="Arial"/>
              </a:rPr>
              <a:t>“Chuyển kênh”: </a:t>
            </a:r>
            <a:r>
              <a:rPr sz="1600" b="0" i="0">
                <a:solidFill>
                  <a:srgbClr val="0B0B0B"/>
                </a:solidFill>
                <a:latin typeface="Arial"/>
              </a:rPr>
              <a:t>đặt thông điệp vào ảnh, mã QR (quishing), tệp HTML/PDF/ZIP có mật khẩu</a:t>
            </a:r>
          </a:p>
          <a:p>
            <a:pPr>
              <a:spcAft>
                <a:spcPts val="900"/>
              </a:spcAft>
            </a:pPr>
            <a:r>
              <a:rPr sz="1600" b="0" i="0">
                <a:solidFill>
                  <a:srgbClr val="2A78D6"/>
                </a:solidFill>
                <a:latin typeface="Arial"/>
              </a:rPr>
              <a:t>•  </a:t>
            </a:r>
            <a:r>
              <a:rPr sz="1600" b="1" i="0">
                <a:solidFill>
                  <a:srgbClr val="0B0B0B"/>
                </a:solidFill>
                <a:latin typeface="Arial"/>
              </a:rPr>
              <a:t>Trường học là mục tiêu dễ: </a:t>
            </a:r>
            <a:r>
              <a:rPr sz="1600" b="0" i="0">
                <a:solidFill>
                  <a:srgbClr val="0B0B0B"/>
                </a:solidFill>
                <a:latin typeface="Arial"/>
              </a:rPr>
              <a:t>hàng chục nghìn tài khoản, thông báo thật cũng nói về học phí, học bổng, mật khẩu</a:t>
            </a:r>
          </a:p>
        </p:txBody>
      </p:sp>
      <p:sp>
        <p:nvSpPr>
          <p:cNvPr id="7" name="Rounded Rectangle 6"/>
          <p:cNvSpPr/>
          <p:nvPr/>
        </p:nvSpPr>
        <p:spPr>
          <a:xfrm>
            <a:off x="7315200" y="1554480"/>
            <a:ext cx="4389120" cy="210312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52360" y="1664208"/>
            <a:ext cx="4114800" cy="1920240"/>
          </a:xfrm>
          <a:prstGeom prst="rect">
            <a:avLst/>
          </a:prstGeom>
          <a:noFill/>
        </p:spPr>
        <p:txBody>
          <a:bodyPr wrap="square" anchor="t" lIns="45720" rIns="45720">
            <a:spAutoFit/>
          </a:bodyPr>
          <a:lstStyle/>
          <a:p>
            <a:pPr>
              <a:spcAft>
                <a:spcPts val="400"/>
              </a:spcAft>
            </a:pPr>
            <a:r>
              <a:rPr sz="1500" b="1" i="0">
                <a:solidFill>
                  <a:srgbClr val="0B0B0B"/>
                </a:solidFill>
                <a:latin typeface="Arial"/>
              </a:rPr>
              <a:t>Giải pháp hiện có còn thiếu gì?</a:t>
            </a:r>
          </a:p>
          <a:p>
            <a:pPr>
              <a:spcAft>
                <a:spcPts val="600"/>
              </a:spcAft>
            </a:pPr>
            <a:r>
              <a:rPr sz="1300" b="0" i="0">
                <a:solidFill>
                  <a:srgbClr val="52514E"/>
                </a:solidFill>
                <a:latin typeface="Arial"/>
              </a:rPr>
              <a:t>Gmail / M365 Defender chặn phần lớn chiến dịch phổ biến, nhưng email lọt qua thường là email khéo nhất. Người dùng là lớp phòng thủ cuối mà lại không biết vì sao email đáng ngờ.</a:t>
            </a:r>
          </a:p>
        </p:txBody>
      </p:sp>
      <p:sp>
        <p:nvSpPr>
          <p:cNvPr id="9" name="Rounded Rectangle 8"/>
          <p:cNvSpPr/>
          <p:nvPr/>
        </p:nvSpPr>
        <p:spPr>
          <a:xfrm>
            <a:off x="7315200" y="3840480"/>
            <a:ext cx="4389120" cy="210312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52360" y="3950208"/>
            <a:ext cx="4114800" cy="1920240"/>
          </a:xfrm>
          <a:prstGeom prst="rect">
            <a:avLst/>
          </a:prstGeom>
          <a:noFill/>
        </p:spPr>
        <p:txBody>
          <a:bodyPr wrap="square" anchor="t" lIns="45720" rIns="45720">
            <a:spAutoFit/>
          </a:bodyPr>
          <a:lstStyle/>
          <a:p>
            <a:pPr>
              <a:spcAft>
                <a:spcPts val="400"/>
              </a:spcAft>
            </a:pPr>
            <a:r>
              <a:rPr sz="1500" b="1" i="0">
                <a:solidFill>
                  <a:srgbClr val="0B0B0B"/>
                </a:solidFill>
                <a:latin typeface="Arial"/>
              </a:rPr>
              <a:t>Mô hình lớn thì khó triển khai</a:t>
            </a:r>
          </a:p>
          <a:p>
            <a:pPr>
              <a:spcAft>
                <a:spcPts val="600"/>
              </a:spcAft>
            </a:pPr>
            <a:r>
              <a:rPr sz="1300" b="0" i="0">
                <a:solidFill>
                  <a:srgbClr val="52514E"/>
                </a:solidFill>
                <a:latin typeface="Arial"/>
              </a:rPr>
              <a:t>Transformer hàng trăm triệu – hàng tỷ tham số khó đặt ở gateway. Gửi email lên API LLM thương mại thì tốn chi phí, trễ và lộ dữ liệu cá nhân.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I · TÌM HIỂU</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Bài báo chọn tìm hiểu</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5</a:t>
            </a:r>
          </a:p>
        </p:txBody>
      </p:sp>
      <p:sp>
        <p:nvSpPr>
          <p:cNvPr id="6" name="TextBox 5"/>
          <p:cNvSpPr txBox="1"/>
          <p:nvPr/>
        </p:nvSpPr>
        <p:spPr>
          <a:xfrm>
            <a:off x="548640" y="1325880"/>
            <a:ext cx="11155680" cy="822960"/>
          </a:xfrm>
          <a:prstGeom prst="rect">
            <a:avLst/>
          </a:prstGeom>
          <a:noFill/>
        </p:spPr>
        <p:txBody>
          <a:bodyPr wrap="square" anchor="t" lIns="45720" rIns="45720">
            <a:spAutoFit/>
          </a:bodyPr>
          <a:lstStyle/>
          <a:p>
            <a:pPr>
              <a:spcAft>
                <a:spcPts val="600"/>
              </a:spcAft>
            </a:pPr>
            <a:r>
              <a:rPr sz="1500" b="0" i="1">
                <a:solidFill>
                  <a:srgbClr val="52514E"/>
                </a:solidFill>
                <a:latin typeface="Arial"/>
              </a:rPr>
              <a:t>Eskandarian et al. (Viện An ninh mạng Canada – ĐH New Brunswick &amp; Mastercard), JISA 101 (2026) 104552</a:t>
            </a:r>
          </a:p>
          <a:p>
            <a:pPr>
              <a:spcAft>
                <a:spcPts val="600"/>
              </a:spcAft>
            </a:pPr>
            <a:r>
              <a:rPr sz="1700" b="1" i="0">
                <a:solidFill>
                  <a:srgbClr val="0B0B0B"/>
                </a:solidFill>
                <a:latin typeface="Arial"/>
              </a:rPr>
              <a:t>Mục tiêu: bộ phát hiện nhỏ, nhanh, chạy CPU, vẫn bền trước email do LLM viết lại</a:t>
            </a:r>
          </a:p>
        </p:txBody>
      </p:sp>
      <p:pic>
        <p:nvPicPr>
          <p:cNvPr id="7" name="Picture 6" descr="diag1.png"/>
          <p:cNvPicPr>
            <a:picLocks noChangeAspect="1"/>
          </p:cNvPicPr>
          <p:nvPr/>
        </p:nvPicPr>
        <p:blipFill>
          <a:blip r:embed="rId2"/>
          <a:stretch>
            <a:fillRect/>
          </a:stretch>
        </p:blipFill>
        <p:spPr>
          <a:xfrm>
            <a:off x="548640" y="2240280"/>
            <a:ext cx="6949440" cy="2286997"/>
          </a:xfrm>
          <a:prstGeom prst="rect">
            <a:avLst/>
          </a:prstGeom>
          <a:ln w="9525">
            <a:solidFill>
              <a:srgbClr val="E1E0D9"/>
            </a:solidFill>
          </a:ln>
        </p:spPr>
      </p:pic>
      <p:sp>
        <p:nvSpPr>
          <p:cNvPr id="8" name="TextBox 7"/>
          <p:cNvSpPr txBox="1"/>
          <p:nvPr/>
        </p:nvSpPr>
        <p:spPr>
          <a:xfrm>
            <a:off x="7772400" y="2240280"/>
            <a:ext cx="4023360" cy="4114800"/>
          </a:xfrm>
          <a:prstGeom prst="rect">
            <a:avLst/>
          </a:prstGeom>
          <a:noFill/>
        </p:spPr>
        <p:txBody>
          <a:bodyPr wrap="square" anchor="t" lIns="45720" rIns="45720">
            <a:spAutoFit/>
          </a:bodyPr>
          <a:lstStyle/>
          <a:p>
            <a:pPr>
              <a:spcAft>
                <a:spcPts val="900"/>
              </a:spcAft>
            </a:pPr>
            <a:r>
              <a:rPr sz="1500" b="0" i="0">
                <a:solidFill>
                  <a:srgbClr val="2A78D6"/>
                </a:solidFill>
                <a:latin typeface="Arial"/>
              </a:rPr>
              <a:t>•  </a:t>
            </a:r>
            <a:r>
              <a:rPr sz="1500" b="1" i="0">
                <a:solidFill>
                  <a:srgbClr val="0B0B0B"/>
                </a:solidFill>
                <a:latin typeface="Arial"/>
              </a:rPr>
              <a:t>Bốn đóng góp của bài báo</a:t>
            </a:r>
            <a:r>
              <a:rPr sz="1500" b="0" i="0">
                <a:solidFill>
                  <a:srgbClr val="0B0B0B"/>
                </a:solidFill>
                <a:latin typeface="Arial"/>
              </a:rPr>
              <a:t/>
            </a:r>
          </a:p>
          <a:p>
            <a:pPr lvl="1">
              <a:spcAft>
                <a:spcPts val="500"/>
              </a:spcAft>
            </a:pPr>
            <a:r>
              <a:rPr sz="1300" b="0" i="0">
                <a:solidFill>
                  <a:srgbClr val="898781"/>
                </a:solidFill>
                <a:latin typeface="Arial"/>
              </a:rPr>
              <a:t>–  </a:t>
            </a:r>
            <a:r>
              <a:rPr sz="1300" b="0" i="0">
                <a:solidFill>
                  <a:srgbClr val="52514E"/>
                </a:solidFill>
                <a:latin typeface="Arial"/>
              </a:rPr>
              <a:t>Bộ dữ liệu “nhận biết LLM”: email thật + email LLM viết lại</a:t>
            </a:r>
          </a:p>
          <a:p>
            <a:pPr lvl="1">
              <a:spcAft>
                <a:spcPts val="500"/>
              </a:spcAft>
            </a:pPr>
            <a:r>
              <a:rPr sz="1300" b="0" i="0">
                <a:solidFill>
                  <a:srgbClr val="898781"/>
                </a:solidFill>
                <a:latin typeface="Arial"/>
              </a:rPr>
              <a:t>–  </a:t>
            </a:r>
            <a:r>
              <a:rPr sz="1300" b="0" i="0">
                <a:solidFill>
                  <a:srgbClr val="52514E"/>
                </a:solidFill>
                <a:latin typeface="Arial"/>
              </a:rPr>
              <a:t>BiLSTM + attention chưng cất từ MobileBERT, đủ nhẹ cho gateway</a:t>
            </a:r>
          </a:p>
          <a:p>
            <a:pPr lvl="1">
              <a:spcAft>
                <a:spcPts val="500"/>
              </a:spcAft>
            </a:pPr>
            <a:r>
              <a:rPr sz="1300" b="0" i="0">
                <a:solidFill>
                  <a:srgbClr val="898781"/>
                </a:solidFill>
                <a:latin typeface="Arial"/>
              </a:rPr>
              <a:t>–  </a:t>
            </a:r>
            <a:r>
              <a:rPr sz="1300" b="0" i="0">
                <a:solidFill>
                  <a:srgbClr val="52514E"/>
                </a:solidFill>
                <a:latin typeface="Arial"/>
              </a:rPr>
              <a:t>Phân tích đánh đổi độ chính xác – độ trễ – kích thước</a:t>
            </a:r>
          </a:p>
          <a:p>
            <a:pPr lvl="1">
              <a:spcAft>
                <a:spcPts val="500"/>
              </a:spcAft>
            </a:pPr>
            <a:r>
              <a:rPr sz="1300" b="0" i="0">
                <a:solidFill>
                  <a:srgbClr val="898781"/>
                </a:solidFill>
                <a:latin typeface="Arial"/>
              </a:rPr>
              <a:t>–  </a:t>
            </a:r>
            <a:r>
              <a:rPr sz="1300" b="0" i="0">
                <a:solidFill>
                  <a:srgbClr val="52514E"/>
                </a:solidFill>
                <a:latin typeface="Arial"/>
              </a:rPr>
              <a:t>Góc nhìn vận hành khi tích hợp vào hệ thống thư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I · TÌM HIỂU</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Dữ liệu và quy trình sinh email bằng LLM</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6</a:t>
            </a:r>
          </a:p>
        </p:txBody>
      </p:sp>
      <p:graphicFrame>
        <p:nvGraphicFramePr>
          <p:cNvPr id="6" name="Table 5"/>
          <p:cNvGraphicFramePr>
            <a:graphicFrameLocks noGrp="1"/>
          </p:cNvGraphicFramePr>
          <p:nvPr/>
        </p:nvGraphicFramePr>
        <p:xfrm>
          <a:off x="548640" y="1371600"/>
          <a:ext cx="5120640" cy="3072384"/>
        </p:xfrm>
        <a:graphic>
          <a:graphicData uri="http://schemas.openxmlformats.org/drawingml/2006/table">
            <a:tbl>
              <a:tblPr firstRow="1" bandRow="1">
                <a:tableStyleId>{5C22544A-7EE6-4342-B048-85BDC9FD1C3A}</a:tableStyleId>
              </a:tblPr>
              <a:tblGrid>
                <a:gridCol w="2560320"/>
                <a:gridCol w="1280160"/>
                <a:gridCol w="1280160"/>
              </a:tblGrid>
              <a:tr h="384048">
                <a:tc>
                  <a:txBody>
                    <a:bodyPr wrap="square"/>
                    <a:lstStyle/>
                    <a:p>
                      <a:r>
                        <a:rPr sz="1300" b="1" i="0">
                          <a:solidFill>
                            <a:srgbClr val="0B0B0B"/>
                          </a:solidFill>
                          <a:latin typeface="Arial"/>
                        </a:rPr>
                        <a:t>Bộ dữ liệu</a:t>
                      </a:r>
                    </a:p>
                  </a:txBody>
                  <a:tcPr marL="64008" marR="64008" marT="27432" marB="27432" anchor="ctr">
                    <a:solidFill>
                      <a:srgbClr val="CDE2FB"/>
                    </a:solidFill>
                  </a:tcPr>
                </a:tc>
                <a:tc>
                  <a:txBody>
                    <a:bodyPr wrap="square"/>
                    <a:lstStyle/>
                    <a:p>
                      <a:r>
                        <a:rPr sz="1300" b="1" i="0">
                          <a:solidFill>
                            <a:srgbClr val="0B0B0B"/>
                          </a:solidFill>
                          <a:latin typeface="Arial"/>
                        </a:rPr>
                        <a:t>Lừa đảo</a:t>
                      </a:r>
                    </a:p>
                  </a:txBody>
                  <a:tcPr marL="64008" marR="64008" marT="27432" marB="27432" anchor="ctr">
                    <a:solidFill>
                      <a:srgbClr val="CDE2FB"/>
                    </a:solidFill>
                  </a:tcPr>
                </a:tc>
                <a:tc>
                  <a:txBody>
                    <a:bodyPr wrap="square"/>
                    <a:lstStyle/>
                    <a:p>
                      <a:r>
                        <a:rPr sz="1300" b="1" i="0">
                          <a:solidFill>
                            <a:srgbClr val="0B0B0B"/>
                          </a:solidFill>
                          <a:latin typeface="Arial"/>
                        </a:rPr>
                        <a:t>Hợp lệ</a:t>
                      </a:r>
                    </a:p>
                  </a:txBody>
                  <a:tcPr marL="64008" marR="64008" marT="27432" marB="27432" anchor="ctr">
                    <a:solidFill>
                      <a:srgbClr val="CDE2FB"/>
                    </a:solidFill>
                  </a:tcPr>
                </a:tc>
              </a:tr>
              <a:tr h="384048">
                <a:tc>
                  <a:txBody>
                    <a:bodyPr wrap="square"/>
                    <a:lstStyle/>
                    <a:p>
                      <a:r>
                        <a:rPr sz="1300" b="1" i="0">
                          <a:solidFill>
                            <a:srgbClr val="0B0B0B"/>
                          </a:solidFill>
                          <a:latin typeface="Arial"/>
                        </a:rPr>
                        <a:t>Cambridge Phishing</a:t>
                      </a:r>
                    </a:p>
                  </a:txBody>
                  <a:tcPr marL="64008" marR="64008" marT="27432" marB="27432" anchor="ctr">
                    <a:solidFill>
                      <a:srgbClr val="FFFFFF"/>
                    </a:solidFill>
                  </a:tcPr>
                </a:tc>
                <a:tc>
                  <a:txBody>
                    <a:bodyPr wrap="square"/>
                    <a:lstStyle/>
                    <a:p>
                      <a:r>
                        <a:rPr sz="1300" b="0" i="0">
                          <a:solidFill>
                            <a:srgbClr val="0B0B0B"/>
                          </a:solidFill>
                          <a:latin typeface="Arial"/>
                        </a:rPr>
                        <a:t>78.154</a:t>
                      </a:r>
                    </a:p>
                  </a:txBody>
                  <a:tcPr marL="64008" marR="64008" marT="27432" marB="27432" anchor="ctr">
                    <a:solidFill>
                      <a:srgbClr val="FFFFFF"/>
                    </a:solidFill>
                  </a:tcPr>
                </a:tc>
                <a:tc>
                  <a:txBody>
                    <a:bodyPr wrap="square"/>
                    <a:lstStyle/>
                    <a:p>
                      <a:r>
                        <a:rPr sz="1300" b="0" i="0">
                          <a:solidFill>
                            <a:srgbClr val="0B0B0B"/>
                          </a:solidFill>
                          <a:latin typeface="Arial"/>
                        </a:rPr>
                        <a:t>–</a:t>
                      </a:r>
                    </a:p>
                  </a:txBody>
                  <a:tcPr marL="64008" marR="64008" marT="27432" marB="27432" anchor="ctr">
                    <a:solidFill>
                      <a:srgbClr val="FFFFFF"/>
                    </a:solidFill>
                  </a:tcPr>
                </a:tc>
              </a:tr>
              <a:tr h="384048">
                <a:tc>
                  <a:txBody>
                    <a:bodyPr wrap="square"/>
                    <a:lstStyle/>
                    <a:p>
                      <a:r>
                        <a:rPr sz="1300" b="1" i="0">
                          <a:solidFill>
                            <a:srgbClr val="0B0B0B"/>
                          </a:solidFill>
                          <a:latin typeface="Arial"/>
                        </a:rPr>
                        <a:t>Nazario</a:t>
                      </a:r>
                    </a:p>
                  </a:txBody>
                  <a:tcPr marL="64008" marR="64008" marT="27432" marB="27432" anchor="ctr">
                    <a:solidFill>
                      <a:srgbClr val="F9F9F7"/>
                    </a:solidFill>
                  </a:tcPr>
                </a:tc>
                <a:tc>
                  <a:txBody>
                    <a:bodyPr wrap="square"/>
                    <a:lstStyle/>
                    <a:p>
                      <a:r>
                        <a:rPr sz="1300" b="0" i="0">
                          <a:solidFill>
                            <a:srgbClr val="0B0B0B"/>
                          </a:solidFill>
                          <a:latin typeface="Arial"/>
                        </a:rPr>
                        <a:t>4.487</a:t>
                      </a:r>
                    </a:p>
                  </a:txBody>
                  <a:tcPr marL="64008" marR="64008" marT="27432" marB="27432" anchor="ctr">
                    <a:solidFill>
                      <a:srgbClr val="F9F9F7"/>
                    </a:solidFill>
                  </a:tcPr>
                </a:tc>
                <a:tc>
                  <a:txBody>
                    <a:bodyPr wrap="square"/>
                    <a:lstStyle/>
                    <a:p>
                      <a:r>
                        <a:rPr sz="1300" b="0" i="0">
                          <a:solidFill>
                            <a:srgbClr val="0B0B0B"/>
                          </a:solidFill>
                          <a:latin typeface="Arial"/>
                        </a:rPr>
                        <a:t>–</a:t>
                      </a:r>
                    </a:p>
                  </a:txBody>
                  <a:tcPr marL="64008" marR="64008" marT="27432" marB="27432" anchor="ctr">
                    <a:solidFill>
                      <a:srgbClr val="F9F9F7"/>
                    </a:solidFill>
                  </a:tcPr>
                </a:tc>
              </a:tr>
              <a:tr h="384048">
                <a:tc>
                  <a:txBody>
                    <a:bodyPr wrap="square"/>
                    <a:lstStyle/>
                    <a:p>
                      <a:r>
                        <a:rPr sz="1300" b="1" i="0">
                          <a:solidFill>
                            <a:srgbClr val="0B0B0B"/>
                          </a:solidFill>
                          <a:latin typeface="Arial"/>
                        </a:rPr>
                        <a:t>Chakraborty</a:t>
                      </a:r>
                    </a:p>
                  </a:txBody>
                  <a:tcPr marL="64008" marR="64008" marT="27432" marB="27432" anchor="ctr">
                    <a:solidFill>
                      <a:srgbClr val="FFFFFF"/>
                    </a:solidFill>
                  </a:tcPr>
                </a:tc>
                <a:tc>
                  <a:txBody>
                    <a:bodyPr wrap="square"/>
                    <a:lstStyle/>
                    <a:p>
                      <a:r>
                        <a:rPr sz="1300" b="0" i="0">
                          <a:solidFill>
                            <a:srgbClr val="0B0B0B"/>
                          </a:solidFill>
                          <a:latin typeface="Arial"/>
                        </a:rPr>
                        <a:t>7.323</a:t>
                      </a:r>
                    </a:p>
                  </a:txBody>
                  <a:tcPr marL="64008" marR="64008" marT="27432" marB="27432" anchor="ctr">
                    <a:solidFill>
                      <a:srgbClr val="FFFFFF"/>
                    </a:solidFill>
                  </a:tcPr>
                </a:tc>
                <a:tc>
                  <a:txBody>
                    <a:bodyPr wrap="square"/>
                    <a:lstStyle/>
                    <a:p>
                      <a:r>
                        <a:rPr sz="1300" b="0" i="0">
                          <a:solidFill>
                            <a:srgbClr val="0B0B0B"/>
                          </a:solidFill>
                          <a:latin typeface="Arial"/>
                        </a:rPr>
                        <a:t>11.283</a:t>
                      </a:r>
                    </a:p>
                  </a:txBody>
                  <a:tcPr marL="64008" marR="64008" marT="27432" marB="27432" anchor="ctr">
                    <a:solidFill>
                      <a:srgbClr val="FFFFFF"/>
                    </a:solidFill>
                  </a:tcPr>
                </a:tc>
              </a:tr>
              <a:tr h="384048">
                <a:tc>
                  <a:txBody>
                    <a:bodyPr wrap="square"/>
                    <a:lstStyle/>
                    <a:p>
                      <a:r>
                        <a:rPr sz="1300" b="1" i="0">
                          <a:solidFill>
                            <a:srgbClr val="0B0B0B"/>
                          </a:solidFill>
                          <a:latin typeface="Arial"/>
                        </a:rPr>
                        <a:t>Phishing Pot</a:t>
                      </a:r>
                    </a:p>
                  </a:txBody>
                  <a:tcPr marL="64008" marR="64008" marT="27432" marB="27432" anchor="ctr">
                    <a:solidFill>
                      <a:srgbClr val="F9F9F7"/>
                    </a:solidFill>
                  </a:tcPr>
                </a:tc>
                <a:tc>
                  <a:txBody>
                    <a:bodyPr wrap="square"/>
                    <a:lstStyle/>
                    <a:p>
                      <a:r>
                        <a:rPr sz="1300" b="0" i="0">
                          <a:solidFill>
                            <a:srgbClr val="0B0B0B"/>
                          </a:solidFill>
                          <a:latin typeface="Arial"/>
                        </a:rPr>
                        <a:t>4.351</a:t>
                      </a:r>
                    </a:p>
                  </a:txBody>
                  <a:tcPr marL="64008" marR="64008" marT="27432" marB="27432" anchor="ctr">
                    <a:solidFill>
                      <a:srgbClr val="F9F9F7"/>
                    </a:solidFill>
                  </a:tcPr>
                </a:tc>
                <a:tc>
                  <a:txBody>
                    <a:bodyPr wrap="square"/>
                    <a:lstStyle/>
                    <a:p>
                      <a:r>
                        <a:rPr sz="1300" b="0" i="0">
                          <a:solidFill>
                            <a:srgbClr val="0B0B0B"/>
                          </a:solidFill>
                          <a:latin typeface="Arial"/>
                        </a:rPr>
                        <a:t>–</a:t>
                      </a:r>
                    </a:p>
                  </a:txBody>
                  <a:tcPr marL="64008" marR="64008" marT="27432" marB="27432" anchor="ctr">
                    <a:solidFill>
                      <a:srgbClr val="F9F9F7"/>
                    </a:solidFill>
                  </a:tcPr>
                </a:tc>
              </a:tr>
              <a:tr h="384048">
                <a:tc>
                  <a:txBody>
                    <a:bodyPr wrap="square"/>
                    <a:lstStyle/>
                    <a:p>
                      <a:r>
                        <a:rPr sz="1300" b="1" i="0">
                          <a:solidFill>
                            <a:srgbClr val="0B0B0B"/>
                          </a:solidFill>
                          <a:latin typeface="Arial"/>
                        </a:rPr>
                        <a:t>Enron</a:t>
                      </a:r>
                    </a:p>
                  </a:txBody>
                  <a:tcPr marL="64008" marR="64008" marT="27432" marB="27432" anchor="ctr">
                    <a:solidFill>
                      <a:srgbClr val="FFFFFF"/>
                    </a:solidFill>
                  </a:tcPr>
                </a:tc>
                <a:tc>
                  <a:txBody>
                    <a:bodyPr wrap="square"/>
                    <a:lstStyle/>
                    <a:p>
                      <a:r>
                        <a:rPr sz="1300" b="0" i="0">
                          <a:solidFill>
                            <a:srgbClr val="0B0B0B"/>
                          </a:solidFill>
                          <a:latin typeface="Arial"/>
                        </a:rPr>
                        <a:t>–</a:t>
                      </a:r>
                    </a:p>
                  </a:txBody>
                  <a:tcPr marL="64008" marR="64008" marT="27432" marB="27432" anchor="ctr">
                    <a:solidFill>
                      <a:srgbClr val="FFFFFF"/>
                    </a:solidFill>
                  </a:tcPr>
                </a:tc>
                <a:tc>
                  <a:txBody>
                    <a:bodyPr wrap="square"/>
                    <a:lstStyle/>
                    <a:p>
                      <a:r>
                        <a:rPr sz="1300" b="0" i="0">
                          <a:solidFill>
                            <a:srgbClr val="0B0B0B"/>
                          </a:solidFill>
                          <a:latin typeface="Arial"/>
                        </a:rPr>
                        <a:t>517.402</a:t>
                      </a:r>
                    </a:p>
                  </a:txBody>
                  <a:tcPr marL="64008" marR="64008" marT="27432" marB="27432" anchor="ctr">
                    <a:solidFill>
                      <a:srgbClr val="FFFFFF"/>
                    </a:solidFill>
                  </a:tcPr>
                </a:tc>
              </a:tr>
              <a:tr h="384048">
                <a:tc>
                  <a:txBody>
                    <a:bodyPr wrap="square"/>
                    <a:lstStyle/>
                    <a:p>
                      <a:r>
                        <a:rPr sz="1300" b="1" i="0">
                          <a:solidFill>
                            <a:srgbClr val="0B0B0B"/>
                          </a:solidFill>
                          <a:latin typeface="Arial"/>
                        </a:rPr>
                        <a:t>Tổng email thật</a:t>
                      </a:r>
                    </a:p>
                  </a:txBody>
                  <a:tcPr marL="64008" marR="64008" marT="27432" marB="27432" anchor="ctr">
                    <a:solidFill>
                      <a:srgbClr val="F9F9F7"/>
                    </a:solidFill>
                  </a:tcPr>
                </a:tc>
                <a:tc>
                  <a:txBody>
                    <a:bodyPr wrap="square"/>
                    <a:lstStyle/>
                    <a:p>
                      <a:r>
                        <a:rPr sz="1300" b="0" i="0">
                          <a:solidFill>
                            <a:srgbClr val="0B0B0B"/>
                          </a:solidFill>
                          <a:latin typeface="Arial"/>
                        </a:rPr>
                        <a:t>94.315</a:t>
                      </a:r>
                    </a:p>
                  </a:txBody>
                  <a:tcPr marL="64008" marR="64008" marT="27432" marB="27432" anchor="ctr">
                    <a:solidFill>
                      <a:srgbClr val="F9F9F7"/>
                    </a:solidFill>
                  </a:tcPr>
                </a:tc>
                <a:tc>
                  <a:txBody>
                    <a:bodyPr wrap="square"/>
                    <a:lstStyle/>
                    <a:p>
                      <a:r>
                        <a:rPr sz="1300" b="0" i="0">
                          <a:solidFill>
                            <a:srgbClr val="0B0B0B"/>
                          </a:solidFill>
                          <a:latin typeface="Arial"/>
                        </a:rPr>
                        <a:t>528.685</a:t>
                      </a:r>
                    </a:p>
                  </a:txBody>
                  <a:tcPr marL="64008" marR="64008" marT="27432" marB="27432" anchor="ctr">
                    <a:solidFill>
                      <a:srgbClr val="F9F9F7"/>
                    </a:solidFill>
                  </a:tcPr>
                </a:tc>
              </a:tr>
              <a:tr h="384048">
                <a:tc>
                  <a:txBody>
                    <a:bodyPr wrap="square"/>
                    <a:lstStyle/>
                    <a:p>
                      <a:r>
                        <a:rPr sz="1300" b="1" i="0">
                          <a:solidFill>
                            <a:srgbClr val="2A78D6"/>
                          </a:solidFill>
                          <a:latin typeface="Arial"/>
                        </a:rPr>
                        <a:t>Email do LLM sinh</a:t>
                      </a:r>
                    </a:p>
                  </a:txBody>
                  <a:tcPr marL="64008" marR="64008" marT="27432" marB="27432" anchor="ctr">
                    <a:solidFill>
                      <a:srgbClr val="FFFFFF"/>
                    </a:solidFill>
                  </a:tcPr>
                </a:tc>
                <a:tc>
                  <a:txBody>
                    <a:bodyPr wrap="square"/>
                    <a:lstStyle/>
                    <a:p>
                      <a:r>
                        <a:rPr sz="1300" b="0" i="0">
                          <a:solidFill>
                            <a:srgbClr val="0B0B0B"/>
                          </a:solidFill>
                          <a:latin typeface="Arial"/>
                        </a:rPr>
                        <a:t>41.333</a:t>
                      </a:r>
                    </a:p>
                  </a:txBody>
                  <a:tcPr marL="64008" marR="64008" marT="27432" marB="27432" anchor="ctr">
                    <a:solidFill>
                      <a:srgbClr val="FFFFFF"/>
                    </a:solidFill>
                  </a:tcPr>
                </a:tc>
                <a:tc>
                  <a:txBody>
                    <a:bodyPr wrap="square"/>
                    <a:lstStyle/>
                    <a:p>
                      <a:r>
                        <a:rPr sz="1300" b="0" i="0">
                          <a:solidFill>
                            <a:srgbClr val="0B0B0B"/>
                          </a:solidFill>
                          <a:latin typeface="Arial"/>
                        </a:rPr>
                        <a:t>6.242</a:t>
                      </a:r>
                    </a:p>
                  </a:txBody>
                  <a:tcPr marL="64008" marR="64008" marT="27432" marB="27432" anchor="ctr">
                    <a:solidFill>
                      <a:srgbClr val="FFFFFF"/>
                    </a:solidFill>
                  </a:tcPr>
                </a:tc>
              </a:tr>
            </a:tbl>
          </a:graphicData>
        </a:graphic>
      </p:graphicFrame>
      <p:sp>
        <p:nvSpPr>
          <p:cNvPr id="7" name="Rounded Rectangle 6"/>
          <p:cNvSpPr/>
          <p:nvPr/>
        </p:nvSpPr>
        <p:spPr>
          <a:xfrm>
            <a:off x="6035040" y="1371600"/>
            <a:ext cx="5669280" cy="146304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72200" y="1481328"/>
            <a:ext cx="5394960" cy="1280160"/>
          </a:xfrm>
          <a:prstGeom prst="rect">
            <a:avLst/>
          </a:prstGeom>
          <a:noFill/>
        </p:spPr>
        <p:txBody>
          <a:bodyPr wrap="square" anchor="t" lIns="45720" rIns="45720">
            <a:spAutoFit/>
          </a:bodyPr>
          <a:lstStyle/>
          <a:p>
            <a:pPr>
              <a:spcAft>
                <a:spcPts val="400"/>
              </a:spcAft>
            </a:pPr>
            <a:r>
              <a:rPr sz="1500" b="1" i="0">
                <a:solidFill>
                  <a:srgbClr val="0B0B0B"/>
                </a:solidFill>
                <a:latin typeface="Arial"/>
              </a:rPr>
              <a:t>Email LLM “khó” hơn thật không? (Fig. 2)</a:t>
            </a:r>
          </a:p>
          <a:p>
            <a:pPr>
              <a:spcAft>
                <a:spcPts val="600"/>
              </a:spcAft>
            </a:pPr>
            <a:r>
              <a:rPr sz="1300" b="0" i="0">
                <a:solidFill>
                  <a:srgbClr val="52514E"/>
                </a:solidFill>
                <a:latin typeface="Arial"/>
              </a:rPr>
              <a:t>Cosine TF-IDF với tập email hợp lệ: email LLM sinh dịch sang phải → giống email hợp lệ hơn email lừa đảo gốc.</a:t>
            </a:r>
          </a:p>
        </p:txBody>
      </p:sp>
      <p:sp>
        <p:nvSpPr>
          <p:cNvPr id="9" name="Rounded Rectangle 8"/>
          <p:cNvSpPr/>
          <p:nvPr/>
        </p:nvSpPr>
        <p:spPr>
          <a:xfrm>
            <a:off x="6035040" y="3017520"/>
            <a:ext cx="5669280" cy="146304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2200" y="3127248"/>
            <a:ext cx="5394960" cy="1280160"/>
          </a:xfrm>
          <a:prstGeom prst="rect">
            <a:avLst/>
          </a:prstGeom>
          <a:noFill/>
        </p:spPr>
        <p:txBody>
          <a:bodyPr wrap="square" anchor="t" lIns="45720" rIns="45720">
            <a:spAutoFit/>
          </a:bodyPr>
          <a:lstStyle/>
          <a:p>
            <a:pPr>
              <a:spcAft>
                <a:spcPts val="400"/>
              </a:spcAft>
            </a:pPr>
            <a:r>
              <a:rPr sz="1500" b="1" i="0">
                <a:solidFill>
                  <a:srgbClr val="0B0B0B"/>
                </a:solidFill>
                <a:latin typeface="Arial"/>
              </a:rPr>
              <a:t>Chấm “mức phishing” bằng bộ câu hỏi</a:t>
            </a:r>
          </a:p>
          <a:p>
            <a:pPr>
              <a:spcAft>
                <a:spcPts val="600"/>
              </a:spcAft>
            </a:pPr>
            <a:r>
              <a:rPr sz="1300" b="0" i="0">
                <a:solidFill>
                  <a:srgbClr val="52514E"/>
                </a:solidFill>
                <a:latin typeface="Arial"/>
              </a:rPr>
              <a:t>Hỏi LLM: có tạo khẩn cấp? link đáng ngờ? đòi cập nhật tài khoản?… → tín hiệu mềm để lọc mẫu sinh kém chất lượng.</a:t>
            </a:r>
          </a:p>
        </p:txBody>
      </p:sp>
      <p:sp>
        <p:nvSpPr>
          <p:cNvPr id="11" name="Rounded Rectangle 10"/>
          <p:cNvSpPr/>
          <p:nvPr/>
        </p:nvSpPr>
        <p:spPr>
          <a:xfrm>
            <a:off x="6035040" y="4663440"/>
            <a:ext cx="5669280" cy="13716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4773168"/>
            <a:ext cx="5394960" cy="1188720"/>
          </a:xfrm>
          <a:prstGeom prst="rect">
            <a:avLst/>
          </a:prstGeom>
          <a:noFill/>
        </p:spPr>
        <p:txBody>
          <a:bodyPr wrap="square" anchor="t" lIns="45720" rIns="45720">
            <a:spAutoFit/>
          </a:bodyPr>
          <a:lstStyle/>
          <a:p>
            <a:pPr>
              <a:spcAft>
                <a:spcPts val="400"/>
              </a:spcAft>
            </a:pPr>
            <a:r>
              <a:rPr sz="1500" b="1" i="0">
                <a:solidFill>
                  <a:srgbClr val="0B0B0B"/>
                </a:solidFill>
                <a:latin typeface="Arial"/>
              </a:rPr>
              <a:t>Khử trùng lặp &amp; 5 kịch bản</a:t>
            </a:r>
          </a:p>
          <a:p>
            <a:pPr>
              <a:spcAft>
                <a:spcPts val="600"/>
              </a:spcAft>
            </a:pPr>
            <a:r>
              <a:rPr sz="1300" b="0" i="0">
                <a:solidFill>
                  <a:srgbClr val="52514E"/>
                </a:solidFill>
                <a:latin typeface="Arial"/>
              </a:rPr>
              <a:t>Loại ~10K mẫu gần trùng. Đánh giá Orig-Orig, Gen-Gen, Orig-Gen, Gen-Orig, Mixture; 5-fold, chia 72/8/20.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I · TÌM HIỂU</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Mô hình: từ LSTM đến KD-BiLSTM</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7</a:t>
            </a:r>
          </a:p>
        </p:txBody>
      </p:sp>
      <p:sp>
        <p:nvSpPr>
          <p:cNvPr id="6" name="Rounded Rectangle 5"/>
          <p:cNvSpPr/>
          <p:nvPr/>
        </p:nvSpPr>
        <p:spPr>
          <a:xfrm>
            <a:off x="548640" y="1417320"/>
            <a:ext cx="1920240" cy="9144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27048"/>
            <a:ext cx="1645920" cy="731520"/>
          </a:xfrm>
          <a:prstGeom prst="rect">
            <a:avLst/>
          </a:prstGeom>
          <a:noFill/>
        </p:spPr>
        <p:txBody>
          <a:bodyPr wrap="square" anchor="t" lIns="45720" rIns="45720">
            <a:spAutoFit/>
          </a:bodyPr>
          <a:lstStyle/>
          <a:p>
            <a:pPr>
              <a:spcAft>
                <a:spcPts val="400"/>
              </a:spcAft>
            </a:pPr>
            <a:r>
              <a:rPr sz="1500" b="1" i="0">
                <a:solidFill>
                  <a:srgbClr val="0B0B0B"/>
                </a:solidFill>
                <a:latin typeface="Arial"/>
              </a:rPr>
              <a:t>LSTM</a:t>
            </a:r>
          </a:p>
          <a:p>
            <a:pPr>
              <a:spcAft>
                <a:spcPts val="600"/>
              </a:spcAft>
            </a:pPr>
            <a:r>
              <a:rPr sz="1300" b="0" i="0">
                <a:solidFill>
                  <a:srgbClr val="52514E"/>
                </a:solidFill>
                <a:latin typeface="Arial"/>
              </a:rPr>
              <a:t>Word2Vec 100d</a:t>
            </a:r>
          </a:p>
        </p:txBody>
      </p:sp>
      <p:sp>
        <p:nvSpPr>
          <p:cNvPr id="8" name="Right Arrow 7"/>
          <p:cNvSpPr/>
          <p:nvPr/>
        </p:nvSpPr>
        <p:spPr>
          <a:xfrm>
            <a:off x="2487168" y="1737360"/>
            <a:ext cx="320040" cy="274320"/>
          </a:xfrm>
          <a:prstGeom prst="rightArrow">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34640" y="1417320"/>
            <a:ext cx="1920240" cy="9144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71800" y="1527048"/>
            <a:ext cx="1645920" cy="731520"/>
          </a:xfrm>
          <a:prstGeom prst="rect">
            <a:avLst/>
          </a:prstGeom>
          <a:noFill/>
        </p:spPr>
        <p:txBody>
          <a:bodyPr wrap="square" anchor="t" lIns="45720" rIns="45720">
            <a:spAutoFit/>
          </a:bodyPr>
          <a:lstStyle/>
          <a:p>
            <a:pPr>
              <a:spcAft>
                <a:spcPts val="400"/>
              </a:spcAft>
            </a:pPr>
            <a:r>
              <a:rPr sz="1500" b="1" i="0">
                <a:solidFill>
                  <a:srgbClr val="0B0B0B"/>
                </a:solidFill>
                <a:latin typeface="Arial"/>
              </a:rPr>
              <a:t>BiLSTM</a:t>
            </a:r>
          </a:p>
          <a:p>
            <a:pPr>
              <a:spcAft>
                <a:spcPts val="600"/>
              </a:spcAft>
            </a:pPr>
            <a:r>
              <a:rPr sz="1300" b="0" i="0">
                <a:solidFill>
                  <a:srgbClr val="52514E"/>
                </a:solidFill>
                <a:latin typeface="Arial"/>
              </a:rPr>
              <a:t>ngữ cảnh 2 chiều</a:t>
            </a:r>
          </a:p>
        </p:txBody>
      </p:sp>
      <p:sp>
        <p:nvSpPr>
          <p:cNvPr id="11" name="Right Arrow 10"/>
          <p:cNvSpPr/>
          <p:nvPr/>
        </p:nvSpPr>
        <p:spPr>
          <a:xfrm>
            <a:off x="4773168" y="1737360"/>
            <a:ext cx="320040" cy="274320"/>
          </a:xfrm>
          <a:prstGeom prst="rightArrow">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20640" y="1417320"/>
            <a:ext cx="1920240" cy="9144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57800" y="1527048"/>
            <a:ext cx="1645920" cy="731520"/>
          </a:xfrm>
          <a:prstGeom prst="rect">
            <a:avLst/>
          </a:prstGeom>
          <a:noFill/>
        </p:spPr>
        <p:txBody>
          <a:bodyPr wrap="square" anchor="t" lIns="45720" rIns="45720">
            <a:spAutoFit/>
          </a:bodyPr>
          <a:lstStyle/>
          <a:p>
            <a:pPr>
              <a:spcAft>
                <a:spcPts val="400"/>
              </a:spcAft>
            </a:pPr>
            <a:r>
              <a:rPr sz="1500" b="1" i="0">
                <a:solidFill>
                  <a:srgbClr val="0B0B0B"/>
                </a:solidFill>
                <a:latin typeface="Arial"/>
              </a:rPr>
              <a:t>+ Single-head</a:t>
            </a:r>
          </a:p>
          <a:p>
            <a:pPr>
              <a:spcAft>
                <a:spcPts val="600"/>
              </a:spcAft>
            </a:pPr>
            <a:r>
              <a:rPr sz="1300" b="0" i="0">
                <a:solidFill>
                  <a:srgbClr val="52514E"/>
                </a:solidFill>
                <a:latin typeface="Arial"/>
              </a:rPr>
              <a:t>chú ý cụm từ</a:t>
            </a:r>
          </a:p>
        </p:txBody>
      </p:sp>
      <p:sp>
        <p:nvSpPr>
          <p:cNvPr id="14" name="Right Arrow 13"/>
          <p:cNvSpPr/>
          <p:nvPr/>
        </p:nvSpPr>
        <p:spPr>
          <a:xfrm>
            <a:off x="7059168" y="1737360"/>
            <a:ext cx="320040" cy="274320"/>
          </a:xfrm>
          <a:prstGeom prst="rightArrow">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6640" y="1417320"/>
            <a:ext cx="1920240" cy="9144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43800" y="1527048"/>
            <a:ext cx="1645920" cy="731520"/>
          </a:xfrm>
          <a:prstGeom prst="rect">
            <a:avLst/>
          </a:prstGeom>
          <a:noFill/>
        </p:spPr>
        <p:txBody>
          <a:bodyPr wrap="square" anchor="t" lIns="45720" rIns="45720">
            <a:spAutoFit/>
          </a:bodyPr>
          <a:lstStyle/>
          <a:p>
            <a:pPr>
              <a:spcAft>
                <a:spcPts val="400"/>
              </a:spcAft>
            </a:pPr>
            <a:r>
              <a:rPr sz="1500" b="1" i="0">
                <a:solidFill>
                  <a:srgbClr val="0B0B0B"/>
                </a:solidFill>
                <a:latin typeface="Arial"/>
              </a:rPr>
              <a:t>+ Multi-head</a:t>
            </a:r>
          </a:p>
          <a:p>
            <a:pPr>
              <a:spcAft>
                <a:spcPts val="600"/>
              </a:spcAft>
            </a:pPr>
            <a:r>
              <a:rPr sz="1300" b="0" i="0">
                <a:solidFill>
                  <a:srgbClr val="52514E"/>
                </a:solidFill>
                <a:latin typeface="Arial"/>
              </a:rPr>
              <a:t>H=4, D=64</a:t>
            </a:r>
          </a:p>
        </p:txBody>
      </p:sp>
      <p:sp>
        <p:nvSpPr>
          <p:cNvPr id="17" name="Right Arrow 16"/>
          <p:cNvSpPr/>
          <p:nvPr/>
        </p:nvSpPr>
        <p:spPr>
          <a:xfrm>
            <a:off x="9345168" y="1737360"/>
            <a:ext cx="320040" cy="274320"/>
          </a:xfrm>
          <a:prstGeom prst="rightArrow">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92640" y="1417320"/>
            <a:ext cx="1920240" cy="914400"/>
          </a:xfrm>
          <a:prstGeom prst="roundRect">
            <a:avLst>
              <a:gd name="adj" fmla="val 6000"/>
            </a:avLst>
          </a:prstGeom>
          <a:solidFill>
            <a:srgbClr val="CDE2FB"/>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29800" y="1527048"/>
            <a:ext cx="1645920" cy="731520"/>
          </a:xfrm>
          <a:prstGeom prst="rect">
            <a:avLst/>
          </a:prstGeom>
          <a:noFill/>
        </p:spPr>
        <p:txBody>
          <a:bodyPr wrap="square" anchor="t" lIns="45720" rIns="45720">
            <a:spAutoFit/>
          </a:bodyPr>
          <a:lstStyle/>
          <a:p>
            <a:pPr>
              <a:spcAft>
                <a:spcPts val="400"/>
              </a:spcAft>
            </a:pPr>
            <a:r>
              <a:rPr sz="1500" b="1" i="0">
                <a:solidFill>
                  <a:srgbClr val="2A78D6"/>
                </a:solidFill>
                <a:latin typeface="Arial"/>
              </a:rPr>
              <a:t>KD-BiLSTM</a:t>
            </a:r>
          </a:p>
          <a:p>
            <a:pPr>
              <a:spcAft>
                <a:spcPts val="600"/>
              </a:spcAft>
            </a:pPr>
            <a:r>
              <a:rPr sz="1300" b="0" i="0">
                <a:solidFill>
                  <a:srgbClr val="52514E"/>
                </a:solidFill>
                <a:latin typeface="Arial"/>
              </a:rPr>
              <a:t>học từ MobileBERT</a:t>
            </a:r>
          </a:p>
        </p:txBody>
      </p:sp>
      <p:pic>
        <p:nvPicPr>
          <p:cNvPr id="20" name="Picture 19" descr="diag2.png"/>
          <p:cNvPicPr>
            <a:picLocks noChangeAspect="1"/>
          </p:cNvPicPr>
          <p:nvPr/>
        </p:nvPicPr>
        <p:blipFill>
          <a:blip r:embed="rId2"/>
          <a:stretch>
            <a:fillRect/>
          </a:stretch>
        </p:blipFill>
        <p:spPr>
          <a:xfrm>
            <a:off x="548640" y="2606040"/>
            <a:ext cx="7315200" cy="2181259"/>
          </a:xfrm>
          <a:prstGeom prst="rect">
            <a:avLst/>
          </a:prstGeom>
          <a:ln w="9525">
            <a:solidFill>
              <a:srgbClr val="E1E0D9"/>
            </a:solidFill>
          </a:ln>
        </p:spPr>
      </p:pic>
      <p:sp>
        <p:nvSpPr>
          <p:cNvPr id="21" name="Rounded Rectangle 20"/>
          <p:cNvSpPr/>
          <p:nvPr/>
        </p:nvSpPr>
        <p:spPr>
          <a:xfrm>
            <a:off x="8138160" y="2606040"/>
            <a:ext cx="3566160" cy="34290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75320" y="2715768"/>
            <a:ext cx="3291840" cy="3246120"/>
          </a:xfrm>
          <a:prstGeom prst="rect">
            <a:avLst/>
          </a:prstGeom>
          <a:noFill/>
        </p:spPr>
        <p:txBody>
          <a:bodyPr wrap="square" anchor="t" lIns="45720" rIns="45720">
            <a:spAutoFit/>
          </a:bodyPr>
          <a:lstStyle/>
          <a:p>
            <a:pPr>
              <a:spcAft>
                <a:spcPts val="400"/>
              </a:spcAft>
            </a:pPr>
            <a:r>
              <a:rPr sz="1500" b="1" i="0">
                <a:solidFill>
                  <a:srgbClr val="0B0B0B"/>
                </a:solidFill>
                <a:latin typeface="Arial"/>
              </a:rPr>
              <a:t>Chưng cất tri thức</a:t>
            </a:r>
          </a:p>
          <a:p>
            <a:pPr>
              <a:spcAft>
                <a:spcPts val="600"/>
              </a:spcAft>
            </a:pPr>
            <a:r>
              <a:rPr sz="1300" b="0" i="0">
                <a:solidFill>
                  <a:srgbClr val="52514E"/>
                </a:solidFill>
                <a:latin typeface="Arial"/>
              </a:rPr>
              <a:t>Teacher MobileBERT 25,3M → đóng băng.
Student ~4,5M; embedding khởi tạo từ teacher.
L = α·CE + (1−α)·τ²·KL
α = 0,5 · τ = 2 · lr 1e-4
3 epoch · batch 32</a:t>
            </a:r>
          </a:p>
        </p:txBody>
      </p:sp>
      <p:sp>
        <p:nvSpPr>
          <p:cNvPr id="23" name="TextBox 22"/>
          <p:cNvSpPr txBox="1"/>
          <p:nvPr/>
        </p:nvSpPr>
        <p:spPr>
          <a:xfrm>
            <a:off x="548640" y="5120640"/>
            <a:ext cx="7315200" cy="1097280"/>
          </a:xfrm>
          <a:prstGeom prst="rect">
            <a:avLst/>
          </a:prstGeom>
          <a:noFill/>
        </p:spPr>
        <p:txBody>
          <a:bodyPr wrap="square" anchor="t" lIns="45720" rIns="45720">
            <a:spAutoFit/>
          </a:bodyPr>
          <a:lstStyle/>
          <a:p>
            <a:pPr>
              <a:spcAft>
                <a:spcPts val="600"/>
              </a:spcAft>
            </a:pPr>
            <a:r>
              <a:rPr sz="1400" b="0" i="0">
                <a:solidFill>
                  <a:srgbClr val="52514E"/>
                </a:solidFill>
                <a:latin typeface="Arial"/>
              </a:rPr>
              <a:t>Điểm mới: chưng cất khác kiến trúc (transformer → mạng hồi quy), teacher học cả email LLM, student được kiểm tra tổng quát hóa chéo phân phối Orig ↔ 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I · TÌM HIỂU</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Kết quả của bài báo (kịch bản Mixture)</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8</a:t>
            </a:r>
          </a:p>
        </p:txBody>
      </p:sp>
      <p:graphicFrame>
        <p:nvGraphicFramePr>
          <p:cNvPr id="6" name="Table 5"/>
          <p:cNvGraphicFramePr>
            <a:graphicFrameLocks noGrp="1"/>
          </p:cNvGraphicFramePr>
          <p:nvPr/>
        </p:nvGraphicFramePr>
        <p:xfrm>
          <a:off x="548640" y="1463040"/>
          <a:ext cx="6766559" cy="3456432"/>
        </p:xfrm>
        <a:graphic>
          <a:graphicData uri="http://schemas.openxmlformats.org/drawingml/2006/table">
            <a:tbl>
              <a:tblPr firstRow="1" bandRow="1">
                <a:tableStyleId>{5C22544A-7EE6-4342-B048-85BDC9FD1C3A}</a:tableStyleId>
              </a:tblPr>
              <a:tblGrid>
                <a:gridCol w="3280756"/>
                <a:gridCol w="1230283"/>
                <a:gridCol w="1127760"/>
                <a:gridCol w="1127760"/>
              </a:tblGrid>
              <a:tr h="384048">
                <a:tc>
                  <a:txBody>
                    <a:bodyPr wrap="square"/>
                    <a:lstStyle/>
                    <a:p>
                      <a:r>
                        <a:rPr sz="1300" b="1" i="0">
                          <a:solidFill>
                            <a:srgbClr val="0B0B0B"/>
                          </a:solidFill>
                          <a:latin typeface="Arial"/>
                        </a:rPr>
                        <a:t>Mô hình</a:t>
                      </a:r>
                    </a:p>
                  </a:txBody>
                  <a:tcPr marL="64008" marR="64008" marT="27432" marB="27432" anchor="ctr">
                    <a:solidFill>
                      <a:srgbClr val="CDE2FB"/>
                    </a:solidFill>
                  </a:tcPr>
                </a:tc>
                <a:tc>
                  <a:txBody>
                    <a:bodyPr wrap="square"/>
                    <a:lstStyle/>
                    <a:p>
                      <a:r>
                        <a:rPr sz="1300" b="1" i="0">
                          <a:solidFill>
                            <a:srgbClr val="0B0B0B"/>
                          </a:solidFill>
                          <a:latin typeface="Arial"/>
                        </a:rPr>
                        <a:t>Tham số</a:t>
                      </a:r>
                    </a:p>
                  </a:txBody>
                  <a:tcPr marL="64008" marR="64008" marT="27432" marB="27432" anchor="ctr">
                    <a:solidFill>
                      <a:srgbClr val="CDE2FB"/>
                    </a:solidFill>
                  </a:tcPr>
                </a:tc>
                <a:tc>
                  <a:txBody>
                    <a:bodyPr wrap="square"/>
                    <a:lstStyle/>
                    <a:p>
                      <a:r>
                        <a:rPr sz="1300" b="1" i="0">
                          <a:solidFill>
                            <a:srgbClr val="0B0B0B"/>
                          </a:solidFill>
                          <a:latin typeface="Arial"/>
                        </a:rPr>
                        <a:t>F1 (%)</a:t>
                      </a:r>
                    </a:p>
                  </a:txBody>
                  <a:tcPr marL="64008" marR="64008" marT="27432" marB="27432" anchor="ctr">
                    <a:solidFill>
                      <a:srgbClr val="CDE2FB"/>
                    </a:solidFill>
                  </a:tcPr>
                </a:tc>
                <a:tc>
                  <a:txBody>
                    <a:bodyPr wrap="square"/>
                    <a:lstStyle/>
                    <a:p>
                      <a:r>
                        <a:rPr sz="1300" b="1" i="0">
                          <a:solidFill>
                            <a:srgbClr val="0B0B0B"/>
                          </a:solidFill>
                          <a:latin typeface="Arial"/>
                        </a:rPr>
                        <a:t>Test (s)</a:t>
                      </a:r>
                    </a:p>
                  </a:txBody>
                  <a:tcPr marL="64008" marR="64008" marT="27432" marB="27432" anchor="ctr">
                    <a:solidFill>
                      <a:srgbClr val="CDE2FB"/>
                    </a:solidFill>
                  </a:tcPr>
                </a:tc>
              </a:tr>
              <a:tr h="384048">
                <a:tc>
                  <a:txBody>
                    <a:bodyPr wrap="square"/>
                    <a:lstStyle/>
                    <a:p>
                      <a:r>
                        <a:rPr sz="1300" b="0" i="0">
                          <a:solidFill>
                            <a:srgbClr val="0B0B0B"/>
                          </a:solidFill>
                          <a:latin typeface="Arial"/>
                        </a:rPr>
                        <a:t>LSTM</a:t>
                      </a:r>
                    </a:p>
                  </a:txBody>
                  <a:tcPr marL="64008" marR="64008" marT="27432" marB="27432" anchor="ctr">
                    <a:solidFill>
                      <a:srgbClr val="FFFFFF"/>
                    </a:solidFill>
                  </a:tcPr>
                </a:tc>
                <a:tc>
                  <a:txBody>
                    <a:bodyPr wrap="square"/>
                    <a:lstStyle/>
                    <a:p>
                      <a:r>
                        <a:rPr sz="1300" b="0" i="0">
                          <a:solidFill>
                            <a:srgbClr val="0B0B0B"/>
                          </a:solidFill>
                          <a:latin typeface="Arial"/>
                        </a:rPr>
                        <a:t>17K</a:t>
                      </a:r>
                    </a:p>
                  </a:txBody>
                  <a:tcPr marL="64008" marR="64008" marT="27432" marB="27432" anchor="ctr">
                    <a:solidFill>
                      <a:srgbClr val="FFFFFF"/>
                    </a:solidFill>
                  </a:tcPr>
                </a:tc>
                <a:tc>
                  <a:txBody>
                    <a:bodyPr wrap="square"/>
                    <a:lstStyle/>
                    <a:p>
                      <a:r>
                        <a:rPr sz="1300" b="0" i="0">
                          <a:solidFill>
                            <a:srgbClr val="0B0B0B"/>
                          </a:solidFill>
                          <a:latin typeface="Arial"/>
                        </a:rPr>
                        <a:t>91,32</a:t>
                      </a:r>
                    </a:p>
                  </a:txBody>
                  <a:tcPr marL="64008" marR="64008" marT="27432" marB="27432" anchor="ctr">
                    <a:solidFill>
                      <a:srgbClr val="FFFFFF"/>
                    </a:solidFill>
                  </a:tcPr>
                </a:tc>
                <a:tc>
                  <a:txBody>
                    <a:bodyPr wrap="square"/>
                    <a:lstStyle/>
                    <a:p>
                      <a:r>
                        <a:rPr sz="1300" b="0" i="0">
                          <a:solidFill>
                            <a:srgbClr val="0B0B0B"/>
                          </a:solidFill>
                          <a:latin typeface="Arial"/>
                        </a:rPr>
                        <a:t>0,83</a:t>
                      </a:r>
                    </a:p>
                  </a:txBody>
                  <a:tcPr marL="64008" marR="64008" marT="27432" marB="27432" anchor="ctr">
                    <a:solidFill>
                      <a:srgbClr val="FFFFFF"/>
                    </a:solidFill>
                  </a:tcPr>
                </a:tc>
              </a:tr>
              <a:tr h="384048">
                <a:tc>
                  <a:txBody>
                    <a:bodyPr wrap="square"/>
                    <a:lstStyle/>
                    <a:p>
                      <a:r>
                        <a:rPr sz="1300" b="0" i="0">
                          <a:solidFill>
                            <a:srgbClr val="0B0B0B"/>
                          </a:solidFill>
                          <a:latin typeface="Arial"/>
                        </a:rPr>
                        <a:t>BiLSTM</a:t>
                      </a:r>
                    </a:p>
                  </a:txBody>
                  <a:tcPr marL="64008" marR="64008" marT="27432" marB="27432" anchor="ctr">
                    <a:solidFill>
                      <a:srgbClr val="F9F9F7"/>
                    </a:solidFill>
                  </a:tcPr>
                </a:tc>
                <a:tc>
                  <a:txBody>
                    <a:bodyPr wrap="square"/>
                    <a:lstStyle/>
                    <a:p>
                      <a:r>
                        <a:rPr sz="1300" b="0" i="0">
                          <a:solidFill>
                            <a:srgbClr val="0B0B0B"/>
                          </a:solidFill>
                          <a:latin typeface="Arial"/>
                        </a:rPr>
                        <a:t>34K</a:t>
                      </a:r>
                    </a:p>
                  </a:txBody>
                  <a:tcPr marL="64008" marR="64008" marT="27432" marB="27432" anchor="ctr">
                    <a:solidFill>
                      <a:srgbClr val="F9F9F7"/>
                    </a:solidFill>
                  </a:tcPr>
                </a:tc>
                <a:tc>
                  <a:txBody>
                    <a:bodyPr wrap="square"/>
                    <a:lstStyle/>
                    <a:p>
                      <a:r>
                        <a:rPr sz="1300" b="0" i="0">
                          <a:solidFill>
                            <a:srgbClr val="0B0B0B"/>
                          </a:solidFill>
                          <a:latin typeface="Arial"/>
                        </a:rPr>
                        <a:t>91,65</a:t>
                      </a:r>
                    </a:p>
                  </a:txBody>
                  <a:tcPr marL="64008" marR="64008" marT="27432" marB="27432" anchor="ctr">
                    <a:solidFill>
                      <a:srgbClr val="F9F9F7"/>
                    </a:solidFill>
                  </a:tcPr>
                </a:tc>
                <a:tc>
                  <a:txBody>
                    <a:bodyPr wrap="square"/>
                    <a:lstStyle/>
                    <a:p>
                      <a:r>
                        <a:rPr sz="1300" b="0" i="0">
                          <a:solidFill>
                            <a:srgbClr val="0B0B0B"/>
                          </a:solidFill>
                          <a:latin typeface="Arial"/>
                        </a:rPr>
                        <a:t>1,30</a:t>
                      </a:r>
                    </a:p>
                  </a:txBody>
                  <a:tcPr marL="64008" marR="64008" marT="27432" marB="27432" anchor="ctr">
                    <a:solidFill>
                      <a:srgbClr val="F9F9F7"/>
                    </a:solidFill>
                  </a:tcPr>
                </a:tc>
              </a:tr>
              <a:tr h="384048">
                <a:tc>
                  <a:txBody>
                    <a:bodyPr wrap="square"/>
                    <a:lstStyle/>
                    <a:p>
                      <a:r>
                        <a:rPr sz="1300" b="0" i="0">
                          <a:solidFill>
                            <a:srgbClr val="0B0B0B"/>
                          </a:solidFill>
                          <a:latin typeface="Arial"/>
                        </a:rPr>
                        <a:t>BiLSTM + single-head</a:t>
                      </a:r>
                    </a:p>
                  </a:txBody>
                  <a:tcPr marL="64008" marR="64008" marT="27432" marB="27432" anchor="ctr">
                    <a:solidFill>
                      <a:srgbClr val="FFFFFF"/>
                    </a:solidFill>
                  </a:tcPr>
                </a:tc>
                <a:tc>
                  <a:txBody>
                    <a:bodyPr wrap="square"/>
                    <a:lstStyle/>
                    <a:p>
                      <a:r>
                        <a:rPr sz="1300" b="0" i="0">
                          <a:solidFill>
                            <a:srgbClr val="0B0B0B"/>
                          </a:solidFill>
                          <a:latin typeface="Arial"/>
                        </a:rPr>
                        <a:t>67K</a:t>
                      </a:r>
                    </a:p>
                  </a:txBody>
                  <a:tcPr marL="64008" marR="64008" marT="27432" marB="27432" anchor="ctr">
                    <a:solidFill>
                      <a:srgbClr val="FFFFFF"/>
                    </a:solidFill>
                  </a:tcPr>
                </a:tc>
                <a:tc>
                  <a:txBody>
                    <a:bodyPr wrap="square"/>
                    <a:lstStyle/>
                    <a:p>
                      <a:r>
                        <a:rPr sz="1300" b="0" i="0">
                          <a:solidFill>
                            <a:srgbClr val="0B0B0B"/>
                          </a:solidFill>
                          <a:latin typeface="Arial"/>
                        </a:rPr>
                        <a:t>93,48</a:t>
                      </a:r>
                    </a:p>
                  </a:txBody>
                  <a:tcPr marL="64008" marR="64008" marT="27432" marB="27432" anchor="ctr">
                    <a:solidFill>
                      <a:srgbClr val="FFFFFF"/>
                    </a:solidFill>
                  </a:tcPr>
                </a:tc>
                <a:tc>
                  <a:txBody>
                    <a:bodyPr wrap="square"/>
                    <a:lstStyle/>
                    <a:p>
                      <a:r>
                        <a:rPr sz="1300" b="0" i="0">
                          <a:solidFill>
                            <a:srgbClr val="0B0B0B"/>
                          </a:solidFill>
                          <a:latin typeface="Arial"/>
                        </a:rPr>
                        <a:t>1,37</a:t>
                      </a:r>
                    </a:p>
                  </a:txBody>
                  <a:tcPr marL="64008" marR="64008" marT="27432" marB="27432" anchor="ctr">
                    <a:solidFill>
                      <a:srgbClr val="FFFFFF"/>
                    </a:solidFill>
                  </a:tcPr>
                </a:tc>
              </a:tr>
              <a:tr h="384048">
                <a:tc>
                  <a:txBody>
                    <a:bodyPr wrap="square"/>
                    <a:lstStyle/>
                    <a:p>
                      <a:r>
                        <a:rPr sz="1300" b="0" i="0">
                          <a:solidFill>
                            <a:srgbClr val="0B0B0B"/>
                          </a:solidFill>
                          <a:latin typeface="Arial"/>
                        </a:rPr>
                        <a:t>BiLSTM + multi-head</a:t>
                      </a:r>
                    </a:p>
                  </a:txBody>
                  <a:tcPr marL="64008" marR="64008" marT="27432" marB="27432" anchor="ctr">
                    <a:solidFill>
                      <a:srgbClr val="F9F9F7"/>
                    </a:solidFill>
                  </a:tcPr>
                </a:tc>
                <a:tc>
                  <a:txBody>
                    <a:bodyPr wrap="square"/>
                    <a:lstStyle/>
                    <a:p>
                      <a:r>
                        <a:rPr sz="1300" b="0" i="0">
                          <a:solidFill>
                            <a:srgbClr val="0B0B0B"/>
                          </a:solidFill>
                          <a:latin typeface="Arial"/>
                        </a:rPr>
                        <a:t>495K</a:t>
                      </a:r>
                    </a:p>
                  </a:txBody>
                  <a:tcPr marL="64008" marR="64008" marT="27432" marB="27432" anchor="ctr">
                    <a:solidFill>
                      <a:srgbClr val="F9F9F7"/>
                    </a:solidFill>
                  </a:tcPr>
                </a:tc>
                <a:tc>
                  <a:txBody>
                    <a:bodyPr wrap="square"/>
                    <a:lstStyle/>
                    <a:p>
                      <a:r>
                        <a:rPr sz="1300" b="0" i="0">
                          <a:solidFill>
                            <a:srgbClr val="0B0B0B"/>
                          </a:solidFill>
                          <a:latin typeface="Arial"/>
                        </a:rPr>
                        <a:t>95,25</a:t>
                      </a:r>
                    </a:p>
                  </a:txBody>
                  <a:tcPr marL="64008" marR="64008" marT="27432" marB="27432" anchor="ctr">
                    <a:solidFill>
                      <a:srgbClr val="F9F9F7"/>
                    </a:solidFill>
                  </a:tcPr>
                </a:tc>
                <a:tc>
                  <a:txBody>
                    <a:bodyPr wrap="square"/>
                    <a:lstStyle/>
                    <a:p>
                      <a:r>
                        <a:rPr sz="1300" b="0" i="0">
                          <a:solidFill>
                            <a:srgbClr val="0B0B0B"/>
                          </a:solidFill>
                          <a:latin typeface="Arial"/>
                        </a:rPr>
                        <a:t>1,51</a:t>
                      </a:r>
                    </a:p>
                  </a:txBody>
                  <a:tcPr marL="64008" marR="64008" marT="27432" marB="27432" anchor="ctr">
                    <a:solidFill>
                      <a:srgbClr val="F9F9F7"/>
                    </a:solidFill>
                  </a:tcPr>
                </a:tc>
              </a:tr>
              <a:tr h="384048">
                <a:tc>
                  <a:txBody>
                    <a:bodyPr wrap="square"/>
                    <a:lstStyle/>
                    <a:p>
                      <a:r>
                        <a:rPr sz="1300" b="0" i="0">
                          <a:solidFill>
                            <a:srgbClr val="2A78D6"/>
                          </a:solidFill>
                          <a:latin typeface="Arial"/>
                        </a:rPr>
                        <a:t>KD-BiLSTM (đề xuất)</a:t>
                      </a:r>
                    </a:p>
                  </a:txBody>
                  <a:tcPr marL="64008" marR="64008" marT="27432" marB="27432" anchor="ctr">
                    <a:solidFill>
                      <a:srgbClr val="FFFFFF"/>
                    </a:solidFill>
                  </a:tcPr>
                </a:tc>
                <a:tc>
                  <a:txBody>
                    <a:bodyPr wrap="square"/>
                    <a:lstStyle/>
                    <a:p>
                      <a:r>
                        <a:rPr sz="1300" b="0" i="0">
                          <a:solidFill>
                            <a:srgbClr val="0B0B0B"/>
                          </a:solidFill>
                          <a:latin typeface="Arial"/>
                        </a:rPr>
                        <a:t>4,5M</a:t>
                      </a:r>
                    </a:p>
                  </a:txBody>
                  <a:tcPr marL="64008" marR="64008" marT="27432" marB="27432" anchor="ctr">
                    <a:solidFill>
                      <a:srgbClr val="FFFFFF"/>
                    </a:solidFill>
                  </a:tcPr>
                </a:tc>
                <a:tc>
                  <a:txBody>
                    <a:bodyPr wrap="square"/>
                    <a:lstStyle/>
                    <a:p>
                      <a:r>
                        <a:rPr sz="1300" b="0" i="0">
                          <a:solidFill>
                            <a:srgbClr val="0B0B0B"/>
                          </a:solidFill>
                          <a:latin typeface="Arial"/>
                        </a:rPr>
                        <a:t>96,67</a:t>
                      </a:r>
                    </a:p>
                  </a:txBody>
                  <a:tcPr marL="64008" marR="64008" marT="27432" marB="27432" anchor="ctr">
                    <a:solidFill>
                      <a:srgbClr val="FFFFFF"/>
                    </a:solidFill>
                  </a:tcPr>
                </a:tc>
                <a:tc>
                  <a:txBody>
                    <a:bodyPr wrap="square"/>
                    <a:lstStyle/>
                    <a:p>
                      <a:r>
                        <a:rPr sz="1300" b="0" i="0">
                          <a:solidFill>
                            <a:srgbClr val="0B0B0B"/>
                          </a:solidFill>
                          <a:latin typeface="Arial"/>
                        </a:rPr>
                        <a:t>6,06</a:t>
                      </a:r>
                    </a:p>
                  </a:txBody>
                  <a:tcPr marL="64008" marR="64008" marT="27432" marB="27432" anchor="ctr">
                    <a:solidFill>
                      <a:srgbClr val="FFFFFF"/>
                    </a:solidFill>
                  </a:tcPr>
                </a:tc>
              </a:tr>
              <a:tr h="384048">
                <a:tc>
                  <a:txBody>
                    <a:bodyPr wrap="square"/>
                    <a:lstStyle/>
                    <a:p>
                      <a:r>
                        <a:rPr sz="1300" b="0" i="0">
                          <a:solidFill>
                            <a:srgbClr val="0B0B0B"/>
                          </a:solidFill>
                          <a:latin typeface="Arial"/>
                        </a:rPr>
                        <a:t>MobileBERT (teacher)</a:t>
                      </a:r>
                    </a:p>
                  </a:txBody>
                  <a:tcPr marL="64008" marR="64008" marT="27432" marB="27432" anchor="ctr">
                    <a:solidFill>
                      <a:srgbClr val="F9F9F7"/>
                    </a:solidFill>
                  </a:tcPr>
                </a:tc>
                <a:tc>
                  <a:txBody>
                    <a:bodyPr wrap="square"/>
                    <a:lstStyle/>
                    <a:p>
                      <a:r>
                        <a:rPr sz="1300" b="0" i="0">
                          <a:solidFill>
                            <a:srgbClr val="0B0B0B"/>
                          </a:solidFill>
                          <a:latin typeface="Arial"/>
                        </a:rPr>
                        <a:t>25,3M</a:t>
                      </a:r>
                    </a:p>
                  </a:txBody>
                  <a:tcPr marL="64008" marR="64008" marT="27432" marB="27432" anchor="ctr">
                    <a:solidFill>
                      <a:srgbClr val="F9F9F7"/>
                    </a:solidFill>
                  </a:tcPr>
                </a:tc>
                <a:tc>
                  <a:txBody>
                    <a:bodyPr wrap="square"/>
                    <a:lstStyle/>
                    <a:p>
                      <a:r>
                        <a:rPr sz="1300" b="0" i="0">
                          <a:solidFill>
                            <a:srgbClr val="0B0B0B"/>
                          </a:solidFill>
                          <a:latin typeface="Arial"/>
                        </a:rPr>
                        <a:t>98,56</a:t>
                      </a:r>
                    </a:p>
                  </a:txBody>
                  <a:tcPr marL="64008" marR="64008" marT="27432" marB="27432" anchor="ctr">
                    <a:solidFill>
                      <a:srgbClr val="F9F9F7"/>
                    </a:solidFill>
                  </a:tcPr>
                </a:tc>
                <a:tc>
                  <a:txBody>
                    <a:bodyPr wrap="square"/>
                    <a:lstStyle/>
                    <a:p>
                      <a:r>
                        <a:rPr sz="1300" b="0" i="0">
                          <a:solidFill>
                            <a:srgbClr val="0B0B0B"/>
                          </a:solidFill>
                          <a:latin typeface="Arial"/>
                        </a:rPr>
                        <a:t>42,0</a:t>
                      </a:r>
                    </a:p>
                  </a:txBody>
                  <a:tcPr marL="64008" marR="64008" marT="27432" marB="27432" anchor="ctr">
                    <a:solidFill>
                      <a:srgbClr val="F9F9F7"/>
                    </a:solidFill>
                  </a:tcPr>
                </a:tc>
              </a:tr>
              <a:tr h="384048">
                <a:tc>
                  <a:txBody>
                    <a:bodyPr wrap="square"/>
                    <a:lstStyle/>
                    <a:p>
                      <a:r>
                        <a:rPr sz="1300" b="0" i="0">
                          <a:solidFill>
                            <a:srgbClr val="0B0B0B"/>
                          </a:solidFill>
                          <a:latin typeface="Arial"/>
                        </a:rPr>
                        <a:t>ModernBERT-base</a:t>
                      </a:r>
                    </a:p>
                  </a:txBody>
                  <a:tcPr marL="64008" marR="64008" marT="27432" marB="27432" anchor="ctr">
                    <a:solidFill>
                      <a:srgbClr val="FFFFFF"/>
                    </a:solidFill>
                  </a:tcPr>
                </a:tc>
                <a:tc>
                  <a:txBody>
                    <a:bodyPr wrap="square"/>
                    <a:lstStyle/>
                    <a:p>
                      <a:r>
                        <a:rPr sz="1300" b="0" i="0">
                          <a:solidFill>
                            <a:srgbClr val="0B0B0B"/>
                          </a:solidFill>
                          <a:latin typeface="Arial"/>
                        </a:rPr>
                        <a:t>149M</a:t>
                      </a:r>
                    </a:p>
                  </a:txBody>
                  <a:tcPr marL="64008" marR="64008" marT="27432" marB="27432" anchor="ctr">
                    <a:solidFill>
                      <a:srgbClr val="FFFFFF"/>
                    </a:solidFill>
                  </a:tcPr>
                </a:tc>
                <a:tc>
                  <a:txBody>
                    <a:bodyPr wrap="square"/>
                    <a:lstStyle/>
                    <a:p>
                      <a:r>
                        <a:rPr sz="1300" b="0" i="0">
                          <a:solidFill>
                            <a:srgbClr val="0B0B0B"/>
                          </a:solidFill>
                          <a:latin typeface="Arial"/>
                        </a:rPr>
                        <a:t>98,98</a:t>
                      </a:r>
                    </a:p>
                  </a:txBody>
                  <a:tcPr marL="64008" marR="64008" marT="27432" marB="27432" anchor="ctr">
                    <a:solidFill>
                      <a:srgbClr val="FFFFFF"/>
                    </a:solidFill>
                  </a:tcPr>
                </a:tc>
                <a:tc>
                  <a:txBody>
                    <a:bodyPr wrap="square"/>
                    <a:lstStyle/>
                    <a:p>
                      <a:r>
                        <a:rPr sz="1300" b="0" i="0">
                          <a:solidFill>
                            <a:srgbClr val="0B0B0B"/>
                          </a:solidFill>
                          <a:latin typeface="Arial"/>
                        </a:rPr>
                        <a:t>37,26</a:t>
                      </a:r>
                    </a:p>
                  </a:txBody>
                  <a:tcPr marL="64008" marR="64008" marT="27432" marB="27432" anchor="ctr">
                    <a:solidFill>
                      <a:srgbClr val="FFFFFF"/>
                    </a:solidFill>
                  </a:tcPr>
                </a:tc>
              </a:tr>
              <a:tr h="384048">
                <a:tc>
                  <a:txBody>
                    <a:bodyPr wrap="square"/>
                    <a:lstStyle/>
                    <a:p>
                      <a:r>
                        <a:rPr sz="1300" b="0" i="0">
                          <a:solidFill>
                            <a:srgbClr val="0B0B0B"/>
                          </a:solidFill>
                          <a:latin typeface="Arial"/>
                        </a:rPr>
                        <a:t>DeepSeek-R1-Distill-Qwen-1.5B</a:t>
                      </a:r>
                    </a:p>
                  </a:txBody>
                  <a:tcPr marL="64008" marR="64008" marT="27432" marB="27432" anchor="ctr">
                    <a:solidFill>
                      <a:srgbClr val="F9F9F7"/>
                    </a:solidFill>
                  </a:tcPr>
                </a:tc>
                <a:tc>
                  <a:txBody>
                    <a:bodyPr wrap="square"/>
                    <a:lstStyle/>
                    <a:p>
                      <a:r>
                        <a:rPr sz="1300" b="0" i="0">
                          <a:solidFill>
                            <a:srgbClr val="0B0B0B"/>
                          </a:solidFill>
                          <a:latin typeface="Arial"/>
                        </a:rPr>
                        <a:t>1.780M</a:t>
                      </a:r>
                    </a:p>
                  </a:txBody>
                  <a:tcPr marL="64008" marR="64008" marT="27432" marB="27432" anchor="ctr">
                    <a:solidFill>
                      <a:srgbClr val="F9F9F7"/>
                    </a:solidFill>
                  </a:tcPr>
                </a:tc>
                <a:tc>
                  <a:txBody>
                    <a:bodyPr wrap="square"/>
                    <a:lstStyle/>
                    <a:p>
                      <a:r>
                        <a:rPr sz="1300" b="0" i="0">
                          <a:solidFill>
                            <a:srgbClr val="0B0B0B"/>
                          </a:solidFill>
                          <a:latin typeface="Arial"/>
                        </a:rPr>
                        <a:t>98,83</a:t>
                      </a:r>
                    </a:p>
                  </a:txBody>
                  <a:tcPr marL="64008" marR="64008" marT="27432" marB="27432" anchor="ctr">
                    <a:solidFill>
                      <a:srgbClr val="F9F9F7"/>
                    </a:solidFill>
                  </a:tcPr>
                </a:tc>
                <a:tc>
                  <a:txBody>
                    <a:bodyPr wrap="square"/>
                    <a:lstStyle/>
                    <a:p>
                      <a:r>
                        <a:rPr sz="1300" b="0" i="0">
                          <a:solidFill>
                            <a:srgbClr val="0B0B0B"/>
                          </a:solidFill>
                          <a:latin typeface="Arial"/>
                        </a:rPr>
                        <a:t>56,40</a:t>
                      </a:r>
                    </a:p>
                  </a:txBody>
                  <a:tcPr marL="64008" marR="64008" marT="27432" marB="27432" anchor="ctr">
                    <a:solidFill>
                      <a:srgbClr val="F9F9F7"/>
                    </a:solidFill>
                  </a:tcPr>
                </a:tc>
              </a:tr>
            </a:tbl>
          </a:graphicData>
        </a:graphic>
      </p:graphicFrame>
      <p:sp>
        <p:nvSpPr>
          <p:cNvPr id="7" name="TextBox 6"/>
          <p:cNvSpPr txBox="1"/>
          <p:nvPr/>
        </p:nvSpPr>
        <p:spPr>
          <a:xfrm>
            <a:off x="7680960" y="1463040"/>
            <a:ext cx="4023360" cy="4572000"/>
          </a:xfrm>
          <a:prstGeom prst="rect">
            <a:avLst/>
          </a:prstGeom>
          <a:noFill/>
        </p:spPr>
        <p:txBody>
          <a:bodyPr wrap="square" anchor="t" lIns="45720" rIns="45720">
            <a:spAutoFit/>
          </a:bodyPr>
          <a:lstStyle/>
          <a:p>
            <a:pPr>
              <a:spcAft>
                <a:spcPts val="900"/>
              </a:spcAft>
            </a:pPr>
            <a:r>
              <a:rPr sz="1600" b="0" i="0">
                <a:solidFill>
                  <a:srgbClr val="2A78D6"/>
                </a:solidFill>
                <a:latin typeface="Arial"/>
              </a:rPr>
              <a:t>•  </a:t>
            </a:r>
            <a:r>
              <a:rPr sz="1600" b="1" i="0">
                <a:solidFill>
                  <a:srgbClr val="0B0B0B"/>
                </a:solidFill>
                <a:latin typeface="Arial"/>
              </a:rPr>
              <a:t>Mỗi bước nâng cấp đều tăng F1: </a:t>
            </a:r>
            <a:r>
              <a:rPr sz="1600" b="0" i="0">
                <a:solidFill>
                  <a:srgbClr val="0B0B0B"/>
                </a:solidFill>
                <a:latin typeface="Arial"/>
              </a:rPr>
              <a:t>91,3% → 95,3% → 96,7%</a:t>
            </a:r>
          </a:p>
          <a:p>
            <a:pPr>
              <a:spcAft>
                <a:spcPts val="900"/>
              </a:spcAft>
            </a:pPr>
            <a:r>
              <a:rPr sz="1600" b="0" i="0">
                <a:solidFill>
                  <a:srgbClr val="2A78D6"/>
                </a:solidFill>
                <a:latin typeface="Arial"/>
              </a:rPr>
              <a:t>•  </a:t>
            </a:r>
            <a:r>
              <a:rPr sz="1600" b="1" i="0">
                <a:solidFill>
                  <a:srgbClr val="0B0B0B"/>
                </a:solidFill>
                <a:latin typeface="Arial"/>
              </a:rPr>
              <a:t>KD-BiLSTM kém transformer tốt nhất </a:t>
            </a:r>
            <a:r>
              <a:rPr sz="1600" b="0" i="0">
                <a:solidFill>
                  <a:srgbClr val="0B0B0B"/>
                </a:solidFill>
                <a:latin typeface="Arial"/>
              </a:rPr>
              <a:t>~1–2,5 điểm F1</a:t>
            </a:r>
          </a:p>
          <a:p>
            <a:pPr>
              <a:spcAft>
                <a:spcPts val="900"/>
              </a:spcAft>
            </a:pPr>
            <a:r>
              <a:rPr sz="1600" b="0" i="0">
                <a:solidFill>
                  <a:srgbClr val="2A78D6"/>
                </a:solidFill>
                <a:latin typeface="Arial"/>
              </a:rPr>
              <a:t>•  </a:t>
            </a:r>
            <a:r>
              <a:rPr sz="1600" b="1" i="0">
                <a:solidFill>
                  <a:srgbClr val="0B0B0B"/>
                </a:solidFill>
                <a:latin typeface="Arial"/>
              </a:rPr>
              <a:t>Đổi lại: </a:t>
            </a:r>
            <a:r>
              <a:rPr sz="1600" b="0" i="0">
                <a:solidFill>
                  <a:srgbClr val="0B0B0B"/>
                </a:solidFill>
                <a:latin typeface="Arial"/>
              </a:rPr>
              <a:t>nhanh hơn 5–19×, nhỏ hơn 20–800×</a:t>
            </a:r>
          </a:p>
          <a:p>
            <a:pPr>
              <a:spcAft>
                <a:spcPts val="900"/>
              </a:spcAft>
            </a:pPr>
            <a:r>
              <a:rPr sz="1600" b="0" i="0">
                <a:solidFill>
                  <a:srgbClr val="2A78D6"/>
                </a:solidFill>
                <a:latin typeface="Arial"/>
              </a:rPr>
              <a:t>•  </a:t>
            </a:r>
            <a:r>
              <a:rPr sz="1600" b="1" i="0">
                <a:solidFill>
                  <a:srgbClr val="0B0B0B"/>
                </a:solidFill>
                <a:latin typeface="Arial"/>
              </a:rPr>
              <a:t>Gen-Orig: </a:t>
            </a:r>
            <a:r>
              <a:rPr sz="1600" b="0" i="0">
                <a:solidFill>
                  <a:srgbClr val="0B0B0B"/>
                </a:solidFill>
                <a:latin typeface="Arial"/>
              </a:rPr>
              <a:t>recall BiLSTM chỉ 51% → KD-BiLSTM 98%</a:t>
            </a:r>
          </a:p>
          <a:p>
            <a:pPr>
              <a:spcAft>
                <a:spcPts val="900"/>
              </a:spcAft>
            </a:pPr>
            <a:r>
              <a:rPr sz="1600" b="0" i="0">
                <a:solidFill>
                  <a:srgbClr val="2A78D6"/>
                </a:solidFill>
                <a:latin typeface="Arial"/>
              </a:rPr>
              <a:t>•  </a:t>
            </a:r>
            <a:r>
              <a:rPr sz="1600" b="1" i="0">
                <a:solidFill>
                  <a:srgbClr val="0B0B0B"/>
                </a:solidFill>
                <a:latin typeface="Arial"/>
              </a:rPr>
              <a:t>LR + TF-IDF </a:t>
            </a:r>
            <a:r>
              <a:rPr sz="1600" b="0" i="0">
                <a:solidFill>
                  <a:srgbClr val="0B0B0B"/>
                </a:solidFill>
                <a:latin typeface="Arial"/>
              </a:rPr>
              <a:t>chỉ kém mô hình đề xuất ~1,3 điểm accuracy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I · TÌM HIỂU</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Nhận xét: điểm mạnh và khoảng trống của bài báo</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9</a:t>
            </a:r>
          </a:p>
        </p:txBody>
      </p:sp>
      <p:sp>
        <p:nvSpPr>
          <p:cNvPr id="6" name="Rounded Rectangle 5"/>
          <p:cNvSpPr/>
          <p:nvPr/>
        </p:nvSpPr>
        <p:spPr>
          <a:xfrm>
            <a:off x="548640" y="1463040"/>
            <a:ext cx="5394960" cy="21945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72768"/>
            <a:ext cx="5120640" cy="2011680"/>
          </a:xfrm>
          <a:prstGeom prst="rect">
            <a:avLst/>
          </a:prstGeom>
          <a:noFill/>
        </p:spPr>
        <p:txBody>
          <a:bodyPr wrap="square" anchor="t" lIns="45720" rIns="45720">
            <a:spAutoFit/>
          </a:bodyPr>
          <a:lstStyle/>
          <a:p>
            <a:pPr>
              <a:spcAft>
                <a:spcPts val="400"/>
              </a:spcAft>
            </a:pPr>
            <a:r>
              <a:rPr sz="1600" b="1" i="0">
                <a:solidFill>
                  <a:srgbClr val="1B8A5A"/>
                </a:solidFill>
                <a:latin typeface="Arial"/>
              </a:rPr>
              <a:t>Điểm mạnh</a:t>
            </a:r>
          </a:p>
          <a:p>
            <a:pPr>
              <a:spcAft>
                <a:spcPts val="600"/>
              </a:spcAft>
            </a:pPr>
            <a:r>
              <a:rPr sz="1400" b="0" i="0">
                <a:solidFill>
                  <a:srgbClr val="52514E"/>
                </a:solidFill>
                <a:latin typeface="Arial"/>
              </a:rPr>
              <a:t>Đặt vấn đề đúng thời điểm (email LLM) · dữ liệu có tính tới hành vi né tránh · kịch bản chéo phân phối hợp lý · phân tích đầy đủ đánh đổi chính xác/chi phí.</a:t>
            </a:r>
          </a:p>
        </p:txBody>
      </p:sp>
      <p:sp>
        <p:nvSpPr>
          <p:cNvPr id="8" name="Rounded Rectangle 7"/>
          <p:cNvSpPr/>
          <p:nvPr/>
        </p:nvSpPr>
        <p:spPr>
          <a:xfrm>
            <a:off x="6309360" y="1463040"/>
            <a:ext cx="5394960" cy="21945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572768"/>
            <a:ext cx="5120640" cy="2011680"/>
          </a:xfrm>
          <a:prstGeom prst="rect">
            <a:avLst/>
          </a:prstGeom>
          <a:noFill/>
        </p:spPr>
        <p:txBody>
          <a:bodyPr wrap="square" anchor="t" lIns="45720" rIns="45720">
            <a:spAutoFit/>
          </a:bodyPr>
          <a:lstStyle/>
          <a:p>
            <a:pPr>
              <a:spcAft>
                <a:spcPts val="400"/>
              </a:spcAft>
            </a:pPr>
            <a:r>
              <a:rPr sz="1600" b="1" i="0">
                <a:solidFill>
                  <a:srgbClr val="D03B3B"/>
                </a:solidFill>
                <a:latin typeface="Arial"/>
              </a:rPr>
              <a:t>Hạn chế khi tái lập</a:t>
            </a:r>
          </a:p>
          <a:p>
            <a:pPr>
              <a:spcAft>
                <a:spcPts val="600"/>
              </a:spcAft>
            </a:pPr>
            <a:r>
              <a:rPr sz="1400" b="0" i="0">
                <a:solidFill>
                  <a:srgbClr val="52514E"/>
                </a:solidFill>
                <a:latin typeface="Arial"/>
              </a:rPr>
              <a:t>Dữ liệu &amp; code “available on request” · số liệu chưa thống nhất (47.575 / ~14.000 / 13.692 mẫu) · thiếu chi tiết kiến trúc (nối attention, pooling).</a:t>
            </a:r>
          </a:p>
        </p:txBody>
      </p:sp>
      <p:sp>
        <p:nvSpPr>
          <p:cNvPr id="10" name="TextBox 9"/>
          <p:cNvSpPr txBox="1"/>
          <p:nvPr/>
        </p:nvSpPr>
        <p:spPr>
          <a:xfrm>
            <a:off x="548640" y="3886200"/>
            <a:ext cx="11155680" cy="365760"/>
          </a:xfrm>
          <a:prstGeom prst="rect">
            <a:avLst/>
          </a:prstGeom>
          <a:noFill/>
        </p:spPr>
        <p:txBody>
          <a:bodyPr wrap="square" anchor="t" lIns="45720" rIns="45720">
            <a:spAutoFit/>
          </a:bodyPr>
          <a:lstStyle/>
          <a:p>
            <a:pPr>
              <a:spcAft>
                <a:spcPts val="600"/>
              </a:spcAft>
            </a:pPr>
            <a:r>
              <a:rPr sz="1700" b="1" i="0">
                <a:solidFill>
                  <a:srgbClr val="2A78D6"/>
                </a:solidFill>
                <a:latin typeface="Arial"/>
              </a:rPr>
              <a:t>Ba khoảng trống khi đưa vào thực tế → câu hỏi của nhóm</a:t>
            </a:r>
          </a:p>
        </p:txBody>
      </p:sp>
      <p:sp>
        <p:nvSpPr>
          <p:cNvPr id="11" name="Rounded Rectangle 10"/>
          <p:cNvSpPr/>
          <p:nvPr/>
        </p:nvSpPr>
        <p:spPr>
          <a:xfrm>
            <a:off x="548640" y="4389120"/>
            <a:ext cx="3566160" cy="1600200"/>
          </a:xfrm>
          <a:prstGeom prst="roundRect">
            <a:avLst>
              <a:gd name="adj" fmla="val 6000"/>
            </a:avLst>
          </a:prstGeom>
          <a:solidFill>
            <a:srgbClr val="CDE2FB"/>
          </a:solidFill>
          <a:ln w="9525">
            <a:solidFill>
              <a:srgbClr val="CDE2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4572000"/>
            <a:ext cx="457200" cy="457200"/>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1</a:t>
            </a:r>
          </a:p>
        </p:txBody>
      </p:sp>
      <p:sp>
        <p:nvSpPr>
          <p:cNvPr id="13" name="TextBox 12"/>
          <p:cNvSpPr txBox="1"/>
          <p:nvPr/>
        </p:nvSpPr>
        <p:spPr>
          <a:xfrm>
            <a:off x="1325880" y="4526280"/>
            <a:ext cx="2697480" cy="1371600"/>
          </a:xfrm>
          <a:prstGeom prst="rect">
            <a:avLst/>
          </a:prstGeom>
          <a:noFill/>
        </p:spPr>
        <p:txBody>
          <a:bodyPr wrap="square" anchor="t" lIns="45720" rIns="45720">
            <a:spAutoFit/>
          </a:bodyPr>
          <a:lstStyle/>
          <a:p>
            <a:pPr>
              <a:spcAft>
                <a:spcPts val="600"/>
              </a:spcAft>
            </a:pPr>
            <a:r>
              <a:rPr sz="1600" b="1" i="0">
                <a:solidFill>
                  <a:srgbClr val="0B0B0B"/>
                </a:solidFill>
                <a:latin typeface="Arial"/>
              </a:rPr>
              <a:t>Chỉ đọc văn bản</a:t>
            </a:r>
          </a:p>
          <a:p>
            <a:pPr>
              <a:spcAft>
                <a:spcPts val="600"/>
              </a:spcAft>
            </a:pPr>
            <a:r>
              <a:rPr sz="1300" b="0" i="0">
                <a:solidFill>
                  <a:srgbClr val="52514E"/>
                </a:solidFill>
                <a:latin typeface="Arial"/>
              </a:rPr>
              <a:t>Email thật có ảnh, mã QR, tệp đính kèm.</a:t>
            </a:r>
          </a:p>
        </p:txBody>
      </p:sp>
      <p:sp>
        <p:nvSpPr>
          <p:cNvPr id="14" name="Rounded Rectangle 13"/>
          <p:cNvSpPr/>
          <p:nvPr/>
        </p:nvSpPr>
        <p:spPr>
          <a:xfrm>
            <a:off x="4343400" y="4389120"/>
            <a:ext cx="3566160" cy="1600200"/>
          </a:xfrm>
          <a:prstGeom prst="roundRect">
            <a:avLst>
              <a:gd name="adj" fmla="val 6000"/>
            </a:avLst>
          </a:prstGeom>
          <a:solidFill>
            <a:srgbClr val="CDE2FB"/>
          </a:solidFill>
          <a:ln w="9525">
            <a:solidFill>
              <a:srgbClr val="CDE2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26280" y="4572000"/>
            <a:ext cx="457200" cy="457200"/>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2</a:t>
            </a:r>
          </a:p>
        </p:txBody>
      </p:sp>
      <p:sp>
        <p:nvSpPr>
          <p:cNvPr id="16" name="TextBox 15"/>
          <p:cNvSpPr txBox="1"/>
          <p:nvPr/>
        </p:nvSpPr>
        <p:spPr>
          <a:xfrm>
            <a:off x="5120640" y="4526280"/>
            <a:ext cx="2697480" cy="1371600"/>
          </a:xfrm>
          <a:prstGeom prst="rect">
            <a:avLst/>
          </a:prstGeom>
          <a:noFill/>
        </p:spPr>
        <p:txBody>
          <a:bodyPr wrap="square" anchor="t" lIns="45720" rIns="45720">
            <a:spAutoFit/>
          </a:bodyPr>
          <a:lstStyle/>
          <a:p>
            <a:pPr>
              <a:spcAft>
                <a:spcPts val="600"/>
              </a:spcAft>
            </a:pPr>
            <a:r>
              <a:rPr sz="1600" b="1" i="0">
                <a:solidFill>
                  <a:srgbClr val="0B0B0B"/>
                </a:solidFill>
                <a:latin typeface="Arial"/>
              </a:rPr>
              <a:t>Chỉ trả lời có/không</a:t>
            </a:r>
          </a:p>
          <a:p>
            <a:pPr>
              <a:spcAft>
                <a:spcPts val="600"/>
              </a:spcAft>
            </a:pPr>
            <a:r>
              <a:rPr sz="1300" b="0" i="0">
                <a:solidFill>
                  <a:srgbClr val="52514E"/>
                </a:solidFill>
                <a:latin typeface="Arial"/>
              </a:rPr>
              <a:t>Người dùng không biết mức độ nguy hiểm và lý do.</a:t>
            </a:r>
          </a:p>
        </p:txBody>
      </p:sp>
      <p:sp>
        <p:nvSpPr>
          <p:cNvPr id="17" name="Rounded Rectangle 16"/>
          <p:cNvSpPr/>
          <p:nvPr/>
        </p:nvSpPr>
        <p:spPr>
          <a:xfrm>
            <a:off x="8138160" y="4389120"/>
            <a:ext cx="3566160" cy="1600200"/>
          </a:xfrm>
          <a:prstGeom prst="roundRect">
            <a:avLst>
              <a:gd name="adj" fmla="val 6000"/>
            </a:avLst>
          </a:prstGeom>
          <a:solidFill>
            <a:srgbClr val="CDE2FB"/>
          </a:solidFill>
          <a:ln w="9525">
            <a:solidFill>
              <a:srgbClr val="CDE2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21040" y="4572000"/>
            <a:ext cx="457200" cy="457200"/>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3</a:t>
            </a:r>
          </a:p>
        </p:txBody>
      </p:sp>
      <p:sp>
        <p:nvSpPr>
          <p:cNvPr id="19" name="TextBox 18"/>
          <p:cNvSpPr txBox="1"/>
          <p:nvPr/>
        </p:nvSpPr>
        <p:spPr>
          <a:xfrm>
            <a:off x="8915400" y="4526280"/>
            <a:ext cx="2697480" cy="1371600"/>
          </a:xfrm>
          <a:prstGeom prst="rect">
            <a:avLst/>
          </a:prstGeom>
          <a:noFill/>
        </p:spPr>
        <p:txBody>
          <a:bodyPr wrap="square" anchor="t" lIns="45720" rIns="45720">
            <a:spAutoFit/>
          </a:bodyPr>
          <a:lstStyle/>
          <a:p>
            <a:pPr>
              <a:spcAft>
                <a:spcPts val="600"/>
              </a:spcAft>
            </a:pPr>
            <a:r>
              <a:rPr sz="1600" b="1" i="0">
                <a:solidFill>
                  <a:srgbClr val="0B0B0B"/>
                </a:solidFill>
                <a:latin typeface="Arial"/>
              </a:rPr>
              <a:t>Chỉ có tiếng Anh</a:t>
            </a:r>
          </a:p>
          <a:p>
            <a:pPr>
              <a:spcAft>
                <a:spcPts val="600"/>
              </a:spcAft>
            </a:pPr>
            <a:r>
              <a:rPr sz="1300" b="0" i="0">
                <a:solidFill>
                  <a:srgbClr val="52514E"/>
                </a:solidFill>
                <a:latin typeface="Arial"/>
              </a:rPr>
              <a:t>Chưa xét tiếng Việt và môi trường trường học.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A78D6"/>
        </a:solidFill>
        <a:effectLst/>
      </p:bgPr>
    </p:bg>
    <p:spTree>
      <p:nvGrpSpPr>
        <p:cNvPr id="1" name=""/>
        <p:cNvGrpSpPr/>
        <p:nvPr/>
      </p:nvGrpSpPr>
      <p:grpSpPr/>
      <p:sp>
        <p:nvSpPr>
          <p:cNvPr id="2" name="TextBox 1"/>
          <p:cNvSpPr txBox="1"/>
          <p:nvPr/>
        </p:nvSpPr>
        <p:spPr>
          <a:xfrm>
            <a:off x="822960" y="2011680"/>
            <a:ext cx="10515600" cy="914400"/>
          </a:xfrm>
          <a:prstGeom prst="rect">
            <a:avLst/>
          </a:prstGeom>
          <a:noFill/>
        </p:spPr>
        <p:txBody>
          <a:bodyPr wrap="square" anchor="t" lIns="45720" rIns="45720">
            <a:spAutoFit/>
          </a:bodyPr>
          <a:lstStyle/>
          <a:p>
            <a:pPr>
              <a:spcAft>
                <a:spcPts val="600"/>
              </a:spcAft>
            </a:pPr>
            <a:r>
              <a:rPr sz="2000" b="1" i="0">
                <a:solidFill>
                  <a:srgbClr val="CDE2FB"/>
                </a:solidFill>
                <a:latin typeface="Arial"/>
              </a:rPr>
              <a:t>PHẦN II</a:t>
            </a:r>
          </a:p>
        </p:txBody>
      </p:sp>
      <p:sp>
        <p:nvSpPr>
          <p:cNvPr id="3" name="TextBox 2"/>
          <p:cNvSpPr txBox="1"/>
          <p:nvPr/>
        </p:nvSpPr>
        <p:spPr>
          <a:xfrm>
            <a:off x="822960" y="2651760"/>
            <a:ext cx="10515600" cy="1188720"/>
          </a:xfrm>
          <a:prstGeom prst="rect">
            <a:avLst/>
          </a:prstGeom>
          <a:noFill/>
        </p:spPr>
        <p:txBody>
          <a:bodyPr wrap="square" anchor="t" lIns="45720" rIns="45720">
            <a:spAutoFit/>
          </a:bodyPr>
          <a:lstStyle/>
          <a:p>
            <a:pPr>
              <a:spcAft>
                <a:spcPts val="600"/>
              </a:spcAft>
            </a:pPr>
            <a:r>
              <a:rPr sz="4800" b="1" i="0">
                <a:solidFill>
                  <a:srgbClr val="FFFFFF"/>
                </a:solidFill>
                <a:latin typeface="Arial"/>
              </a:rPr>
              <a:t>Nội dung thực hiện</a:t>
            </a:r>
          </a:p>
        </p:txBody>
      </p:sp>
      <p:sp>
        <p:nvSpPr>
          <p:cNvPr id="4" name="TextBox 3"/>
          <p:cNvSpPr txBox="1"/>
          <p:nvPr/>
        </p:nvSpPr>
        <p:spPr>
          <a:xfrm>
            <a:off x="822960" y="3840480"/>
            <a:ext cx="10515600" cy="914400"/>
          </a:xfrm>
          <a:prstGeom prst="rect">
            <a:avLst/>
          </a:prstGeom>
          <a:noFill/>
        </p:spPr>
        <p:txBody>
          <a:bodyPr wrap="square" anchor="t" lIns="45720" rIns="45720">
            <a:spAutoFit/>
          </a:bodyPr>
          <a:lstStyle/>
          <a:p>
            <a:pPr>
              <a:spcAft>
                <a:spcPts val="600"/>
              </a:spcAft>
            </a:pPr>
            <a:r>
              <a:rPr sz="2000" b="0" i="0">
                <a:solidFill>
                  <a:srgbClr val="CDE2FB"/>
                </a:solidFill>
                <a:latin typeface="Arial"/>
              </a:rPr>
              <a:t>Tái hiện bài báo · xây dựng PhishLens Edu · đánh giá độ bền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II · NỘI DUNG THỰC HIỆN</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Hai mảng công việc</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11</a:t>
            </a:r>
          </a:p>
        </p:txBody>
      </p:sp>
      <p:sp>
        <p:nvSpPr>
          <p:cNvPr id="6" name="Rounded Rectangle 5"/>
          <p:cNvSpPr/>
          <p:nvPr/>
        </p:nvSpPr>
        <p:spPr>
          <a:xfrm>
            <a:off x="548640" y="1463040"/>
            <a:ext cx="5394960" cy="210312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72768"/>
            <a:ext cx="5120640" cy="1920240"/>
          </a:xfrm>
          <a:prstGeom prst="rect">
            <a:avLst/>
          </a:prstGeom>
          <a:noFill/>
        </p:spPr>
        <p:txBody>
          <a:bodyPr wrap="square" anchor="t" lIns="45720" rIns="45720">
            <a:spAutoFit/>
          </a:bodyPr>
          <a:lstStyle/>
          <a:p>
            <a:pPr>
              <a:spcAft>
                <a:spcPts val="400"/>
              </a:spcAft>
            </a:pPr>
            <a:r>
              <a:rPr sz="1600" b="1" i="0">
                <a:solidFill>
                  <a:srgbClr val="0B0B0B"/>
                </a:solidFill>
                <a:latin typeface="Arial"/>
              </a:rPr>
              <a:t>A. Tái hiện bài báo — gói phishkd</a:t>
            </a:r>
          </a:p>
          <a:p>
            <a:pPr>
              <a:spcAft>
                <a:spcPts val="600"/>
              </a:spcAft>
            </a:pPr>
            <a:r>
              <a:rPr sz="1400" b="0" i="0">
                <a:solidFill>
                  <a:srgbClr val="52514E"/>
                </a:solidFill>
                <a:latin typeface="Arial"/>
              </a:rPr>
              <a:t>Dữ liệu + sinh email kiểu LLM · 4 baseline · teacher MobileBERT · KD-BiLSTM (Algorithm 1) · 5 kịch bản × 5-fold · notebook Colab chạy toàn bộ.</a:t>
            </a:r>
          </a:p>
        </p:txBody>
      </p:sp>
      <p:sp>
        <p:nvSpPr>
          <p:cNvPr id="8" name="Rounded Rectangle 7"/>
          <p:cNvSpPr/>
          <p:nvPr/>
        </p:nvSpPr>
        <p:spPr>
          <a:xfrm>
            <a:off x="6309360" y="1463040"/>
            <a:ext cx="5394960" cy="2103120"/>
          </a:xfrm>
          <a:prstGeom prst="roundRect">
            <a:avLst>
              <a:gd name="adj" fmla="val 6000"/>
            </a:avLst>
          </a:prstGeom>
          <a:solidFill>
            <a:srgbClr val="CDE2FB"/>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572768"/>
            <a:ext cx="5120640" cy="1920240"/>
          </a:xfrm>
          <a:prstGeom prst="rect">
            <a:avLst/>
          </a:prstGeom>
          <a:noFill/>
        </p:spPr>
        <p:txBody>
          <a:bodyPr wrap="square" anchor="t" lIns="45720" rIns="45720">
            <a:spAutoFit/>
          </a:bodyPr>
          <a:lstStyle/>
          <a:p>
            <a:pPr>
              <a:spcAft>
                <a:spcPts val="400"/>
              </a:spcAft>
            </a:pPr>
            <a:r>
              <a:rPr sz="1600" b="1" i="0">
                <a:solidFill>
                  <a:srgbClr val="2A78D6"/>
                </a:solidFill>
                <a:latin typeface="Arial"/>
              </a:rPr>
              <a:t>B. Ứng dụng — PhishLens Edu (gói phishlens)</a:t>
            </a:r>
          </a:p>
          <a:p>
            <a:pPr>
              <a:spcAft>
                <a:spcPts val="600"/>
              </a:spcAft>
            </a:pPr>
            <a:r>
              <a:rPr sz="1400" b="0" i="0">
                <a:solidFill>
                  <a:srgbClr val="52514E"/>
                </a:solidFill>
                <a:latin typeface="Arial"/>
              </a:rPr>
              <a:t>Phân tích rủi ro email đa kênh, có giải thích tiếng Việt, kèm chế độ luyện tập và thí nghiệm độ bền. Web app chạy cục bộ (FastAPI).</a:t>
            </a:r>
          </a:p>
        </p:txBody>
      </p:sp>
      <p:graphicFrame>
        <p:nvGraphicFramePr>
          <p:cNvPr id="10" name="Table 9"/>
          <p:cNvGraphicFramePr>
            <a:graphicFrameLocks noGrp="1"/>
          </p:cNvGraphicFramePr>
          <p:nvPr/>
        </p:nvGraphicFramePr>
        <p:xfrm>
          <a:off x="548640" y="3794760"/>
          <a:ext cx="11155680" cy="2304288"/>
        </p:xfrm>
        <a:graphic>
          <a:graphicData uri="http://schemas.openxmlformats.org/drawingml/2006/table">
            <a:tbl>
              <a:tblPr firstRow="1" bandRow="1">
                <a:tableStyleId>{5C22544A-7EE6-4342-B048-85BDC9FD1C3A}</a:tableStyleId>
              </a:tblPr>
              <a:tblGrid>
                <a:gridCol w="5943600"/>
                <a:gridCol w="5212080"/>
              </a:tblGrid>
              <a:tr h="384048">
                <a:tc>
                  <a:txBody>
                    <a:bodyPr wrap="square"/>
                    <a:lstStyle/>
                    <a:p>
                      <a:r>
                        <a:rPr sz="1200" b="1" i="0">
                          <a:solidFill>
                            <a:srgbClr val="0B0B0B"/>
                          </a:solidFill>
                          <a:latin typeface="Arial"/>
                        </a:rPr>
                        <a:t>Bài báo</a:t>
                      </a:r>
                    </a:p>
                  </a:txBody>
                  <a:tcPr marL="64008" marR="64008" marT="27432" marB="27432" anchor="ctr">
                    <a:solidFill>
                      <a:srgbClr val="CDE2FB"/>
                    </a:solidFill>
                  </a:tcPr>
                </a:tc>
                <a:tc>
                  <a:txBody>
                    <a:bodyPr wrap="square"/>
                    <a:lstStyle/>
                    <a:p>
                      <a:r>
                        <a:rPr sz="1200" b="1" i="0">
                          <a:solidFill>
                            <a:srgbClr val="0B0B0B"/>
                          </a:solidFill>
                          <a:latin typeface="Arial"/>
                        </a:rPr>
                        <a:t>Mã nguồn của nhóm</a:t>
                      </a:r>
                    </a:p>
                  </a:txBody>
                  <a:tcPr marL="64008" marR="64008" marT="27432" marB="27432" anchor="ctr">
                    <a:solidFill>
                      <a:srgbClr val="CDE2FB"/>
                    </a:solidFill>
                  </a:tcPr>
                </a:tc>
              </a:tr>
              <a:tr h="384048">
                <a:tc>
                  <a:txBody>
                    <a:bodyPr wrap="square"/>
                    <a:lstStyle/>
                    <a:p>
                      <a:r>
                        <a:rPr sz="1200" b="0" i="0">
                          <a:solidFill>
                            <a:srgbClr val="0B0B0B"/>
                          </a:solidFill>
                          <a:latin typeface="Arial"/>
                        </a:rPr>
                        <a:t>3.2 · 3 hành vi né tránh, chấm mức phishing, khử trùng lặp</a:t>
                      </a:r>
                    </a:p>
                  </a:txBody>
                  <a:tcPr marL="64008" marR="64008" marT="27432" marB="27432" anchor="ctr">
                    <a:solidFill>
                      <a:srgbClr val="FFFFFF"/>
                    </a:solidFill>
                  </a:tcPr>
                </a:tc>
                <a:tc>
                  <a:txBody>
                    <a:bodyPr wrap="square"/>
                    <a:lstStyle/>
                    <a:p>
                      <a:r>
                        <a:rPr sz="1200" b="0" i="0">
                          <a:solidFill>
                            <a:srgbClr val="0B0B0B"/>
                          </a:solidFill>
                          <a:latin typeface="Arial"/>
                        </a:rPr>
                        <a:t>phishkd/augment.py, analysis.py</a:t>
                      </a:r>
                    </a:p>
                  </a:txBody>
                  <a:tcPr marL="64008" marR="64008" marT="27432" marB="27432" anchor="ctr">
                    <a:solidFill>
                      <a:srgbClr val="FFFFFF"/>
                    </a:solidFill>
                  </a:tcPr>
                </a:tc>
              </a:tr>
              <a:tr h="384048">
                <a:tc>
                  <a:txBody>
                    <a:bodyPr wrap="square"/>
                    <a:lstStyle/>
                    <a:p>
                      <a:r>
                        <a:rPr sz="1200" b="0" i="0">
                          <a:solidFill>
                            <a:srgbClr val="0B0B0B"/>
                          </a:solidFill>
                          <a:latin typeface="Arial"/>
                        </a:rPr>
                        <a:t>4.1–4.6 · Word2Vec, LSTM, BiLSTM, +SH, +MH</a:t>
                      </a:r>
                    </a:p>
                  </a:txBody>
                  <a:tcPr marL="64008" marR="64008" marT="27432" marB="27432" anchor="ctr">
                    <a:solidFill>
                      <a:srgbClr val="F9F9F7"/>
                    </a:solidFill>
                  </a:tcPr>
                </a:tc>
                <a:tc>
                  <a:txBody>
                    <a:bodyPr wrap="square"/>
                    <a:lstStyle/>
                    <a:p>
                      <a:r>
                        <a:rPr sz="1200" b="0" i="0">
                          <a:solidFill>
                            <a:srgbClr val="0B0B0B"/>
                          </a:solidFill>
                          <a:latin typeface="Arial"/>
                        </a:rPr>
                        <a:t>phishkd/text.py, models.py</a:t>
                      </a:r>
                    </a:p>
                  </a:txBody>
                  <a:tcPr marL="64008" marR="64008" marT="27432" marB="27432" anchor="ctr">
                    <a:solidFill>
                      <a:srgbClr val="F9F9F7"/>
                    </a:solidFill>
                  </a:tcPr>
                </a:tc>
              </a:tr>
              <a:tr h="384048">
                <a:tc>
                  <a:txBody>
                    <a:bodyPr wrap="square"/>
                    <a:lstStyle/>
                    <a:p>
                      <a:r>
                        <a:rPr sz="1200" b="0" i="0">
                          <a:solidFill>
                            <a:srgbClr val="0B0B0B"/>
                          </a:solidFill>
                          <a:latin typeface="Arial"/>
                        </a:rPr>
                        <a:t>4.7–4.8 · MobileBERT, KD student, loss (Eq. 20–23)</a:t>
                      </a:r>
                    </a:p>
                  </a:txBody>
                  <a:tcPr marL="64008" marR="64008" marT="27432" marB="27432" anchor="ctr">
                    <a:solidFill>
                      <a:srgbClr val="FFFFFF"/>
                    </a:solidFill>
                  </a:tcPr>
                </a:tc>
                <a:tc>
                  <a:txBody>
                    <a:bodyPr wrap="square"/>
                    <a:lstStyle/>
                    <a:p>
                      <a:r>
                        <a:rPr sz="1200" b="0" i="0">
                          <a:solidFill>
                            <a:srgbClr val="0B0B0B"/>
                          </a:solidFill>
                          <a:latin typeface="Arial"/>
                        </a:rPr>
                        <a:t>phishkd/models.py: KDStudent, distillation_loss</a:t>
                      </a:r>
                    </a:p>
                  </a:txBody>
                  <a:tcPr marL="64008" marR="64008" marT="27432" marB="27432" anchor="ctr">
                    <a:solidFill>
                      <a:srgbClr val="FFFFFF"/>
                    </a:solidFill>
                  </a:tcPr>
                </a:tc>
              </a:tr>
              <a:tr h="384048">
                <a:tc>
                  <a:txBody>
                    <a:bodyPr wrap="square"/>
                    <a:lstStyle/>
                    <a:p>
                      <a:r>
                        <a:rPr sz="1200" b="0" i="0">
                          <a:solidFill>
                            <a:srgbClr val="0B0B0B"/>
                          </a:solidFill>
                          <a:latin typeface="Arial"/>
                        </a:rPr>
                        <a:t>Algorithm 1 · vòng chưng cất</a:t>
                      </a:r>
                    </a:p>
                  </a:txBody>
                  <a:tcPr marL="64008" marR="64008" marT="27432" marB="27432" anchor="ctr">
                    <a:solidFill>
                      <a:srgbClr val="F9F9F7"/>
                    </a:solidFill>
                  </a:tcPr>
                </a:tc>
                <a:tc>
                  <a:txBody>
                    <a:bodyPr wrap="square"/>
                    <a:lstStyle/>
                    <a:p>
                      <a:r>
                        <a:rPr sz="1200" b="0" i="0">
                          <a:solidFill>
                            <a:srgbClr val="0B0B0B"/>
                          </a:solidFill>
                          <a:latin typeface="Arial"/>
                        </a:rPr>
                        <a:t>phishkd/train.py: distill</a:t>
                      </a:r>
                    </a:p>
                  </a:txBody>
                  <a:tcPr marL="64008" marR="64008" marT="27432" marB="27432" anchor="ctr">
                    <a:solidFill>
                      <a:srgbClr val="F9F9F7"/>
                    </a:solidFill>
                  </a:tcPr>
                </a:tc>
              </a:tr>
              <a:tr h="384048">
                <a:tc>
                  <a:txBody>
                    <a:bodyPr wrap="square"/>
                    <a:lstStyle/>
                    <a:p>
                      <a:r>
                        <a:rPr sz="1200" b="0" i="0">
                          <a:solidFill>
                            <a:srgbClr val="0B0B0B"/>
                          </a:solidFill>
                          <a:latin typeface="Arial"/>
                        </a:rPr>
                        <a:t>5.2 · 5 kịch bản, 5-fold, 72/8/20</a:t>
                      </a:r>
                    </a:p>
                  </a:txBody>
                  <a:tcPr marL="64008" marR="64008" marT="27432" marB="27432" anchor="ctr">
                    <a:solidFill>
                      <a:srgbClr val="FFFFFF"/>
                    </a:solidFill>
                  </a:tcPr>
                </a:tc>
                <a:tc>
                  <a:txBody>
                    <a:bodyPr wrap="square"/>
                    <a:lstStyle/>
                    <a:p>
                      <a:r>
                        <a:rPr sz="1200" b="0" i="0">
                          <a:solidFill>
                            <a:srgbClr val="0B0B0B"/>
                          </a:solidFill>
                          <a:latin typeface="Arial"/>
                        </a:rPr>
                        <a:t>phishkd/data.py: scenario_folds</a:t>
                      </a:r>
                    </a:p>
                  </a:txBody>
                  <a:tcPr marL="64008" marR="64008" marT="27432" marB="27432" anchor="ct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II · NỘI DUNG THỰC HIỆN</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A. Tái hiện: đã làm được đến đâu?</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12</a:t>
            </a:r>
          </a:p>
        </p:txBody>
      </p:sp>
      <p:graphicFrame>
        <p:nvGraphicFramePr>
          <p:cNvPr id="6" name="Table 5"/>
          <p:cNvGraphicFramePr>
            <a:graphicFrameLocks noGrp="1"/>
          </p:cNvGraphicFramePr>
          <p:nvPr/>
        </p:nvGraphicFramePr>
        <p:xfrm>
          <a:off x="548640" y="1371600"/>
          <a:ext cx="11155679" cy="4718304"/>
        </p:xfrm>
        <a:graphic>
          <a:graphicData uri="http://schemas.openxmlformats.org/drawingml/2006/table">
            <a:tbl>
              <a:tblPr firstRow="1" bandRow="1">
                <a:tableStyleId>{5C22544A-7EE6-4342-B048-85BDC9FD1C3A}</a:tableStyleId>
              </a:tblPr>
              <a:tblGrid>
                <a:gridCol w="2788920"/>
                <a:gridCol w="3067812"/>
                <a:gridCol w="4276343"/>
                <a:gridCol w="1022604"/>
              </a:tblGrid>
              <a:tr h="393192">
                <a:tc>
                  <a:txBody>
                    <a:bodyPr wrap="square"/>
                    <a:lstStyle/>
                    <a:p>
                      <a:r>
                        <a:rPr sz="1100" b="1" i="0">
                          <a:solidFill>
                            <a:srgbClr val="0B0B0B"/>
                          </a:solidFill>
                          <a:latin typeface="Arial"/>
                        </a:rPr>
                        <a:t>Thành phần</a:t>
                      </a:r>
                    </a:p>
                  </a:txBody>
                  <a:tcPr marL="64008" marR="64008" marT="27432" marB="27432" anchor="ctr">
                    <a:solidFill>
                      <a:srgbClr val="CDE2FB"/>
                    </a:solidFill>
                  </a:tcPr>
                </a:tc>
                <a:tc>
                  <a:txBody>
                    <a:bodyPr wrap="square"/>
                    <a:lstStyle/>
                    <a:p>
                      <a:r>
                        <a:rPr sz="1100" b="1" i="0">
                          <a:solidFill>
                            <a:srgbClr val="0B0B0B"/>
                          </a:solidFill>
                          <a:latin typeface="Arial"/>
                        </a:rPr>
                        <a:t>Bài báo</a:t>
                      </a:r>
                    </a:p>
                  </a:txBody>
                  <a:tcPr marL="64008" marR="64008" marT="27432" marB="27432" anchor="ctr">
                    <a:solidFill>
                      <a:srgbClr val="CDE2FB"/>
                    </a:solidFill>
                  </a:tcPr>
                </a:tc>
                <a:tc>
                  <a:txBody>
                    <a:bodyPr wrap="square"/>
                    <a:lstStyle/>
                    <a:p>
                      <a:r>
                        <a:rPr sz="1100" b="1" i="0">
                          <a:solidFill>
                            <a:srgbClr val="0B0B0B"/>
                          </a:solidFill>
                          <a:latin typeface="Arial"/>
                        </a:rPr>
                        <a:t>Bản tái hiện</a:t>
                      </a:r>
                    </a:p>
                  </a:txBody>
                  <a:tcPr marL="64008" marR="64008" marT="27432" marB="27432" anchor="ctr">
                    <a:solidFill>
                      <a:srgbClr val="CDE2FB"/>
                    </a:solidFill>
                  </a:tcPr>
                </a:tc>
                <a:tc>
                  <a:txBody>
                    <a:bodyPr wrap="square"/>
                    <a:lstStyle/>
                    <a:p>
                      <a:r>
                        <a:rPr sz="1100" b="1" i="0">
                          <a:solidFill>
                            <a:srgbClr val="0B0B0B"/>
                          </a:solidFill>
                          <a:latin typeface="Arial"/>
                        </a:rPr>
                        <a:t>Trạng thái</a:t>
                      </a:r>
                    </a:p>
                  </a:txBody>
                  <a:tcPr marL="64008" marR="64008" marT="27432" marB="27432" anchor="ctr">
                    <a:solidFill>
                      <a:srgbClr val="CDE2FB"/>
                    </a:solidFill>
                  </a:tcPr>
                </a:tc>
              </a:tr>
              <a:tr h="393192">
                <a:tc>
                  <a:txBody>
                    <a:bodyPr wrap="square"/>
                    <a:lstStyle/>
                    <a:p>
                      <a:r>
                        <a:rPr sz="1100" b="0" i="0">
                          <a:solidFill>
                            <a:srgbClr val="0B0B0B"/>
                          </a:solidFill>
                          <a:latin typeface="Arial"/>
                        </a:rPr>
                        <a:t>Dữ liệu thật (5 bộ, ~623K email)</a:t>
                      </a:r>
                    </a:p>
                  </a:txBody>
                  <a:tcPr marL="64008" marR="64008" marT="27432" marB="27432" anchor="ctr">
                    <a:solidFill>
                      <a:srgbClr val="FFFFFF"/>
                    </a:solidFill>
                  </a:tcPr>
                </a:tc>
                <a:tc>
                  <a:txBody>
                    <a:bodyPr wrap="square"/>
                    <a:lstStyle/>
                    <a:p>
                      <a:r>
                        <a:rPr sz="1100" b="0" i="0">
                          <a:solidFill>
                            <a:srgbClr val="0B0B0B"/>
                          </a:solidFill>
                          <a:latin typeface="Arial"/>
                        </a:rPr>
                        <a:t>Cambridge, Nazario, Chakraborty, Phishing Pot, Enron</a:t>
                      </a:r>
                    </a:p>
                  </a:txBody>
                  <a:tcPr marL="64008" marR="64008" marT="27432" marB="27432" anchor="ctr">
                    <a:solidFill>
                      <a:srgbClr val="FFFFFF"/>
                    </a:solidFill>
                  </a:tcPr>
                </a:tc>
                <a:tc>
                  <a:txBody>
                    <a:bodyPr wrap="square"/>
                    <a:lstStyle/>
                    <a:p>
                      <a:r>
                        <a:rPr sz="1100" b="0" i="0">
                          <a:solidFill>
                            <a:srgbClr val="0B0B0B"/>
                          </a:solidFill>
                          <a:latin typeface="Arial"/>
                        </a:rPr>
                        <a:t>Corpus toy sinh từ template (không có dữ liệu gốc)</a:t>
                      </a:r>
                    </a:p>
                  </a:txBody>
                  <a:tcPr marL="64008" marR="64008" marT="27432" marB="27432" anchor="ctr">
                    <a:solidFill>
                      <a:srgbClr val="FFFFFF"/>
                    </a:solidFill>
                  </a:tcPr>
                </a:tc>
                <a:tc>
                  <a:txBody>
                    <a:bodyPr wrap="square"/>
                    <a:lstStyle/>
                    <a:p>
                      <a:r>
                        <a:rPr sz="1100" b="0" i="0">
                          <a:solidFill>
                            <a:srgbClr val="B07A00"/>
                          </a:solidFill>
                          <a:latin typeface="Arial"/>
                        </a:rPr>
                        <a:t>Thay thế</a:t>
                      </a:r>
                    </a:p>
                  </a:txBody>
                  <a:tcPr marL="64008" marR="64008" marT="27432" marB="27432" anchor="ctr">
                    <a:solidFill>
                      <a:srgbClr val="FFFFFF"/>
                    </a:solidFill>
                  </a:tcPr>
                </a:tc>
              </a:tr>
              <a:tr h="393192">
                <a:tc>
                  <a:txBody>
                    <a:bodyPr wrap="square"/>
                    <a:lstStyle/>
                    <a:p>
                      <a:r>
                        <a:rPr sz="1100" b="0" i="0">
                          <a:solidFill>
                            <a:srgbClr val="0B0B0B"/>
                          </a:solidFill>
                          <a:latin typeface="Arial"/>
                        </a:rPr>
                        <a:t>Sinh email bằng LLM</a:t>
                      </a:r>
                    </a:p>
                  </a:txBody>
                  <a:tcPr marL="64008" marR="64008" marT="27432" marB="27432" anchor="ctr">
                    <a:solidFill>
                      <a:srgbClr val="F9F9F7"/>
                    </a:solidFill>
                  </a:tcPr>
                </a:tc>
                <a:tc>
                  <a:txBody>
                    <a:bodyPr wrap="square"/>
                    <a:lstStyle/>
                    <a:p>
                      <a:r>
                        <a:rPr sz="1100" b="0" i="0">
                          <a:solidFill>
                            <a:srgbClr val="0B0B0B"/>
                          </a:solidFill>
                          <a:latin typeface="Arial"/>
                        </a:rPr>
                        <a:t>OpenAI / DeepSeek: paraphrase, masking, personalization</a:t>
                      </a:r>
                    </a:p>
                  </a:txBody>
                  <a:tcPr marL="64008" marR="64008" marT="27432" marB="27432" anchor="ctr">
                    <a:solidFill>
                      <a:srgbClr val="F9F9F7"/>
                    </a:solidFill>
                  </a:tcPr>
                </a:tc>
                <a:tc>
                  <a:txBody>
                    <a:bodyPr wrap="square"/>
                    <a:lstStyle/>
                    <a:p>
                      <a:r>
                        <a:rPr sz="1100" b="0" i="0">
                          <a:solidFill>
                            <a:srgbClr val="0B0B0B"/>
                          </a:solidFill>
                          <a:latin typeface="Arial"/>
                        </a:rPr>
                        <a:t>Prompt sẵn sàng + bộ luật mô phỏng 3 hành vi; có chỗ cắm LLM cục bộ (Ollama)</a:t>
                      </a:r>
                    </a:p>
                  </a:txBody>
                  <a:tcPr marL="64008" marR="64008" marT="27432" marB="27432" anchor="ctr">
                    <a:solidFill>
                      <a:srgbClr val="F9F9F7"/>
                    </a:solidFill>
                  </a:tcPr>
                </a:tc>
                <a:tc>
                  <a:txBody>
                    <a:bodyPr wrap="square"/>
                    <a:lstStyle/>
                    <a:p>
                      <a:r>
                        <a:rPr sz="1100" b="0" i="0">
                          <a:solidFill>
                            <a:srgbClr val="B07A00"/>
                          </a:solidFill>
                          <a:latin typeface="Arial"/>
                        </a:rPr>
                        <a:t>Mô phỏng</a:t>
                      </a:r>
                    </a:p>
                  </a:txBody>
                  <a:tcPr marL="64008" marR="64008" marT="27432" marB="27432" anchor="ctr">
                    <a:solidFill>
                      <a:srgbClr val="F9F9F7"/>
                    </a:solidFill>
                  </a:tcPr>
                </a:tc>
              </a:tr>
              <a:tr h="393192">
                <a:tc>
                  <a:txBody>
                    <a:bodyPr wrap="square"/>
                    <a:lstStyle/>
                    <a:p>
                      <a:r>
                        <a:rPr sz="1100" b="0" i="0">
                          <a:solidFill>
                            <a:srgbClr val="0B0B0B"/>
                          </a:solidFill>
                          <a:latin typeface="Arial"/>
                        </a:rPr>
                        <a:t>Phân tích tương đồng TF-IDF (Fig. 2)</a:t>
                      </a:r>
                    </a:p>
                  </a:txBody>
                  <a:tcPr marL="64008" marR="64008" marT="27432" marB="27432" anchor="ctr">
                    <a:solidFill>
                      <a:srgbClr val="FFFFFF"/>
                    </a:solidFill>
                  </a:tcPr>
                </a:tc>
                <a:tc>
                  <a:txBody>
                    <a:bodyPr wrap="square"/>
                    <a:lstStyle/>
                    <a:p>
                      <a:r>
                        <a:rPr sz="1100" b="0" i="0">
                          <a:solidFill>
                            <a:srgbClr val="0B0B0B"/>
                          </a:solidFill>
                          <a:latin typeface="Arial"/>
                        </a:rPr>
                        <a:t>Có</a:t>
                      </a:r>
                    </a:p>
                  </a:txBody>
                  <a:tcPr marL="64008" marR="64008" marT="27432" marB="27432" anchor="ctr">
                    <a:solidFill>
                      <a:srgbClr val="FFFFFF"/>
                    </a:solidFill>
                  </a:tcPr>
                </a:tc>
                <a:tc>
                  <a:txBody>
                    <a:bodyPr wrap="square"/>
                    <a:lstStyle/>
                    <a:p>
                      <a:r>
                        <a:rPr sz="1100" b="0" i="0">
                          <a:solidFill>
                            <a:srgbClr val="0B0B0B"/>
                          </a:solidFill>
                          <a:latin typeface="Arial"/>
                        </a:rPr>
                        <a:t>Có - cùng xu hướng (0,026 so với 0,002)</a:t>
                      </a:r>
                    </a:p>
                  </a:txBody>
                  <a:tcPr marL="64008" marR="64008" marT="27432" marB="27432" anchor="ctr">
                    <a:solidFill>
                      <a:srgbClr val="FFFFFF"/>
                    </a:solidFill>
                  </a:tcPr>
                </a:tc>
                <a:tc>
                  <a:txBody>
                    <a:bodyPr wrap="square"/>
                    <a:lstStyle/>
                    <a:p>
                      <a:r>
                        <a:rPr sz="1100" b="0" i="0">
                          <a:solidFill>
                            <a:srgbClr val="0CA30C"/>
                          </a:solidFill>
                          <a:latin typeface="Arial"/>
                        </a:rPr>
                        <a:t>Đạt</a:t>
                      </a:r>
                    </a:p>
                  </a:txBody>
                  <a:tcPr marL="64008" marR="64008" marT="27432" marB="27432" anchor="ctr">
                    <a:solidFill>
                      <a:srgbClr val="FFFFFF"/>
                    </a:solidFill>
                  </a:tcPr>
                </a:tc>
              </a:tr>
              <a:tr h="393192">
                <a:tc>
                  <a:txBody>
                    <a:bodyPr wrap="square"/>
                    <a:lstStyle/>
                    <a:p>
                      <a:r>
                        <a:rPr sz="1100" b="0" i="0">
                          <a:solidFill>
                            <a:srgbClr val="0B0B0B"/>
                          </a:solidFill>
                          <a:latin typeface="Arial"/>
                        </a:rPr>
                        <a:t>Chấm điểm mức phishing bằng câu hỏi</a:t>
                      </a:r>
                    </a:p>
                  </a:txBody>
                  <a:tcPr marL="64008" marR="64008" marT="27432" marB="27432" anchor="ctr">
                    <a:solidFill>
                      <a:srgbClr val="F9F9F7"/>
                    </a:solidFill>
                  </a:tcPr>
                </a:tc>
                <a:tc>
                  <a:txBody>
                    <a:bodyPr wrap="square"/>
                    <a:lstStyle/>
                    <a:p>
                      <a:r>
                        <a:rPr sz="1100" b="0" i="0">
                          <a:solidFill>
                            <a:srgbClr val="0B0B0B"/>
                          </a:solidFill>
                          <a:latin typeface="Arial"/>
                        </a:rPr>
                        <a:t>Hỏi LLM</a:t>
                      </a:r>
                    </a:p>
                  </a:txBody>
                  <a:tcPr marL="64008" marR="64008" marT="27432" marB="27432" anchor="ctr">
                    <a:solidFill>
                      <a:srgbClr val="F9F9F7"/>
                    </a:solidFill>
                  </a:tcPr>
                </a:tc>
                <a:tc>
                  <a:txBody>
                    <a:bodyPr wrap="square"/>
                    <a:lstStyle/>
                    <a:p>
                      <a:r>
                        <a:rPr sz="1100" b="0" i="0">
                          <a:solidFill>
                            <a:srgbClr val="0B0B0B"/>
                          </a:solidFill>
                          <a:latin typeface="Arial"/>
                        </a:rPr>
                        <a:t>Cùng 9 câu hỏi, trả lời bằng từ khóa; trọng số theo AUC</a:t>
                      </a:r>
                    </a:p>
                  </a:txBody>
                  <a:tcPr marL="64008" marR="64008" marT="27432" marB="27432" anchor="ctr">
                    <a:solidFill>
                      <a:srgbClr val="F9F9F7"/>
                    </a:solidFill>
                  </a:tcPr>
                </a:tc>
                <a:tc>
                  <a:txBody>
                    <a:bodyPr wrap="square"/>
                    <a:lstStyle/>
                    <a:p>
                      <a:r>
                        <a:rPr sz="1100" b="0" i="0">
                          <a:solidFill>
                            <a:srgbClr val="B07A00"/>
                          </a:solidFill>
                          <a:latin typeface="Arial"/>
                        </a:rPr>
                        <a:t>Mô phỏng</a:t>
                      </a:r>
                    </a:p>
                  </a:txBody>
                  <a:tcPr marL="64008" marR="64008" marT="27432" marB="27432" anchor="ctr">
                    <a:solidFill>
                      <a:srgbClr val="F9F9F7"/>
                    </a:solidFill>
                  </a:tcPr>
                </a:tc>
              </a:tr>
              <a:tr h="393192">
                <a:tc>
                  <a:txBody>
                    <a:bodyPr wrap="square"/>
                    <a:lstStyle/>
                    <a:p>
                      <a:r>
                        <a:rPr sz="1100" b="0" i="0">
                          <a:solidFill>
                            <a:srgbClr val="0B0B0B"/>
                          </a:solidFill>
                          <a:latin typeface="Arial"/>
                        </a:rPr>
                        <a:t>Khử trùng lặp</a:t>
                      </a:r>
                    </a:p>
                  </a:txBody>
                  <a:tcPr marL="64008" marR="64008" marT="27432" marB="27432" anchor="ctr">
                    <a:solidFill>
                      <a:srgbClr val="FFFFFF"/>
                    </a:solidFill>
                  </a:tcPr>
                </a:tc>
                <a:tc>
                  <a:txBody>
                    <a:bodyPr wrap="square"/>
                    <a:lstStyle/>
                    <a:p>
                      <a:r>
                        <a:rPr sz="1100" b="0" i="0">
                          <a:solidFill>
                            <a:srgbClr val="0B0B0B"/>
                          </a:solidFill>
                          <a:latin typeface="Arial"/>
                        </a:rPr>
                        <a:t>Có</a:t>
                      </a:r>
                    </a:p>
                  </a:txBody>
                  <a:tcPr marL="64008" marR="64008" marT="27432" marB="27432" anchor="ctr">
                    <a:solidFill>
                      <a:srgbClr val="FFFFFF"/>
                    </a:solidFill>
                  </a:tcPr>
                </a:tc>
                <a:tc>
                  <a:txBody>
                    <a:bodyPr wrap="square"/>
                    <a:lstStyle/>
                    <a:p>
                      <a:r>
                        <a:rPr sz="1100" b="0" i="0">
                          <a:solidFill>
                            <a:srgbClr val="0B0B0B"/>
                          </a:solidFill>
                          <a:latin typeface="Arial"/>
                        </a:rPr>
                        <a:t>Có (cosine TF-IDF)</a:t>
                      </a:r>
                    </a:p>
                  </a:txBody>
                  <a:tcPr marL="64008" marR="64008" marT="27432" marB="27432" anchor="ctr">
                    <a:solidFill>
                      <a:srgbClr val="FFFFFF"/>
                    </a:solidFill>
                  </a:tcPr>
                </a:tc>
                <a:tc>
                  <a:txBody>
                    <a:bodyPr wrap="square"/>
                    <a:lstStyle/>
                    <a:p>
                      <a:r>
                        <a:rPr sz="1100" b="0" i="0">
                          <a:solidFill>
                            <a:srgbClr val="0CA30C"/>
                          </a:solidFill>
                          <a:latin typeface="Arial"/>
                        </a:rPr>
                        <a:t>Đạt</a:t>
                      </a:r>
                    </a:p>
                  </a:txBody>
                  <a:tcPr marL="64008" marR="64008" marT="27432" marB="27432" anchor="ctr">
                    <a:solidFill>
                      <a:srgbClr val="FFFFFF"/>
                    </a:solidFill>
                  </a:tcPr>
                </a:tc>
              </a:tr>
              <a:tr h="393192">
                <a:tc>
                  <a:txBody>
                    <a:bodyPr wrap="square"/>
                    <a:lstStyle/>
                    <a:p>
                      <a:r>
                        <a:rPr sz="1100" b="0" i="0">
                          <a:solidFill>
                            <a:srgbClr val="0B0B0B"/>
                          </a:solidFill>
                          <a:latin typeface="Arial"/>
                        </a:rPr>
                        <a:t>LSTM / BiLSTM / +SH / +MH</a:t>
                      </a:r>
                    </a:p>
                  </a:txBody>
                  <a:tcPr marL="64008" marR="64008" marT="27432" marB="27432" anchor="ctr">
                    <a:solidFill>
                      <a:srgbClr val="F9F9F7"/>
                    </a:solidFill>
                  </a:tcPr>
                </a:tc>
                <a:tc>
                  <a:txBody>
                    <a:bodyPr wrap="square"/>
                    <a:lstStyle/>
                    <a:p>
                      <a:r>
                        <a:rPr sz="1100" b="0" i="0">
                          <a:solidFill>
                            <a:srgbClr val="0B0B0B"/>
                          </a:solidFill>
                          <a:latin typeface="Arial"/>
                        </a:rPr>
                        <a:t>Word2Vec 100d, H=4, D=64</a:t>
                      </a:r>
                    </a:p>
                  </a:txBody>
                  <a:tcPr marL="64008" marR="64008" marT="27432" marB="27432" anchor="ctr">
                    <a:solidFill>
                      <a:srgbClr val="F9F9F7"/>
                    </a:solidFill>
                  </a:tcPr>
                </a:tc>
                <a:tc>
                  <a:txBody>
                    <a:bodyPr wrap="square"/>
                    <a:lstStyle/>
                    <a:p>
                      <a:r>
                        <a:rPr sz="1100" b="0" i="0">
                          <a:solidFill>
                            <a:srgbClr val="0B0B0B"/>
                          </a:solidFill>
                          <a:latin typeface="Arial"/>
                        </a:rPr>
                        <a:t>Đủ 4 mô hình, đúng siêu tham số Table 2</a:t>
                      </a:r>
                    </a:p>
                  </a:txBody>
                  <a:tcPr marL="64008" marR="64008" marT="27432" marB="27432" anchor="ctr">
                    <a:solidFill>
                      <a:srgbClr val="F9F9F7"/>
                    </a:solidFill>
                  </a:tcPr>
                </a:tc>
                <a:tc>
                  <a:txBody>
                    <a:bodyPr wrap="square"/>
                    <a:lstStyle/>
                    <a:p>
                      <a:r>
                        <a:rPr sz="1100" b="0" i="0">
                          <a:solidFill>
                            <a:srgbClr val="0CA30C"/>
                          </a:solidFill>
                          <a:latin typeface="Arial"/>
                        </a:rPr>
                        <a:t>Đạt</a:t>
                      </a:r>
                    </a:p>
                  </a:txBody>
                  <a:tcPr marL="64008" marR="64008" marT="27432" marB="27432" anchor="ctr">
                    <a:solidFill>
                      <a:srgbClr val="F9F9F7"/>
                    </a:solidFill>
                  </a:tcPr>
                </a:tc>
              </a:tr>
              <a:tr h="393192">
                <a:tc>
                  <a:txBody>
                    <a:bodyPr wrap="square"/>
                    <a:lstStyle/>
                    <a:p>
                      <a:r>
                        <a:rPr sz="1100" b="0" i="0">
                          <a:solidFill>
                            <a:srgbClr val="0B0B0B"/>
                          </a:solidFill>
                          <a:latin typeface="Arial"/>
                        </a:rPr>
                        <a:t>Teacher MobileBERT</a:t>
                      </a:r>
                    </a:p>
                  </a:txBody>
                  <a:tcPr marL="64008" marR="64008" marT="27432" marB="27432" anchor="ctr">
                    <a:solidFill>
                      <a:srgbClr val="FFFFFF"/>
                    </a:solidFill>
                  </a:tcPr>
                </a:tc>
                <a:tc>
                  <a:txBody>
                    <a:bodyPr wrap="square"/>
                    <a:lstStyle/>
                    <a:p>
                      <a:r>
                        <a:rPr sz="1100" b="0" i="0">
                          <a:solidFill>
                            <a:srgbClr val="0B0B0B"/>
                          </a:solidFill>
                          <a:latin typeface="Arial"/>
                        </a:rPr>
                        <a:t>25,3M tham số</a:t>
                      </a:r>
                    </a:p>
                  </a:txBody>
                  <a:tcPr marL="64008" marR="64008" marT="27432" marB="27432" anchor="ctr">
                    <a:solidFill>
                      <a:srgbClr val="FFFFFF"/>
                    </a:solidFill>
                  </a:tcPr>
                </a:tc>
                <a:tc>
                  <a:txBody>
                    <a:bodyPr wrap="square"/>
                    <a:lstStyle/>
                    <a:p>
                      <a:r>
                        <a:rPr sz="1100" b="0" i="0">
                          <a:solidFill>
                            <a:srgbClr val="0B0B0B"/>
                          </a:solidFill>
                          <a:latin typeface="Arial"/>
                        </a:rPr>
                        <a:t>24,6M; thêm gradient clipping để huấn luyện ổn định</a:t>
                      </a:r>
                    </a:p>
                  </a:txBody>
                  <a:tcPr marL="64008" marR="64008" marT="27432" marB="27432" anchor="ctr">
                    <a:solidFill>
                      <a:srgbClr val="FFFFFF"/>
                    </a:solidFill>
                  </a:tcPr>
                </a:tc>
                <a:tc>
                  <a:txBody>
                    <a:bodyPr wrap="square"/>
                    <a:lstStyle/>
                    <a:p>
                      <a:r>
                        <a:rPr sz="1100" b="0" i="0">
                          <a:solidFill>
                            <a:srgbClr val="0CA30C"/>
                          </a:solidFill>
                          <a:latin typeface="Arial"/>
                        </a:rPr>
                        <a:t>Đạt</a:t>
                      </a:r>
                    </a:p>
                  </a:txBody>
                  <a:tcPr marL="64008" marR="64008" marT="27432" marB="27432" anchor="ctr">
                    <a:solidFill>
                      <a:srgbClr val="FFFFFF"/>
                    </a:solidFill>
                  </a:tcPr>
                </a:tc>
              </a:tr>
              <a:tr h="393192">
                <a:tc>
                  <a:txBody>
                    <a:bodyPr wrap="square"/>
                    <a:lstStyle/>
                    <a:p>
                      <a:r>
                        <a:rPr sz="1100" b="0" i="0">
                          <a:solidFill>
                            <a:srgbClr val="0B0B0B"/>
                          </a:solidFill>
                          <a:latin typeface="Arial"/>
                        </a:rPr>
                        <a:t>KD-BiLSTM (Algorithm 1)</a:t>
                      </a:r>
                    </a:p>
                  </a:txBody>
                  <a:tcPr marL="64008" marR="64008" marT="27432" marB="27432" anchor="ctr">
                    <a:solidFill>
                      <a:srgbClr val="F9F9F7"/>
                    </a:solidFill>
                  </a:tcPr>
                </a:tc>
                <a:tc>
                  <a:txBody>
                    <a:bodyPr wrap="square"/>
                    <a:lstStyle/>
                    <a:p>
                      <a:r>
                        <a:rPr sz="1100" b="0" i="0">
                          <a:solidFill>
                            <a:srgbClr val="0B0B0B"/>
                          </a:solidFill>
                          <a:latin typeface="Arial"/>
                        </a:rPr>
                        <a:t>α=0,5, τ=2, lr 1e-4, 3 epoch</a:t>
                      </a:r>
                    </a:p>
                  </a:txBody>
                  <a:tcPr marL="64008" marR="64008" marT="27432" marB="27432" anchor="ctr">
                    <a:solidFill>
                      <a:srgbClr val="F9F9F7"/>
                    </a:solidFill>
                  </a:tcPr>
                </a:tc>
                <a:tc>
                  <a:txBody>
                    <a:bodyPr wrap="square"/>
                    <a:lstStyle/>
                    <a:p>
                      <a:r>
                        <a:rPr sz="1100" b="0" i="0">
                          <a:solidFill>
                            <a:srgbClr val="0B0B0B"/>
                          </a:solidFill>
                          <a:latin typeface="Arial"/>
                        </a:rPr>
                        <a:t>Đúng công thức loss &amp; Algorithm 1; 4,4M tham số</a:t>
                      </a:r>
                    </a:p>
                  </a:txBody>
                  <a:tcPr marL="64008" marR="64008" marT="27432" marB="27432" anchor="ctr">
                    <a:solidFill>
                      <a:srgbClr val="F9F9F7"/>
                    </a:solidFill>
                  </a:tcPr>
                </a:tc>
                <a:tc>
                  <a:txBody>
                    <a:bodyPr wrap="square"/>
                    <a:lstStyle/>
                    <a:p>
                      <a:r>
                        <a:rPr sz="1100" b="0" i="0">
                          <a:solidFill>
                            <a:srgbClr val="0CA30C"/>
                          </a:solidFill>
                          <a:latin typeface="Arial"/>
                        </a:rPr>
                        <a:t>Đạt</a:t>
                      </a:r>
                    </a:p>
                  </a:txBody>
                  <a:tcPr marL="64008" marR="64008" marT="27432" marB="27432" anchor="ctr">
                    <a:solidFill>
                      <a:srgbClr val="F9F9F7"/>
                    </a:solidFill>
                  </a:tcPr>
                </a:tc>
              </a:tr>
              <a:tr h="393192">
                <a:tc>
                  <a:txBody>
                    <a:bodyPr wrap="square"/>
                    <a:lstStyle/>
                    <a:p>
                      <a:r>
                        <a:rPr sz="1100" b="0" i="0">
                          <a:solidFill>
                            <a:srgbClr val="0B0B0B"/>
                          </a:solidFill>
                          <a:latin typeface="Arial"/>
                        </a:rPr>
                        <a:t>5 kịch bản × 5-fold, 72/8/20</a:t>
                      </a:r>
                    </a:p>
                  </a:txBody>
                  <a:tcPr marL="64008" marR="64008" marT="27432" marB="27432" anchor="ctr">
                    <a:solidFill>
                      <a:srgbClr val="FFFFFF"/>
                    </a:solidFill>
                  </a:tcPr>
                </a:tc>
                <a:tc>
                  <a:txBody>
                    <a:bodyPr wrap="square"/>
                    <a:lstStyle/>
                    <a:p>
                      <a:r>
                        <a:rPr sz="1100" b="0" i="0">
                          <a:solidFill>
                            <a:srgbClr val="0B0B0B"/>
                          </a:solidFill>
                          <a:latin typeface="Arial"/>
                        </a:rPr>
                        <a:t>Có</a:t>
                      </a:r>
                    </a:p>
                  </a:txBody>
                  <a:tcPr marL="64008" marR="64008" marT="27432" marB="27432" anchor="ctr">
                    <a:solidFill>
                      <a:srgbClr val="FFFFFF"/>
                    </a:solidFill>
                  </a:tcPr>
                </a:tc>
                <a:tc>
                  <a:txBody>
                    <a:bodyPr wrap="square"/>
                    <a:lstStyle/>
                    <a:p>
                      <a:r>
                        <a:rPr sz="1100" b="0" i="0">
                          <a:solidFill>
                            <a:srgbClr val="0B0B0B"/>
                          </a:solidFill>
                          <a:latin typeface="Arial"/>
                        </a:rPr>
                        <a:t>Có (cách chia fold chéo miền tự đề xuất)</a:t>
                      </a:r>
                    </a:p>
                  </a:txBody>
                  <a:tcPr marL="64008" marR="64008" marT="27432" marB="27432" anchor="ctr">
                    <a:solidFill>
                      <a:srgbClr val="FFFFFF"/>
                    </a:solidFill>
                  </a:tcPr>
                </a:tc>
                <a:tc>
                  <a:txBody>
                    <a:bodyPr wrap="square"/>
                    <a:lstStyle/>
                    <a:p>
                      <a:r>
                        <a:rPr sz="1100" b="0" i="0">
                          <a:solidFill>
                            <a:srgbClr val="0CA30C"/>
                          </a:solidFill>
                          <a:latin typeface="Arial"/>
                        </a:rPr>
                        <a:t>Đạt</a:t>
                      </a:r>
                    </a:p>
                  </a:txBody>
                  <a:tcPr marL="64008" marR="64008" marT="27432" marB="27432" anchor="ctr">
                    <a:solidFill>
                      <a:srgbClr val="FFFFFF"/>
                    </a:solidFill>
                  </a:tcPr>
                </a:tc>
              </a:tr>
              <a:tr h="393192">
                <a:tc>
                  <a:txBody>
                    <a:bodyPr wrap="square"/>
                    <a:lstStyle/>
                    <a:p>
                      <a:r>
                        <a:rPr sz="1100" b="0" i="0">
                          <a:solidFill>
                            <a:srgbClr val="0B0B0B"/>
                          </a:solidFill>
                          <a:latin typeface="Arial"/>
                        </a:rPr>
                        <a:t>So sánh ModernBERT, DeBERTa, T5, Qwen, Phi-4</a:t>
                      </a:r>
                    </a:p>
                  </a:txBody>
                  <a:tcPr marL="64008" marR="64008" marT="27432" marB="27432" anchor="ctr">
                    <a:solidFill>
                      <a:srgbClr val="F9F9F7"/>
                    </a:solidFill>
                  </a:tcPr>
                </a:tc>
                <a:tc>
                  <a:txBody>
                    <a:bodyPr wrap="square"/>
                    <a:lstStyle/>
                    <a:p>
                      <a:r>
                        <a:rPr sz="1100" b="0" i="0">
                          <a:solidFill>
                            <a:srgbClr val="0B0B0B"/>
                          </a:solidFill>
                          <a:latin typeface="Arial"/>
                        </a:rPr>
                        <a:t>Có (Table 7)</a:t>
                      </a:r>
                    </a:p>
                  </a:txBody>
                  <a:tcPr marL="64008" marR="64008" marT="27432" marB="27432" anchor="ctr">
                    <a:solidFill>
                      <a:srgbClr val="F9F9F7"/>
                    </a:solidFill>
                  </a:tcPr>
                </a:tc>
                <a:tc>
                  <a:txBody>
                    <a:bodyPr wrap="square"/>
                    <a:lstStyle/>
                    <a:p>
                      <a:r>
                        <a:rPr sz="1100" b="0" i="0">
                          <a:solidFill>
                            <a:srgbClr val="0B0B0B"/>
                          </a:solidFill>
                          <a:latin typeface="Arial"/>
                        </a:rPr>
                        <a:t>Chưa làm</a:t>
                      </a:r>
                    </a:p>
                  </a:txBody>
                  <a:tcPr marL="64008" marR="64008" marT="27432" marB="27432" anchor="ctr">
                    <a:solidFill>
                      <a:srgbClr val="F9F9F7"/>
                    </a:solidFill>
                  </a:tcPr>
                </a:tc>
                <a:tc>
                  <a:txBody>
                    <a:bodyPr wrap="square"/>
                    <a:lstStyle/>
                    <a:p>
                      <a:r>
                        <a:rPr sz="1100" b="0" i="0">
                          <a:solidFill>
                            <a:srgbClr val="D03B3B"/>
                          </a:solidFill>
                          <a:latin typeface="Arial"/>
                        </a:rPr>
                        <a:t>Chưa</a:t>
                      </a:r>
                    </a:p>
                  </a:txBody>
                  <a:tcPr marL="64008" marR="64008" marT="27432" marB="27432" anchor="ctr">
                    <a:solidFill>
                      <a:srgbClr val="F9F9F7"/>
                    </a:solidFill>
                  </a:tcPr>
                </a:tc>
              </a:tr>
              <a:tr h="393192">
                <a:tc>
                  <a:txBody>
                    <a:bodyPr wrap="square"/>
                    <a:lstStyle/>
                    <a:p>
                      <a:r>
                        <a:rPr sz="1100" b="0" i="0">
                          <a:solidFill>
                            <a:srgbClr val="0B0B0B"/>
                          </a:solidFill>
                          <a:latin typeface="Arial"/>
                        </a:rPr>
                        <a:t>Baseline LR, XGBoost, fastText, TinyBERT, DistilBERT</a:t>
                      </a:r>
                    </a:p>
                  </a:txBody>
                  <a:tcPr marL="64008" marR="64008" marT="27432" marB="27432" anchor="ctr">
                    <a:solidFill>
                      <a:srgbClr val="FFFFFF"/>
                    </a:solidFill>
                  </a:tcPr>
                </a:tc>
                <a:tc>
                  <a:txBody>
                    <a:bodyPr wrap="square"/>
                    <a:lstStyle/>
                    <a:p>
                      <a:r>
                        <a:rPr sz="1100" b="0" i="0">
                          <a:solidFill>
                            <a:srgbClr val="0B0B0B"/>
                          </a:solidFill>
                          <a:latin typeface="Arial"/>
                        </a:rPr>
                        <a:t>Có (Table 8)</a:t>
                      </a:r>
                    </a:p>
                  </a:txBody>
                  <a:tcPr marL="64008" marR="64008" marT="27432" marB="27432" anchor="ctr">
                    <a:solidFill>
                      <a:srgbClr val="FFFFFF"/>
                    </a:solidFill>
                  </a:tcPr>
                </a:tc>
                <a:tc>
                  <a:txBody>
                    <a:bodyPr wrap="square"/>
                    <a:lstStyle/>
                    <a:p>
                      <a:r>
                        <a:rPr sz="1100" b="0" i="0">
                          <a:solidFill>
                            <a:srgbClr val="0B0B0B"/>
                          </a:solidFill>
                          <a:latin typeface="Arial"/>
                        </a:rPr>
                        <a:t>Chưa làm</a:t>
                      </a:r>
                    </a:p>
                  </a:txBody>
                  <a:tcPr marL="64008" marR="64008" marT="27432" marB="27432" anchor="ctr">
                    <a:solidFill>
                      <a:srgbClr val="FFFFFF"/>
                    </a:solidFill>
                  </a:tcPr>
                </a:tc>
                <a:tc>
                  <a:txBody>
                    <a:bodyPr wrap="square"/>
                    <a:lstStyle/>
                    <a:p>
                      <a:r>
                        <a:rPr sz="1100" b="0" i="0">
                          <a:solidFill>
                            <a:srgbClr val="D03B3B"/>
                          </a:solidFill>
                          <a:latin typeface="Arial"/>
                        </a:rPr>
                        <a:t>Chưa</a:t>
                      </a:r>
                    </a:p>
                  </a:txBody>
                  <a:tcPr marL="64008" marR="64008" marT="27432" marB="27432"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II · NỘI DUNG THỰC HIỆN</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A. Tái hiện: số liệu đo được</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13</a:t>
            </a:r>
          </a:p>
        </p:txBody>
      </p:sp>
      <p:sp>
        <p:nvSpPr>
          <p:cNvPr id="6" name="TextBox 5"/>
          <p:cNvSpPr txBox="1"/>
          <p:nvPr/>
        </p:nvSpPr>
        <p:spPr>
          <a:xfrm>
            <a:off x="548640" y="1325880"/>
            <a:ext cx="5486400" cy="365760"/>
          </a:xfrm>
          <a:prstGeom prst="rect">
            <a:avLst/>
          </a:prstGeom>
          <a:noFill/>
        </p:spPr>
        <p:txBody>
          <a:bodyPr wrap="square" anchor="t" lIns="45720" rIns="45720">
            <a:spAutoFit/>
          </a:bodyPr>
          <a:lstStyle/>
          <a:p>
            <a:pPr>
              <a:spcAft>
                <a:spcPts val="600"/>
              </a:spcAft>
            </a:pPr>
            <a:r>
              <a:rPr sz="1600" b="1" i="0">
                <a:solidFill>
                  <a:srgbClr val="0B0B0B"/>
                </a:solidFill>
                <a:latin typeface="Arial"/>
              </a:rPr>
              <a:t>Số tham số</a:t>
            </a:r>
          </a:p>
        </p:txBody>
      </p:sp>
      <p:graphicFrame>
        <p:nvGraphicFramePr>
          <p:cNvPr id="7" name="Table 6"/>
          <p:cNvGraphicFramePr>
            <a:graphicFrameLocks noGrp="1"/>
          </p:cNvGraphicFramePr>
          <p:nvPr/>
        </p:nvGraphicFramePr>
        <p:xfrm>
          <a:off x="548640" y="1737360"/>
          <a:ext cx="5394960" cy="2432304"/>
        </p:xfrm>
        <a:graphic>
          <a:graphicData uri="http://schemas.openxmlformats.org/drawingml/2006/table">
            <a:tbl>
              <a:tblPr firstRow="1" bandRow="1">
                <a:tableStyleId>{5C22544A-7EE6-4342-B048-85BDC9FD1C3A}</a:tableStyleId>
              </a:tblPr>
              <a:tblGrid>
                <a:gridCol w="2697480"/>
                <a:gridCol w="1348740"/>
                <a:gridCol w="1348740"/>
              </a:tblGrid>
              <a:tr h="347472">
                <a:tc>
                  <a:txBody>
                    <a:bodyPr wrap="square"/>
                    <a:lstStyle/>
                    <a:p>
                      <a:r>
                        <a:rPr sz="1200" b="1" i="0">
                          <a:solidFill>
                            <a:srgbClr val="0B0B0B"/>
                          </a:solidFill>
                          <a:latin typeface="Arial"/>
                        </a:rPr>
                        <a:t>Mô hình</a:t>
                      </a:r>
                    </a:p>
                  </a:txBody>
                  <a:tcPr marL="64008" marR="64008" marT="27432" marB="27432" anchor="ctr">
                    <a:solidFill>
                      <a:srgbClr val="CDE2FB"/>
                    </a:solidFill>
                  </a:tcPr>
                </a:tc>
                <a:tc>
                  <a:txBody>
                    <a:bodyPr wrap="square"/>
                    <a:lstStyle/>
                    <a:p>
                      <a:r>
                        <a:rPr sz="1200" b="1" i="0">
                          <a:solidFill>
                            <a:srgbClr val="0B0B0B"/>
                          </a:solidFill>
                          <a:latin typeface="Arial"/>
                        </a:rPr>
                        <a:t>Bài báo</a:t>
                      </a:r>
                    </a:p>
                  </a:txBody>
                  <a:tcPr marL="64008" marR="64008" marT="27432" marB="27432" anchor="ctr">
                    <a:solidFill>
                      <a:srgbClr val="CDE2FB"/>
                    </a:solidFill>
                  </a:tcPr>
                </a:tc>
                <a:tc>
                  <a:txBody>
                    <a:bodyPr wrap="square"/>
                    <a:lstStyle/>
                    <a:p>
                      <a:r>
                        <a:rPr sz="1200" b="1" i="0">
                          <a:solidFill>
                            <a:srgbClr val="0B0B0B"/>
                          </a:solidFill>
                          <a:latin typeface="Arial"/>
                        </a:rPr>
                        <a:t>Tái hiện</a:t>
                      </a:r>
                    </a:p>
                  </a:txBody>
                  <a:tcPr marL="64008" marR="64008" marT="27432" marB="27432" anchor="ctr">
                    <a:solidFill>
                      <a:srgbClr val="CDE2FB"/>
                    </a:solidFill>
                  </a:tcPr>
                </a:tc>
              </a:tr>
              <a:tr h="347472">
                <a:tc>
                  <a:txBody>
                    <a:bodyPr wrap="square"/>
                    <a:lstStyle/>
                    <a:p>
                      <a:r>
                        <a:rPr sz="1200" b="0" i="0">
                          <a:solidFill>
                            <a:srgbClr val="0B0B0B"/>
                          </a:solidFill>
                          <a:latin typeface="Arial"/>
                        </a:rPr>
                        <a:t>LSTM</a:t>
                      </a:r>
                    </a:p>
                  </a:txBody>
                  <a:tcPr marL="64008" marR="64008" marT="27432" marB="27432" anchor="ctr">
                    <a:solidFill>
                      <a:srgbClr val="FFFFFF"/>
                    </a:solidFill>
                  </a:tcPr>
                </a:tc>
                <a:tc>
                  <a:txBody>
                    <a:bodyPr wrap="square"/>
                    <a:lstStyle/>
                    <a:p>
                      <a:r>
                        <a:rPr sz="1200" b="0" i="0">
                          <a:solidFill>
                            <a:srgbClr val="0B0B0B"/>
                          </a:solidFill>
                          <a:latin typeface="Arial"/>
                        </a:rPr>
                        <a:t>16.961</a:t>
                      </a:r>
                    </a:p>
                  </a:txBody>
                  <a:tcPr marL="64008" marR="64008" marT="27432" marB="27432" anchor="ctr">
                    <a:solidFill>
                      <a:srgbClr val="FFFFFF"/>
                    </a:solidFill>
                  </a:tcPr>
                </a:tc>
                <a:tc>
                  <a:txBody>
                    <a:bodyPr wrap="square"/>
                    <a:lstStyle/>
                    <a:p>
                      <a:r>
                        <a:rPr sz="1200" b="0" i="0">
                          <a:solidFill>
                            <a:srgbClr val="0B0B0B"/>
                          </a:solidFill>
                          <a:latin typeface="Arial"/>
                        </a:rPr>
                        <a:t>17.185</a:t>
                      </a:r>
                    </a:p>
                  </a:txBody>
                  <a:tcPr marL="64008" marR="64008" marT="27432" marB="27432" anchor="ctr">
                    <a:solidFill>
                      <a:srgbClr val="FFFFFF"/>
                    </a:solidFill>
                  </a:tcPr>
                </a:tc>
              </a:tr>
              <a:tr h="347472">
                <a:tc>
                  <a:txBody>
                    <a:bodyPr wrap="square"/>
                    <a:lstStyle/>
                    <a:p>
                      <a:r>
                        <a:rPr sz="1200" b="0" i="0">
                          <a:solidFill>
                            <a:srgbClr val="0B0B0B"/>
                          </a:solidFill>
                          <a:latin typeface="Arial"/>
                        </a:rPr>
                        <a:t>BiLSTM</a:t>
                      </a:r>
                    </a:p>
                  </a:txBody>
                  <a:tcPr marL="64008" marR="64008" marT="27432" marB="27432" anchor="ctr">
                    <a:solidFill>
                      <a:srgbClr val="F9F9F7"/>
                    </a:solidFill>
                  </a:tcPr>
                </a:tc>
                <a:tc>
                  <a:txBody>
                    <a:bodyPr wrap="square"/>
                    <a:lstStyle/>
                    <a:p>
                      <a:r>
                        <a:rPr sz="1200" b="0" i="0">
                          <a:solidFill>
                            <a:srgbClr val="0B0B0B"/>
                          </a:solidFill>
                          <a:latin typeface="Arial"/>
                        </a:rPr>
                        <a:t>33.921</a:t>
                      </a:r>
                    </a:p>
                  </a:txBody>
                  <a:tcPr marL="64008" marR="64008" marT="27432" marB="27432" anchor="ctr">
                    <a:solidFill>
                      <a:srgbClr val="F9F9F7"/>
                    </a:solidFill>
                  </a:tcPr>
                </a:tc>
                <a:tc>
                  <a:txBody>
                    <a:bodyPr wrap="square"/>
                    <a:lstStyle/>
                    <a:p>
                      <a:r>
                        <a:rPr sz="1200" b="0" i="0">
                          <a:solidFill>
                            <a:srgbClr val="0B0B0B"/>
                          </a:solidFill>
                          <a:latin typeface="Arial"/>
                        </a:rPr>
                        <a:t>34.369</a:t>
                      </a:r>
                    </a:p>
                  </a:txBody>
                  <a:tcPr marL="64008" marR="64008" marT="27432" marB="27432" anchor="ctr">
                    <a:solidFill>
                      <a:srgbClr val="F9F9F7"/>
                    </a:solidFill>
                  </a:tcPr>
                </a:tc>
              </a:tr>
              <a:tr h="347472">
                <a:tc>
                  <a:txBody>
                    <a:bodyPr wrap="square"/>
                    <a:lstStyle/>
                    <a:p>
                      <a:r>
                        <a:rPr sz="1200" b="0" i="0">
                          <a:solidFill>
                            <a:srgbClr val="0B0B0B"/>
                          </a:solidFill>
                          <a:latin typeface="Arial"/>
                        </a:rPr>
                        <a:t>BiLSTM + single-head</a:t>
                      </a:r>
                    </a:p>
                  </a:txBody>
                  <a:tcPr marL="64008" marR="64008" marT="27432" marB="27432" anchor="ctr">
                    <a:solidFill>
                      <a:srgbClr val="FFFFFF"/>
                    </a:solidFill>
                  </a:tcPr>
                </a:tc>
                <a:tc>
                  <a:txBody>
                    <a:bodyPr wrap="square"/>
                    <a:lstStyle/>
                    <a:p>
                      <a:r>
                        <a:rPr sz="1200" b="0" i="0">
                          <a:solidFill>
                            <a:srgbClr val="0B0B0B"/>
                          </a:solidFill>
                          <a:latin typeface="Arial"/>
                        </a:rPr>
                        <a:t>66.561</a:t>
                      </a:r>
                    </a:p>
                  </a:txBody>
                  <a:tcPr marL="64008" marR="64008" marT="27432" marB="27432" anchor="ctr">
                    <a:solidFill>
                      <a:srgbClr val="FFFFFF"/>
                    </a:solidFill>
                  </a:tcPr>
                </a:tc>
                <a:tc>
                  <a:txBody>
                    <a:bodyPr wrap="square"/>
                    <a:lstStyle/>
                    <a:p>
                      <a:r>
                        <a:rPr sz="1200" b="0" i="0">
                          <a:solidFill>
                            <a:srgbClr val="0B0B0B"/>
                          </a:solidFill>
                          <a:latin typeface="Arial"/>
                        </a:rPr>
                        <a:t>151.169</a:t>
                      </a:r>
                    </a:p>
                  </a:txBody>
                  <a:tcPr marL="64008" marR="64008" marT="27432" marB="27432" anchor="ctr">
                    <a:solidFill>
                      <a:srgbClr val="FFFFFF"/>
                    </a:solidFill>
                  </a:tcPr>
                </a:tc>
              </a:tr>
              <a:tr h="347472">
                <a:tc>
                  <a:txBody>
                    <a:bodyPr wrap="square"/>
                    <a:lstStyle/>
                    <a:p>
                      <a:r>
                        <a:rPr sz="1200" b="0" i="0">
                          <a:solidFill>
                            <a:srgbClr val="0B0B0B"/>
                          </a:solidFill>
                          <a:latin typeface="Arial"/>
                        </a:rPr>
                        <a:t>BiLSTM + multi-head</a:t>
                      </a:r>
                    </a:p>
                  </a:txBody>
                  <a:tcPr marL="64008" marR="64008" marT="27432" marB="27432" anchor="ctr">
                    <a:solidFill>
                      <a:srgbClr val="F9F9F7"/>
                    </a:solidFill>
                  </a:tcPr>
                </a:tc>
                <a:tc>
                  <a:txBody>
                    <a:bodyPr wrap="square"/>
                    <a:lstStyle/>
                    <a:p>
                      <a:r>
                        <a:rPr sz="1200" b="0" i="0">
                          <a:solidFill>
                            <a:srgbClr val="0B0B0B"/>
                          </a:solidFill>
                          <a:latin typeface="Arial"/>
                        </a:rPr>
                        <a:t>494.977</a:t>
                      </a:r>
                    </a:p>
                  </a:txBody>
                  <a:tcPr marL="64008" marR="64008" marT="27432" marB="27432" anchor="ctr">
                    <a:solidFill>
                      <a:srgbClr val="F9F9F7"/>
                    </a:solidFill>
                  </a:tcPr>
                </a:tc>
                <a:tc>
                  <a:txBody>
                    <a:bodyPr wrap="square"/>
                    <a:lstStyle/>
                    <a:p>
                      <a:r>
                        <a:rPr sz="1200" b="0" i="0">
                          <a:solidFill>
                            <a:srgbClr val="0B0B0B"/>
                          </a:solidFill>
                          <a:latin typeface="Arial"/>
                        </a:rPr>
                        <a:t>217.089</a:t>
                      </a:r>
                    </a:p>
                  </a:txBody>
                  <a:tcPr marL="64008" marR="64008" marT="27432" marB="27432" anchor="ctr">
                    <a:solidFill>
                      <a:srgbClr val="F9F9F7"/>
                    </a:solidFill>
                  </a:tcPr>
                </a:tc>
              </a:tr>
              <a:tr h="347472">
                <a:tc>
                  <a:txBody>
                    <a:bodyPr wrap="square"/>
                    <a:lstStyle/>
                    <a:p>
                      <a:r>
                        <a:rPr sz="1200" b="0" i="0">
                          <a:solidFill>
                            <a:srgbClr val="0B0B0B"/>
                          </a:solidFill>
                          <a:latin typeface="Arial"/>
                        </a:rPr>
                        <a:t>MobileBERT (teacher)</a:t>
                      </a:r>
                    </a:p>
                  </a:txBody>
                  <a:tcPr marL="64008" marR="64008" marT="27432" marB="27432" anchor="ctr">
                    <a:solidFill>
                      <a:srgbClr val="FFFFFF"/>
                    </a:solidFill>
                  </a:tcPr>
                </a:tc>
                <a:tc>
                  <a:txBody>
                    <a:bodyPr wrap="square"/>
                    <a:lstStyle/>
                    <a:p>
                      <a:r>
                        <a:rPr sz="1200" b="0" i="0">
                          <a:solidFill>
                            <a:srgbClr val="0B0B0B"/>
                          </a:solidFill>
                          <a:latin typeface="Arial"/>
                        </a:rPr>
                        <a:t>25,3M</a:t>
                      </a:r>
                    </a:p>
                  </a:txBody>
                  <a:tcPr marL="64008" marR="64008" marT="27432" marB="27432" anchor="ctr">
                    <a:solidFill>
                      <a:srgbClr val="FFFFFF"/>
                    </a:solidFill>
                  </a:tcPr>
                </a:tc>
                <a:tc>
                  <a:txBody>
                    <a:bodyPr wrap="square"/>
                    <a:lstStyle/>
                    <a:p>
                      <a:r>
                        <a:rPr sz="1200" b="0" i="0">
                          <a:solidFill>
                            <a:srgbClr val="0B0B0B"/>
                          </a:solidFill>
                          <a:latin typeface="Arial"/>
                        </a:rPr>
                        <a:t>24,58M</a:t>
                      </a:r>
                    </a:p>
                  </a:txBody>
                  <a:tcPr marL="64008" marR="64008" marT="27432" marB="27432" anchor="ctr">
                    <a:solidFill>
                      <a:srgbClr val="FFFFFF"/>
                    </a:solidFill>
                  </a:tcPr>
                </a:tc>
              </a:tr>
              <a:tr h="347472">
                <a:tc>
                  <a:txBody>
                    <a:bodyPr wrap="square"/>
                    <a:lstStyle/>
                    <a:p>
                      <a:r>
                        <a:rPr sz="1200" b="0" i="0">
                          <a:solidFill>
                            <a:srgbClr val="0B0B0B"/>
                          </a:solidFill>
                          <a:latin typeface="Arial"/>
                        </a:rPr>
                        <a:t>KD-BiLSTM (student)</a:t>
                      </a:r>
                    </a:p>
                  </a:txBody>
                  <a:tcPr marL="64008" marR="64008" marT="27432" marB="27432" anchor="ctr">
                    <a:solidFill>
                      <a:srgbClr val="F9F9F7"/>
                    </a:solidFill>
                  </a:tcPr>
                </a:tc>
                <a:tc>
                  <a:txBody>
                    <a:bodyPr wrap="square"/>
                    <a:lstStyle/>
                    <a:p>
                      <a:r>
                        <a:rPr sz="1200" b="0" i="0">
                          <a:solidFill>
                            <a:srgbClr val="0B0B0B"/>
                          </a:solidFill>
                          <a:latin typeface="Arial"/>
                        </a:rPr>
                        <a:t>4,5M</a:t>
                      </a:r>
                    </a:p>
                  </a:txBody>
                  <a:tcPr marL="64008" marR="64008" marT="27432" marB="27432" anchor="ctr">
                    <a:solidFill>
                      <a:srgbClr val="F9F9F7"/>
                    </a:solidFill>
                  </a:tcPr>
                </a:tc>
                <a:tc>
                  <a:txBody>
                    <a:bodyPr wrap="square"/>
                    <a:lstStyle/>
                    <a:p>
                      <a:r>
                        <a:rPr sz="1200" b="0" i="0">
                          <a:solidFill>
                            <a:srgbClr val="0B0B0B"/>
                          </a:solidFill>
                          <a:latin typeface="Arial"/>
                        </a:rPr>
                        <a:t>4,44M</a:t>
                      </a:r>
                    </a:p>
                  </a:txBody>
                  <a:tcPr marL="64008" marR="64008" marT="27432" marB="27432" anchor="ctr">
                    <a:solidFill>
                      <a:srgbClr val="F9F9F7"/>
                    </a:solidFill>
                  </a:tcPr>
                </a:tc>
              </a:tr>
            </a:tbl>
          </a:graphicData>
        </a:graphic>
      </p:graphicFrame>
      <p:sp>
        <p:nvSpPr>
          <p:cNvPr id="8" name="TextBox 7"/>
          <p:cNvSpPr txBox="1"/>
          <p:nvPr/>
        </p:nvSpPr>
        <p:spPr>
          <a:xfrm>
            <a:off x="6309360" y="1325880"/>
            <a:ext cx="5486400" cy="365760"/>
          </a:xfrm>
          <a:prstGeom prst="rect">
            <a:avLst/>
          </a:prstGeom>
          <a:noFill/>
        </p:spPr>
        <p:txBody>
          <a:bodyPr wrap="square" anchor="t" lIns="45720" rIns="45720">
            <a:spAutoFit/>
          </a:bodyPr>
          <a:lstStyle/>
          <a:p>
            <a:pPr>
              <a:spcAft>
                <a:spcPts val="600"/>
              </a:spcAft>
            </a:pPr>
            <a:r>
              <a:rPr sz="1600" b="1" i="0">
                <a:solidFill>
                  <a:srgbClr val="0B0B0B"/>
                </a:solidFill>
                <a:latin typeface="Arial"/>
              </a:rPr>
              <a:t>F1 kịch bản Orig→Gen (người viết → LLM)</a:t>
            </a:r>
          </a:p>
        </p:txBody>
      </p:sp>
      <p:graphicFrame>
        <p:nvGraphicFramePr>
          <p:cNvPr id="9" name="Table 8"/>
          <p:cNvGraphicFramePr>
            <a:graphicFrameLocks noGrp="1"/>
          </p:cNvGraphicFramePr>
          <p:nvPr/>
        </p:nvGraphicFramePr>
        <p:xfrm>
          <a:off x="6309360" y="1737360"/>
          <a:ext cx="5394960" cy="2432304"/>
        </p:xfrm>
        <a:graphic>
          <a:graphicData uri="http://schemas.openxmlformats.org/drawingml/2006/table">
            <a:tbl>
              <a:tblPr firstRow="1" bandRow="1">
                <a:tableStyleId>{5C22544A-7EE6-4342-B048-85BDC9FD1C3A}</a:tableStyleId>
              </a:tblPr>
              <a:tblGrid>
                <a:gridCol w="2697480"/>
                <a:gridCol w="1348740"/>
                <a:gridCol w="1348740"/>
              </a:tblGrid>
              <a:tr h="347472">
                <a:tc>
                  <a:txBody>
                    <a:bodyPr wrap="square"/>
                    <a:lstStyle/>
                    <a:p>
                      <a:r>
                        <a:rPr sz="1200" b="1" i="0">
                          <a:solidFill>
                            <a:srgbClr val="0B0B0B"/>
                          </a:solidFill>
                          <a:latin typeface="Arial"/>
                        </a:rPr>
                        <a:t>Mô hình</a:t>
                      </a:r>
                    </a:p>
                  </a:txBody>
                  <a:tcPr marL="64008" marR="64008" marT="27432" marB="27432" anchor="ctr">
                    <a:solidFill>
                      <a:srgbClr val="CDE2FB"/>
                    </a:solidFill>
                  </a:tcPr>
                </a:tc>
                <a:tc>
                  <a:txBody>
                    <a:bodyPr wrap="square"/>
                    <a:lstStyle/>
                    <a:p>
                      <a:r>
                        <a:rPr sz="1200" b="1" i="0">
                          <a:solidFill>
                            <a:srgbClr val="0B0B0B"/>
                          </a:solidFill>
                          <a:latin typeface="Arial"/>
                        </a:rPr>
                        <a:t>Bài báo</a:t>
                      </a:r>
                    </a:p>
                  </a:txBody>
                  <a:tcPr marL="64008" marR="64008" marT="27432" marB="27432" anchor="ctr">
                    <a:solidFill>
                      <a:srgbClr val="CDE2FB"/>
                    </a:solidFill>
                  </a:tcPr>
                </a:tc>
                <a:tc>
                  <a:txBody>
                    <a:bodyPr wrap="square"/>
                    <a:lstStyle/>
                    <a:p>
                      <a:r>
                        <a:rPr sz="1200" b="1" i="0">
                          <a:solidFill>
                            <a:srgbClr val="0B0B0B"/>
                          </a:solidFill>
                          <a:latin typeface="Arial"/>
                        </a:rPr>
                        <a:t>Tái hiện*</a:t>
                      </a:r>
                    </a:p>
                  </a:txBody>
                  <a:tcPr marL="64008" marR="64008" marT="27432" marB="27432" anchor="ctr">
                    <a:solidFill>
                      <a:srgbClr val="CDE2FB"/>
                    </a:solidFill>
                  </a:tcPr>
                </a:tc>
              </a:tr>
              <a:tr h="347472">
                <a:tc>
                  <a:txBody>
                    <a:bodyPr wrap="square"/>
                    <a:lstStyle/>
                    <a:p>
                      <a:r>
                        <a:rPr sz="1200" b="0" i="0">
                          <a:solidFill>
                            <a:srgbClr val="0B0B0B"/>
                          </a:solidFill>
                          <a:latin typeface="Arial"/>
                        </a:rPr>
                        <a:t>LSTM</a:t>
                      </a:r>
                    </a:p>
                  </a:txBody>
                  <a:tcPr marL="64008" marR="64008" marT="27432" marB="27432" anchor="ctr">
                    <a:solidFill>
                      <a:srgbClr val="FFFFFF"/>
                    </a:solidFill>
                  </a:tcPr>
                </a:tc>
                <a:tc>
                  <a:txBody>
                    <a:bodyPr wrap="square"/>
                    <a:lstStyle/>
                    <a:p>
                      <a:r>
                        <a:rPr sz="1200" b="0" i="0">
                          <a:solidFill>
                            <a:srgbClr val="0B0B0B"/>
                          </a:solidFill>
                          <a:latin typeface="Arial"/>
                        </a:rPr>
                        <a:t>82,17</a:t>
                      </a:r>
                    </a:p>
                  </a:txBody>
                  <a:tcPr marL="64008" marR="64008" marT="27432" marB="27432" anchor="ctr">
                    <a:solidFill>
                      <a:srgbClr val="FFFFFF"/>
                    </a:solidFill>
                  </a:tcPr>
                </a:tc>
                <a:tc>
                  <a:txBody>
                    <a:bodyPr wrap="square"/>
                    <a:lstStyle/>
                    <a:p>
                      <a:r>
                        <a:rPr sz="1200" b="0" i="0">
                          <a:solidFill>
                            <a:srgbClr val="0B0B0B"/>
                          </a:solidFill>
                          <a:latin typeface="Arial"/>
                        </a:rPr>
                        <a:t>81,75</a:t>
                      </a:r>
                    </a:p>
                  </a:txBody>
                  <a:tcPr marL="64008" marR="64008" marT="27432" marB="27432" anchor="ctr">
                    <a:solidFill>
                      <a:srgbClr val="FFFFFF"/>
                    </a:solidFill>
                  </a:tcPr>
                </a:tc>
              </a:tr>
              <a:tr h="347472">
                <a:tc>
                  <a:txBody>
                    <a:bodyPr wrap="square"/>
                    <a:lstStyle/>
                    <a:p>
                      <a:r>
                        <a:rPr sz="1200" b="0" i="0">
                          <a:solidFill>
                            <a:srgbClr val="0B0B0B"/>
                          </a:solidFill>
                          <a:latin typeface="Arial"/>
                        </a:rPr>
                        <a:t>BiLSTM</a:t>
                      </a:r>
                    </a:p>
                  </a:txBody>
                  <a:tcPr marL="64008" marR="64008" marT="27432" marB="27432" anchor="ctr">
                    <a:solidFill>
                      <a:srgbClr val="F9F9F7"/>
                    </a:solidFill>
                  </a:tcPr>
                </a:tc>
                <a:tc>
                  <a:txBody>
                    <a:bodyPr wrap="square"/>
                    <a:lstStyle/>
                    <a:p>
                      <a:r>
                        <a:rPr sz="1200" b="0" i="0">
                          <a:solidFill>
                            <a:srgbClr val="0B0B0B"/>
                          </a:solidFill>
                          <a:latin typeface="Arial"/>
                        </a:rPr>
                        <a:t>79,93</a:t>
                      </a:r>
                    </a:p>
                  </a:txBody>
                  <a:tcPr marL="64008" marR="64008" marT="27432" marB="27432" anchor="ctr">
                    <a:solidFill>
                      <a:srgbClr val="F9F9F7"/>
                    </a:solidFill>
                  </a:tcPr>
                </a:tc>
                <a:tc>
                  <a:txBody>
                    <a:bodyPr wrap="square"/>
                    <a:lstStyle/>
                    <a:p>
                      <a:r>
                        <a:rPr sz="1200" b="0" i="0">
                          <a:solidFill>
                            <a:srgbClr val="0B0B0B"/>
                          </a:solidFill>
                          <a:latin typeface="Arial"/>
                        </a:rPr>
                        <a:t>88,81</a:t>
                      </a:r>
                    </a:p>
                  </a:txBody>
                  <a:tcPr marL="64008" marR="64008" marT="27432" marB="27432" anchor="ctr">
                    <a:solidFill>
                      <a:srgbClr val="F9F9F7"/>
                    </a:solidFill>
                  </a:tcPr>
                </a:tc>
              </a:tr>
              <a:tr h="347472">
                <a:tc>
                  <a:txBody>
                    <a:bodyPr wrap="square"/>
                    <a:lstStyle/>
                    <a:p>
                      <a:r>
                        <a:rPr sz="1200" b="0" i="0">
                          <a:solidFill>
                            <a:srgbClr val="0B0B0B"/>
                          </a:solidFill>
                          <a:latin typeface="Arial"/>
                        </a:rPr>
                        <a:t>BiLSTM + single-head</a:t>
                      </a:r>
                    </a:p>
                  </a:txBody>
                  <a:tcPr marL="64008" marR="64008" marT="27432" marB="27432" anchor="ctr">
                    <a:solidFill>
                      <a:srgbClr val="FFFFFF"/>
                    </a:solidFill>
                  </a:tcPr>
                </a:tc>
                <a:tc>
                  <a:txBody>
                    <a:bodyPr wrap="square"/>
                    <a:lstStyle/>
                    <a:p>
                      <a:r>
                        <a:rPr sz="1200" b="0" i="0">
                          <a:solidFill>
                            <a:srgbClr val="0B0B0B"/>
                          </a:solidFill>
                          <a:latin typeface="Arial"/>
                        </a:rPr>
                        <a:t>85,03</a:t>
                      </a:r>
                    </a:p>
                  </a:txBody>
                  <a:tcPr marL="64008" marR="64008" marT="27432" marB="27432" anchor="ctr">
                    <a:solidFill>
                      <a:srgbClr val="FFFFFF"/>
                    </a:solidFill>
                  </a:tcPr>
                </a:tc>
                <a:tc>
                  <a:txBody>
                    <a:bodyPr wrap="square"/>
                    <a:lstStyle/>
                    <a:p>
                      <a:r>
                        <a:rPr sz="1200" b="0" i="0">
                          <a:solidFill>
                            <a:srgbClr val="0B0B0B"/>
                          </a:solidFill>
                          <a:latin typeface="Arial"/>
                        </a:rPr>
                        <a:t>80,04</a:t>
                      </a:r>
                    </a:p>
                  </a:txBody>
                  <a:tcPr marL="64008" marR="64008" marT="27432" marB="27432" anchor="ctr">
                    <a:solidFill>
                      <a:srgbClr val="FFFFFF"/>
                    </a:solidFill>
                  </a:tcPr>
                </a:tc>
              </a:tr>
              <a:tr h="347472">
                <a:tc>
                  <a:txBody>
                    <a:bodyPr wrap="square"/>
                    <a:lstStyle/>
                    <a:p>
                      <a:r>
                        <a:rPr sz="1200" b="0" i="0">
                          <a:solidFill>
                            <a:srgbClr val="0B0B0B"/>
                          </a:solidFill>
                          <a:latin typeface="Arial"/>
                        </a:rPr>
                        <a:t>BiLSTM + multi-head</a:t>
                      </a:r>
                    </a:p>
                  </a:txBody>
                  <a:tcPr marL="64008" marR="64008" marT="27432" marB="27432" anchor="ctr">
                    <a:solidFill>
                      <a:srgbClr val="F9F9F7"/>
                    </a:solidFill>
                  </a:tcPr>
                </a:tc>
                <a:tc>
                  <a:txBody>
                    <a:bodyPr wrap="square"/>
                    <a:lstStyle/>
                    <a:p>
                      <a:r>
                        <a:rPr sz="1200" b="0" i="0">
                          <a:solidFill>
                            <a:srgbClr val="0B0B0B"/>
                          </a:solidFill>
                          <a:latin typeface="Arial"/>
                        </a:rPr>
                        <a:t>92,40</a:t>
                      </a:r>
                    </a:p>
                  </a:txBody>
                  <a:tcPr marL="64008" marR="64008" marT="27432" marB="27432" anchor="ctr">
                    <a:solidFill>
                      <a:srgbClr val="F9F9F7"/>
                    </a:solidFill>
                  </a:tcPr>
                </a:tc>
                <a:tc>
                  <a:txBody>
                    <a:bodyPr wrap="square"/>
                    <a:lstStyle/>
                    <a:p>
                      <a:r>
                        <a:rPr sz="1200" b="0" i="0">
                          <a:solidFill>
                            <a:srgbClr val="0B0B0B"/>
                          </a:solidFill>
                          <a:latin typeface="Arial"/>
                        </a:rPr>
                        <a:t>90,90</a:t>
                      </a:r>
                    </a:p>
                  </a:txBody>
                  <a:tcPr marL="64008" marR="64008" marT="27432" marB="27432" anchor="ctr">
                    <a:solidFill>
                      <a:srgbClr val="F9F9F7"/>
                    </a:solidFill>
                  </a:tcPr>
                </a:tc>
              </a:tr>
              <a:tr h="347472">
                <a:tc>
                  <a:txBody>
                    <a:bodyPr wrap="square"/>
                    <a:lstStyle/>
                    <a:p>
                      <a:r>
                        <a:rPr sz="1200" b="0" i="0">
                          <a:solidFill>
                            <a:srgbClr val="0B0B0B"/>
                          </a:solidFill>
                          <a:latin typeface="Arial"/>
                        </a:rPr>
                        <a:t>MobileBERT (teacher)</a:t>
                      </a:r>
                    </a:p>
                  </a:txBody>
                  <a:tcPr marL="64008" marR="64008" marT="27432" marB="27432" anchor="ctr">
                    <a:solidFill>
                      <a:srgbClr val="FFFFFF"/>
                    </a:solidFill>
                  </a:tcPr>
                </a:tc>
                <a:tc>
                  <a:txBody>
                    <a:bodyPr wrap="square"/>
                    <a:lstStyle/>
                    <a:p>
                      <a:r>
                        <a:rPr sz="1200" b="0" i="0">
                          <a:solidFill>
                            <a:srgbClr val="0B0B0B"/>
                          </a:solidFill>
                          <a:latin typeface="Arial"/>
                        </a:rPr>
                        <a:t>91,80</a:t>
                      </a:r>
                    </a:p>
                  </a:txBody>
                  <a:tcPr marL="64008" marR="64008" marT="27432" marB="27432" anchor="ctr">
                    <a:solidFill>
                      <a:srgbClr val="FFFFFF"/>
                    </a:solidFill>
                  </a:tcPr>
                </a:tc>
                <a:tc>
                  <a:txBody>
                    <a:bodyPr wrap="square"/>
                    <a:lstStyle/>
                    <a:p>
                      <a:r>
                        <a:rPr sz="1200" b="0" i="0">
                          <a:solidFill>
                            <a:srgbClr val="0B0B0B"/>
                          </a:solidFill>
                          <a:latin typeface="Arial"/>
                        </a:rPr>
                        <a:t>51,66</a:t>
                      </a:r>
                    </a:p>
                  </a:txBody>
                  <a:tcPr marL="64008" marR="64008" marT="27432" marB="27432" anchor="ctr">
                    <a:solidFill>
                      <a:srgbClr val="FFFFFF"/>
                    </a:solidFill>
                  </a:tcPr>
                </a:tc>
              </a:tr>
              <a:tr h="347472">
                <a:tc>
                  <a:txBody>
                    <a:bodyPr wrap="square"/>
                    <a:lstStyle/>
                    <a:p>
                      <a:r>
                        <a:rPr sz="1200" b="0" i="0">
                          <a:solidFill>
                            <a:srgbClr val="0B0B0B"/>
                          </a:solidFill>
                          <a:latin typeface="Arial"/>
                        </a:rPr>
                        <a:t>KD-BiLSTM</a:t>
                      </a:r>
                    </a:p>
                  </a:txBody>
                  <a:tcPr marL="64008" marR="64008" marT="27432" marB="27432" anchor="ctr">
                    <a:solidFill>
                      <a:srgbClr val="F9F9F7"/>
                    </a:solidFill>
                  </a:tcPr>
                </a:tc>
                <a:tc>
                  <a:txBody>
                    <a:bodyPr wrap="square"/>
                    <a:lstStyle/>
                    <a:p>
                      <a:r>
                        <a:rPr sz="1200" b="0" i="0">
                          <a:solidFill>
                            <a:srgbClr val="0B0B0B"/>
                          </a:solidFill>
                          <a:latin typeface="Arial"/>
                        </a:rPr>
                        <a:t>89,60</a:t>
                      </a:r>
                    </a:p>
                  </a:txBody>
                  <a:tcPr marL="64008" marR="64008" marT="27432" marB="27432" anchor="ctr">
                    <a:solidFill>
                      <a:srgbClr val="F9F9F7"/>
                    </a:solidFill>
                  </a:tcPr>
                </a:tc>
                <a:tc>
                  <a:txBody>
                    <a:bodyPr wrap="square"/>
                    <a:lstStyle/>
                    <a:p>
                      <a:r>
                        <a:rPr sz="1200" b="0" i="0">
                          <a:solidFill>
                            <a:srgbClr val="0B0B0B"/>
                          </a:solidFill>
                          <a:latin typeface="Arial"/>
                        </a:rPr>
                        <a:t>92,55</a:t>
                      </a:r>
                    </a:p>
                  </a:txBody>
                  <a:tcPr marL="64008" marR="64008" marT="27432" marB="27432" anchor="ctr">
                    <a:solidFill>
                      <a:srgbClr val="F9F9F7"/>
                    </a:solidFill>
                  </a:tcPr>
                </a:tc>
              </a:tr>
            </a:tbl>
          </a:graphicData>
        </a:graphic>
      </p:graphicFrame>
      <p:sp>
        <p:nvSpPr>
          <p:cNvPr id="10" name="Rounded Rectangle 9"/>
          <p:cNvSpPr/>
          <p:nvPr/>
        </p:nvSpPr>
        <p:spPr>
          <a:xfrm>
            <a:off x="548640" y="4434840"/>
            <a:ext cx="5394960" cy="16002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544568"/>
            <a:ext cx="5120640" cy="1417320"/>
          </a:xfrm>
          <a:prstGeom prst="rect">
            <a:avLst/>
          </a:prstGeom>
          <a:noFill/>
        </p:spPr>
        <p:txBody>
          <a:bodyPr wrap="square" anchor="t" lIns="45720" rIns="45720">
            <a:spAutoFit/>
          </a:bodyPr>
          <a:lstStyle/>
          <a:p>
            <a:pPr>
              <a:spcAft>
                <a:spcPts val="400"/>
              </a:spcAft>
            </a:pPr>
            <a:r>
              <a:rPr sz="1500" b="1" i="0">
                <a:solidFill>
                  <a:srgbClr val="0B0B0B"/>
                </a:solidFill>
                <a:latin typeface="Arial"/>
              </a:rPr>
              <a:t>Tốc độ suy luận: student vs teacher</a:t>
            </a:r>
          </a:p>
          <a:p>
            <a:pPr>
              <a:spcAft>
                <a:spcPts val="600"/>
              </a:spcAft>
            </a:pPr>
            <a:r>
              <a:rPr sz="1300" b="0" i="0">
                <a:solidFill>
                  <a:srgbClr val="52514E"/>
                </a:solidFill>
                <a:latin typeface="Arial"/>
              </a:rPr>
              <a:t>Bài báo: 6,06 s so với 42 s (≈ 7× nhanh hơn, GPU)
Tái hiện: 0,35 s so với 11,83 s (≈ 34× nhanh hơn, CPU)</a:t>
            </a:r>
          </a:p>
        </p:txBody>
      </p:sp>
      <p:sp>
        <p:nvSpPr>
          <p:cNvPr id="12" name="Rounded Rectangle 11"/>
          <p:cNvSpPr/>
          <p:nvPr/>
        </p:nvSpPr>
        <p:spPr>
          <a:xfrm>
            <a:off x="6309360" y="4434840"/>
            <a:ext cx="5394960" cy="16002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4544568"/>
            <a:ext cx="5120640" cy="1417320"/>
          </a:xfrm>
          <a:prstGeom prst="rect">
            <a:avLst/>
          </a:prstGeom>
          <a:noFill/>
        </p:spPr>
        <p:txBody>
          <a:bodyPr wrap="square" anchor="t" lIns="45720" rIns="45720">
            <a:spAutoFit/>
          </a:bodyPr>
          <a:lstStyle/>
          <a:p>
            <a:pPr>
              <a:spcAft>
                <a:spcPts val="400"/>
              </a:spcAft>
            </a:pPr>
            <a:r>
              <a:rPr sz="1500" b="1" i="0">
                <a:solidFill>
                  <a:srgbClr val="0B0B0B"/>
                </a:solidFill>
                <a:latin typeface="Arial"/>
              </a:rPr>
              <a:t>* Đọc số liệu thế nào</a:t>
            </a:r>
          </a:p>
          <a:p>
            <a:pPr>
              <a:spcAft>
                <a:spcPts val="600"/>
              </a:spcAft>
            </a:pPr>
            <a:r>
              <a:rPr sz="1300" b="0" i="0">
                <a:solidFill>
                  <a:srgbClr val="52514E"/>
                </a:solidFill>
                <a:latin typeface="Arial"/>
              </a:rPr>
              <a:t>Dữ liệu toy, 1 fold → chỉ kiểm tra pipeline. Xu hướng khớp bài báo: chéo phân phối làm giảm điểm; multi-head và KD giúp tổng quát hóa tốt hơn.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II · NỘI DUNG THỰC HIỆN</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A. Tái hiện: vấn đề gặp phải và cách khắc phục</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14</a:t>
            </a:r>
          </a:p>
        </p:txBody>
      </p:sp>
      <p:graphicFrame>
        <p:nvGraphicFramePr>
          <p:cNvPr id="6" name="Table 5"/>
          <p:cNvGraphicFramePr>
            <a:graphicFrameLocks noGrp="1"/>
          </p:cNvGraphicFramePr>
          <p:nvPr/>
        </p:nvGraphicFramePr>
        <p:xfrm>
          <a:off x="548640" y="1371600"/>
          <a:ext cx="11155678" cy="3429000"/>
        </p:xfrm>
        <a:graphic>
          <a:graphicData uri="http://schemas.openxmlformats.org/drawingml/2006/table">
            <a:tbl>
              <a:tblPr firstRow="1" bandRow="1">
                <a:tableStyleId>{5C22544A-7EE6-4342-B048-85BDC9FD1C3A}</a:tableStyleId>
              </a:tblPr>
              <a:tblGrid>
                <a:gridCol w="3077428"/>
                <a:gridCol w="4039125"/>
                <a:gridCol w="4039125"/>
              </a:tblGrid>
              <a:tr h="685800">
                <a:tc>
                  <a:txBody>
                    <a:bodyPr wrap="square"/>
                    <a:lstStyle/>
                    <a:p>
                      <a:r>
                        <a:rPr sz="1300" b="1" i="0">
                          <a:solidFill>
                            <a:srgbClr val="0B0B0B"/>
                          </a:solidFill>
                          <a:latin typeface="Arial"/>
                        </a:rPr>
                        <a:t>Hiện tượng</a:t>
                      </a:r>
                    </a:p>
                  </a:txBody>
                  <a:tcPr marL="64008" marR="64008" marT="27432" marB="27432" anchor="ctr">
                    <a:solidFill>
                      <a:srgbClr val="CDE2FB"/>
                    </a:solidFill>
                  </a:tcPr>
                </a:tc>
                <a:tc>
                  <a:txBody>
                    <a:bodyPr wrap="square"/>
                    <a:lstStyle/>
                    <a:p>
                      <a:r>
                        <a:rPr sz="1300" b="1" i="0">
                          <a:solidFill>
                            <a:srgbClr val="0B0B0B"/>
                          </a:solidFill>
                          <a:latin typeface="Arial"/>
                        </a:rPr>
                        <a:t>Nguyên nhân</a:t>
                      </a:r>
                    </a:p>
                  </a:txBody>
                  <a:tcPr marL="64008" marR="64008" marT="27432" marB="27432" anchor="ctr">
                    <a:solidFill>
                      <a:srgbClr val="CDE2FB"/>
                    </a:solidFill>
                  </a:tcPr>
                </a:tc>
                <a:tc>
                  <a:txBody>
                    <a:bodyPr wrap="square"/>
                    <a:lstStyle/>
                    <a:p>
                      <a:r>
                        <a:rPr sz="1300" b="1" i="0">
                          <a:solidFill>
                            <a:srgbClr val="0B0B0B"/>
                          </a:solidFill>
                          <a:latin typeface="Arial"/>
                        </a:rPr>
                        <a:t>Khắc phục</a:t>
                      </a:r>
                    </a:p>
                  </a:txBody>
                  <a:tcPr marL="64008" marR="64008" marT="27432" marB="27432" anchor="ctr">
                    <a:solidFill>
                      <a:srgbClr val="CDE2FB"/>
                    </a:solidFill>
                  </a:tcPr>
                </a:tc>
              </a:tr>
              <a:tr h="685800">
                <a:tc>
                  <a:txBody>
                    <a:bodyPr wrap="square"/>
                    <a:lstStyle/>
                    <a:p>
                      <a:r>
                        <a:rPr sz="1300" b="0" i="0">
                          <a:solidFill>
                            <a:srgbClr val="0B0B0B"/>
                          </a:solidFill>
                          <a:latin typeface="Arial"/>
                        </a:rPr>
                        <a:t>Teacher MobileBERT bị sụp (luôn đoán 1 lớp)</a:t>
                      </a:r>
                    </a:p>
                  </a:txBody>
                  <a:tcPr marL="64008" marR="64008" marT="27432" marB="27432" anchor="ctr">
                    <a:solidFill>
                      <a:srgbClr val="FFFFFF"/>
                    </a:solidFill>
                  </a:tcPr>
                </a:tc>
                <a:tc>
                  <a:txBody>
                    <a:bodyPr wrap="square"/>
                    <a:lstStyle/>
                    <a:p>
                      <a:r>
                        <a:rPr sz="1300" b="0" i="0">
                          <a:solidFill>
                            <a:srgbClr val="0B0B0B"/>
                          </a:solidFill>
                          <a:latin typeface="Arial"/>
                        </a:rPr>
                        <a:t>Pooler lấy thẳng [CLS] chưa qua tanh → loss ban đầu ~10⁷</a:t>
                      </a:r>
                    </a:p>
                  </a:txBody>
                  <a:tcPr marL="64008" marR="64008" marT="27432" marB="27432" anchor="ctr">
                    <a:solidFill>
                      <a:srgbClr val="FFFFFF"/>
                    </a:solidFill>
                  </a:tcPr>
                </a:tc>
                <a:tc>
                  <a:txBody>
                    <a:bodyPr wrap="square"/>
                    <a:lstStyle/>
                    <a:p>
                      <a:r>
                        <a:rPr sz="1300" b="0" i="0">
                          <a:solidFill>
                            <a:srgbClr val="0B0B0B"/>
                          </a:solidFill>
                          <a:latin typeface="Arial"/>
                        </a:rPr>
                        <a:t>Gradient clipping (max_grad_norm = 1) + số bước tối thiểu 120</a:t>
                      </a:r>
                    </a:p>
                  </a:txBody>
                  <a:tcPr marL="64008" marR="64008" marT="27432" marB="27432" anchor="ctr">
                    <a:solidFill>
                      <a:srgbClr val="FFFFFF"/>
                    </a:solidFill>
                  </a:tcPr>
                </a:tc>
              </a:tr>
              <a:tr h="685800">
                <a:tc>
                  <a:txBody>
                    <a:bodyPr wrap="square"/>
                    <a:lstStyle/>
                    <a:p>
                      <a:r>
                        <a:rPr sz="1300" b="0" i="0">
                          <a:solidFill>
                            <a:srgbClr val="0B0B0B"/>
                          </a:solidFill>
                          <a:latin typeface="Arial"/>
                        </a:rPr>
                        <a:t>Mô hình văn bản 'học đường tắt' theo tên miền</a:t>
                      </a:r>
                    </a:p>
                  </a:txBody>
                  <a:tcPr marL="64008" marR="64008" marT="27432" marB="27432" anchor="ctr">
                    <a:solidFill>
                      <a:srgbClr val="F9F9F7"/>
                    </a:solidFill>
                  </a:tcPr>
                </a:tc>
                <a:tc>
                  <a:txBody>
                    <a:bodyPr wrap="square"/>
                    <a:lstStyle/>
                    <a:p>
                      <a:r>
                        <a:rPr sz="1300" b="0" i="0">
                          <a:solidFill>
                            <a:srgbClr val="0B0B0B"/>
                          </a:solidFill>
                          <a:latin typeface="Arial"/>
                        </a:rPr>
                        <a:t>Dữ liệu tổng hợp: chỉ email lừa đảo mới chứa URL → báo nhầm email thật có link</a:t>
                      </a:r>
                    </a:p>
                  </a:txBody>
                  <a:tcPr marL="64008" marR="64008" marT="27432" marB="27432" anchor="ctr">
                    <a:solidFill>
                      <a:srgbClr val="F9F9F7"/>
                    </a:solidFill>
                  </a:tcPr>
                </a:tc>
                <a:tc>
                  <a:txBody>
                    <a:bodyPr wrap="square"/>
                    <a:lstStyle/>
                    <a:p>
                      <a:r>
                        <a:rPr sz="1300" b="0" i="0">
                          <a:solidFill>
                            <a:srgbClr val="0B0B0B"/>
                          </a:solidFill>
                          <a:latin typeface="Arial"/>
                        </a:rPr>
                        <a:t>Che URL/địa chỉ email trước mô hình văn bản + bổ sung email hợp lệ 'khó'</a:t>
                      </a:r>
                    </a:p>
                  </a:txBody>
                  <a:tcPr marL="64008" marR="64008" marT="27432" marB="27432" anchor="ctr">
                    <a:solidFill>
                      <a:srgbClr val="F9F9F7"/>
                    </a:solidFill>
                  </a:tcPr>
                </a:tc>
              </a:tr>
              <a:tr h="685800">
                <a:tc>
                  <a:txBody>
                    <a:bodyPr wrap="square"/>
                    <a:lstStyle/>
                    <a:p>
                      <a:r>
                        <a:rPr sz="1300" b="0" i="0">
                          <a:solidFill>
                            <a:srgbClr val="0B0B0B"/>
                          </a:solidFill>
                          <a:latin typeface="Arial"/>
                        </a:rPr>
                        <a:t>Giải thích attention ra từ mất dấu ('khoan', 'đinh')</a:t>
                      </a:r>
                    </a:p>
                  </a:txBody>
                  <a:tcPr marL="64008" marR="64008" marT="27432" marB="27432" anchor="ctr">
                    <a:solidFill>
                      <a:srgbClr val="FFFFFF"/>
                    </a:solidFill>
                  </a:tcPr>
                </a:tc>
                <a:tc>
                  <a:txBody>
                    <a:bodyPr wrap="square"/>
                    <a:lstStyle/>
                    <a:p>
                      <a:r>
                        <a:rPr sz="1300" b="0" i="0">
                          <a:solidFill>
                            <a:srgbClr val="0B0B0B"/>
                          </a:solidFill>
                          <a:latin typeface="Arial"/>
                        </a:rPr>
                        <a:t>Tokenizer MobileBERT uncased xóa dấu tiếng Việt</a:t>
                      </a:r>
                    </a:p>
                  </a:txBody>
                  <a:tcPr marL="64008" marR="64008" marT="27432" marB="27432" anchor="ctr">
                    <a:solidFill>
                      <a:srgbClr val="FFFFFF"/>
                    </a:solidFill>
                  </a:tcPr>
                </a:tc>
                <a:tc>
                  <a:txBody>
                    <a:bodyPr wrap="square"/>
                    <a:lstStyle/>
                    <a:p>
                      <a:r>
                        <a:rPr sz="1300" b="0" i="0">
                          <a:solidFill>
                            <a:srgbClr val="0B0B0B"/>
                          </a:solidFill>
                          <a:latin typeface="Arial"/>
                        </a:rPr>
                        <a:t>Ánh xạ attention về chữ gốc qua offset mapping</a:t>
                      </a:r>
                    </a:p>
                  </a:txBody>
                  <a:tcPr marL="64008" marR="64008" marT="27432" marB="27432" anchor="ctr">
                    <a:solidFill>
                      <a:srgbClr val="FFFFFF"/>
                    </a:solidFill>
                  </a:tcPr>
                </a:tc>
              </a:tr>
              <a:tr h="685800">
                <a:tc>
                  <a:txBody>
                    <a:bodyPr wrap="square"/>
                    <a:lstStyle/>
                    <a:p>
                      <a:r>
                        <a:rPr sz="1300" b="0" i="0">
                          <a:solidFill>
                            <a:srgbClr val="0B0B0B"/>
                          </a:solidFill>
                          <a:latin typeface="Arial"/>
                        </a:rPr>
                        <a:t>Tiêu đề tiếng Việt bị dính chữ khi ghi .eml</a:t>
                      </a:r>
                    </a:p>
                  </a:txBody>
                  <a:tcPr marL="64008" marR="64008" marT="27432" marB="27432" anchor="ctr">
                    <a:solidFill>
                      <a:srgbClr val="F9F9F7"/>
                    </a:solidFill>
                  </a:tcPr>
                </a:tc>
                <a:tc>
                  <a:txBody>
                    <a:bodyPr wrap="square"/>
                    <a:lstStyle/>
                    <a:p>
                      <a:r>
                        <a:rPr sz="1300" b="0" i="0">
                          <a:solidFill>
                            <a:srgbClr val="0B0B0B"/>
                          </a:solidFill>
                          <a:latin typeface="Arial"/>
                        </a:rPr>
                        <a:t>Lỗi gập header (encoded-word) của thư viện email Python</a:t>
                      </a:r>
                    </a:p>
                  </a:txBody>
                  <a:tcPr marL="64008" marR="64008" marT="27432" marB="27432" anchor="ctr">
                    <a:solidFill>
                      <a:srgbClr val="F9F9F7"/>
                    </a:solidFill>
                  </a:tcPr>
                </a:tc>
                <a:tc>
                  <a:txBody>
                    <a:bodyPr wrap="square"/>
                    <a:lstStyle/>
                    <a:p>
                      <a:r>
                        <a:rPr sz="1300" b="0" i="0">
                          <a:solidFill>
                            <a:srgbClr val="0B0B0B"/>
                          </a:solidFill>
                          <a:latin typeface="Arial"/>
                        </a:rPr>
                        <a:t>Tăng max_line_length để không gập header</a:t>
                      </a:r>
                    </a:p>
                  </a:txBody>
                  <a:tcPr marL="64008" marR="64008" marT="27432" marB="27432" anchor="ctr">
                    <a:solidFill>
                      <a:srgbClr val="F9F9F7"/>
                    </a:solidFill>
                  </a:tcPr>
                </a:tc>
              </a:tr>
            </a:tbl>
          </a:graphicData>
        </a:graphic>
      </p:graphicFrame>
      <p:sp>
        <p:nvSpPr>
          <p:cNvPr id="7" name="TextBox 6"/>
          <p:cNvSpPr txBox="1"/>
          <p:nvPr/>
        </p:nvSpPr>
        <p:spPr>
          <a:xfrm>
            <a:off x="548640" y="5120640"/>
            <a:ext cx="11155680" cy="914400"/>
          </a:xfrm>
          <a:prstGeom prst="rect">
            <a:avLst/>
          </a:prstGeom>
          <a:noFill/>
        </p:spPr>
        <p:txBody>
          <a:bodyPr wrap="square" anchor="t" lIns="45720" rIns="45720">
            <a:spAutoFit/>
          </a:bodyPr>
          <a:lstStyle/>
          <a:p>
            <a:pPr>
              <a:spcAft>
                <a:spcPts val="600"/>
              </a:spcAft>
            </a:pPr>
            <a:r>
              <a:rPr sz="1400" b="0" i="1">
                <a:solidFill>
                  <a:srgbClr val="52514E"/>
                </a:solidFill>
                <a:latin typeface="Arial"/>
              </a:rPr>
              <a:t>Các chỗ bài báo không mô tả rõ (pooling sau attention, chia fold chéo miền, ngưỡng lọc, prompt sinh dữ liệu) được nhóm tự quyết định và ghi lại trong README.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II · NỘI DUNG THỰC HIỆN</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B. Từ bài báo đến ứng dụng: PhishLens Edu</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15</a:t>
            </a:r>
          </a:p>
        </p:txBody>
      </p:sp>
      <p:graphicFrame>
        <p:nvGraphicFramePr>
          <p:cNvPr id="6" name="Table 5"/>
          <p:cNvGraphicFramePr>
            <a:graphicFrameLocks noGrp="1"/>
          </p:cNvGraphicFramePr>
          <p:nvPr/>
        </p:nvGraphicFramePr>
        <p:xfrm>
          <a:off x="548640" y="1417320"/>
          <a:ext cx="11155680" cy="2514600"/>
        </p:xfrm>
        <a:graphic>
          <a:graphicData uri="http://schemas.openxmlformats.org/drawingml/2006/table">
            <a:tbl>
              <a:tblPr firstRow="1" bandRow="1">
                <a:tableStyleId>{5C22544A-7EE6-4342-B048-85BDC9FD1C3A}</a:tableStyleId>
              </a:tblPr>
              <a:tblGrid>
                <a:gridCol w="3840480"/>
                <a:gridCol w="7315200"/>
              </a:tblGrid>
              <a:tr h="502920">
                <a:tc>
                  <a:txBody>
                    <a:bodyPr wrap="square"/>
                    <a:lstStyle/>
                    <a:p>
                      <a:r>
                        <a:rPr sz="1400" b="1" i="0">
                          <a:solidFill>
                            <a:srgbClr val="0B0B0B"/>
                          </a:solidFill>
                          <a:latin typeface="Arial"/>
                        </a:rPr>
                        <a:t>Khoảng trống của bài báo</a:t>
                      </a:r>
                    </a:p>
                  </a:txBody>
                  <a:tcPr marL="64008" marR="64008" marT="27432" marB="27432" anchor="ctr">
                    <a:solidFill>
                      <a:srgbClr val="CDE2FB"/>
                    </a:solidFill>
                  </a:tcPr>
                </a:tc>
                <a:tc>
                  <a:txBody>
                    <a:bodyPr wrap="square"/>
                    <a:lstStyle/>
                    <a:p>
                      <a:r>
                        <a:rPr sz="1400" b="1" i="0">
                          <a:solidFill>
                            <a:srgbClr val="0B0B0B"/>
                          </a:solidFill>
                          <a:latin typeface="Arial"/>
                        </a:rPr>
                        <a:t>Định hướng của PhishLens Edu</a:t>
                      </a:r>
                    </a:p>
                  </a:txBody>
                  <a:tcPr marL="64008" marR="64008" marT="27432" marB="27432" anchor="ctr">
                    <a:solidFill>
                      <a:srgbClr val="CDE2FB"/>
                    </a:solidFill>
                  </a:tcPr>
                </a:tc>
              </a:tr>
              <a:tr h="502920">
                <a:tc>
                  <a:txBody>
                    <a:bodyPr wrap="square"/>
                    <a:lstStyle/>
                    <a:p>
                      <a:r>
                        <a:rPr sz="1400" b="1" i="0">
                          <a:solidFill>
                            <a:srgbClr val="0B0B0B"/>
                          </a:solidFill>
                          <a:latin typeface="Arial"/>
                        </a:rPr>
                        <a:t>Chỉ đọc văn bản thân thư</a:t>
                      </a:r>
                    </a:p>
                  </a:txBody>
                  <a:tcPr marL="64008" marR="64008" marT="27432" marB="27432" anchor="ctr">
                    <a:solidFill>
                      <a:srgbClr val="FFFFFF"/>
                    </a:solidFill>
                  </a:tcPr>
                </a:tc>
                <a:tc>
                  <a:txBody>
                    <a:bodyPr wrap="square"/>
                    <a:lstStyle/>
                    <a:p>
                      <a:r>
                        <a:rPr sz="1400" b="0" i="0">
                          <a:solidFill>
                            <a:srgbClr val="0B0B0B"/>
                          </a:solidFill>
                          <a:latin typeface="Arial"/>
                        </a:rPr>
                        <a:t>Phân tích 5 kênh: người gửi, liên kết, nội dung, ảnh &amp; QR, tệp đính kèm</a:t>
                      </a:r>
                    </a:p>
                  </a:txBody>
                  <a:tcPr marL="64008" marR="64008" marT="27432" marB="27432" anchor="ctr">
                    <a:solidFill>
                      <a:srgbClr val="FFFFFF"/>
                    </a:solidFill>
                  </a:tcPr>
                </a:tc>
              </a:tr>
              <a:tr h="502920">
                <a:tc>
                  <a:txBody>
                    <a:bodyPr wrap="square"/>
                    <a:lstStyle/>
                    <a:p>
                      <a:r>
                        <a:rPr sz="1400" b="1" i="0">
                          <a:solidFill>
                            <a:srgbClr val="0B0B0B"/>
                          </a:solidFill>
                          <a:latin typeface="Arial"/>
                        </a:rPr>
                        <a:t>Nhãn nhị phân có/không</a:t>
                      </a:r>
                    </a:p>
                  </a:txBody>
                  <a:tcPr marL="64008" marR="64008" marT="27432" marB="27432" anchor="ctr">
                    <a:solidFill>
                      <a:srgbClr val="F9F9F7"/>
                    </a:solidFill>
                  </a:tcPr>
                </a:tc>
                <a:tc>
                  <a:txBody>
                    <a:bodyPr wrap="square"/>
                    <a:lstStyle/>
                    <a:p>
                      <a:r>
                        <a:rPr sz="1400" b="0" i="0">
                          <a:solidFill>
                            <a:srgbClr val="0B0B0B"/>
                          </a:solidFill>
                          <a:latin typeface="Arial"/>
                        </a:rPr>
                        <a:t>Điểm rủi ro 0–100, 4 mức, loại tấn công, kỹ thuật né tránh</a:t>
                      </a:r>
                    </a:p>
                  </a:txBody>
                  <a:tcPr marL="64008" marR="64008" marT="27432" marB="27432" anchor="ctr">
                    <a:solidFill>
                      <a:srgbClr val="F9F9F7"/>
                    </a:solidFill>
                  </a:tcPr>
                </a:tc>
              </a:tr>
              <a:tr h="502920">
                <a:tc>
                  <a:txBody>
                    <a:bodyPr wrap="square"/>
                    <a:lstStyle/>
                    <a:p>
                      <a:r>
                        <a:rPr sz="1400" b="1" i="0">
                          <a:solidFill>
                            <a:srgbClr val="0B0B0B"/>
                          </a:solidFill>
                          <a:latin typeface="Arial"/>
                        </a:rPr>
                        <a:t>Không giải thích</a:t>
                      </a:r>
                    </a:p>
                  </a:txBody>
                  <a:tcPr marL="64008" marR="64008" marT="27432" marB="27432" anchor="ctr">
                    <a:solidFill>
                      <a:srgbClr val="FFFFFF"/>
                    </a:solidFill>
                  </a:tcPr>
                </a:tc>
                <a:tc>
                  <a:txBody>
                    <a:bodyPr wrap="square"/>
                    <a:lstStyle/>
                    <a:p>
                      <a:r>
                        <a:rPr sz="1400" b="0" i="0">
                          <a:solidFill>
                            <a:srgbClr val="0B0B0B"/>
                          </a:solidFill>
                          <a:latin typeface="Arial"/>
                        </a:rPr>
                        <a:t>Lý do + bài học tiếng Việt, tô sáng cụm từ, chế độ luyện tập</a:t>
                      </a:r>
                    </a:p>
                  </a:txBody>
                  <a:tcPr marL="64008" marR="64008" marT="27432" marB="27432" anchor="ctr">
                    <a:solidFill>
                      <a:srgbClr val="FFFFFF"/>
                    </a:solidFill>
                  </a:tcPr>
                </a:tc>
              </a:tr>
              <a:tr h="502920">
                <a:tc>
                  <a:txBody>
                    <a:bodyPr wrap="square"/>
                    <a:lstStyle/>
                    <a:p>
                      <a:r>
                        <a:rPr sz="1400" b="1" i="0">
                          <a:solidFill>
                            <a:srgbClr val="0B0B0B"/>
                          </a:solidFill>
                          <a:latin typeface="Arial"/>
                        </a:rPr>
                        <a:t>Dữ liệu tiếng Anh</a:t>
                      </a:r>
                    </a:p>
                  </a:txBody>
                  <a:tcPr marL="64008" marR="64008" marT="27432" marB="27432" anchor="ctr">
                    <a:solidFill>
                      <a:srgbClr val="F9F9F7"/>
                    </a:solidFill>
                  </a:tcPr>
                </a:tc>
                <a:tc>
                  <a:txBody>
                    <a:bodyPr wrap="square"/>
                    <a:lstStyle/>
                    <a:p>
                      <a:r>
                        <a:rPr sz="1400" b="0" i="0">
                          <a:solidFill>
                            <a:srgbClr val="0B0B0B"/>
                          </a:solidFill>
                          <a:latin typeface="Arial"/>
                        </a:rPr>
                        <a:t>Corpus email trường học tiếng Việt, cấu hình theo tên miền trường</a:t>
                      </a:r>
                    </a:p>
                  </a:txBody>
                  <a:tcPr marL="64008" marR="64008" marT="27432" marB="27432" anchor="ctr">
                    <a:solidFill>
                      <a:srgbClr val="F9F9F7"/>
                    </a:solidFill>
                  </a:tcPr>
                </a:tc>
              </a:tr>
            </a:tbl>
          </a:graphicData>
        </a:graphic>
      </p:graphicFrame>
      <p:sp>
        <p:nvSpPr>
          <p:cNvPr id="7" name="Rounded Rectangle 6"/>
          <p:cNvSpPr/>
          <p:nvPr/>
        </p:nvSpPr>
        <p:spPr>
          <a:xfrm>
            <a:off x="548640" y="4206240"/>
            <a:ext cx="11155680" cy="1828800"/>
          </a:xfrm>
          <a:prstGeom prst="roundRect">
            <a:avLst>
              <a:gd name="adj" fmla="val 6000"/>
            </a:avLst>
          </a:prstGeom>
          <a:solidFill>
            <a:srgbClr val="CDE2FB"/>
          </a:solidFill>
          <a:ln w="9525">
            <a:solidFill>
              <a:srgbClr val="CDE2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343400"/>
            <a:ext cx="10698480" cy="1645920"/>
          </a:xfrm>
          <a:prstGeom prst="rect">
            <a:avLst/>
          </a:prstGeom>
          <a:noFill/>
        </p:spPr>
        <p:txBody>
          <a:bodyPr wrap="square" anchor="t" lIns="45720" rIns="45720">
            <a:spAutoFit/>
          </a:bodyPr>
          <a:lstStyle/>
          <a:p>
            <a:pPr>
              <a:spcAft>
                <a:spcPts val="600"/>
              </a:spcAft>
            </a:pPr>
            <a:r>
              <a:rPr sz="1900" b="1" i="0">
                <a:solidFill>
                  <a:srgbClr val="2A78D6"/>
                </a:solidFill>
                <a:latin typeface="Arial"/>
              </a:rPr>
              <a:t>Định vị: “ý kiến thứ hai có giải thích”</a:t>
            </a:r>
          </a:p>
          <a:p>
            <a:pPr>
              <a:spcAft>
                <a:spcPts val="600"/>
              </a:spcAft>
            </a:pPr>
            <a:r>
              <a:rPr sz="1500" b="0" i="0">
                <a:solidFill>
                  <a:srgbClr val="0B0B0B"/>
                </a:solidFill>
                <a:latin typeface="Arial"/>
              </a:rPr>
              <a:t>Không thay Gmail/Defender. Người dùng chuyển tiếp hoặc tải .eml nghi ngờ lên → nhận điểm, lý do, việc cần làm. Chạy hoàn toàn cục bộ, chỉ phân tích tĩnh, không bao giờ mở hay thực thi tệp.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II · NỘI DUNG THỰC HIỆN</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B. Kiến trúc PhishLens Edu</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16</a:t>
            </a:r>
          </a:p>
        </p:txBody>
      </p:sp>
      <p:pic>
        <p:nvPicPr>
          <p:cNvPr id="6" name="Picture 5" descr="diag3.png"/>
          <p:cNvPicPr>
            <a:picLocks noChangeAspect="1"/>
          </p:cNvPicPr>
          <p:nvPr/>
        </p:nvPicPr>
        <p:blipFill>
          <a:blip r:embed="rId2"/>
          <a:stretch>
            <a:fillRect/>
          </a:stretch>
        </p:blipFill>
        <p:spPr>
          <a:xfrm>
            <a:off x="548640" y="1371600"/>
            <a:ext cx="7498079" cy="4008064"/>
          </a:xfrm>
          <a:prstGeom prst="rect">
            <a:avLst/>
          </a:prstGeom>
          <a:ln w="9525">
            <a:solidFill>
              <a:srgbClr val="E1E0D9"/>
            </a:solidFill>
          </a:ln>
        </p:spPr>
      </p:pic>
      <p:sp>
        <p:nvSpPr>
          <p:cNvPr id="7" name="Rounded Rectangle 6"/>
          <p:cNvSpPr/>
          <p:nvPr/>
        </p:nvSpPr>
        <p:spPr>
          <a:xfrm>
            <a:off x="8321040" y="1371600"/>
            <a:ext cx="3383280" cy="237744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58200" y="1481328"/>
            <a:ext cx="3108960" cy="2194560"/>
          </a:xfrm>
          <a:prstGeom prst="rect">
            <a:avLst/>
          </a:prstGeom>
          <a:noFill/>
        </p:spPr>
        <p:txBody>
          <a:bodyPr wrap="square" anchor="t" lIns="45720" rIns="45720">
            <a:spAutoFit/>
          </a:bodyPr>
          <a:lstStyle/>
          <a:p>
            <a:pPr>
              <a:spcAft>
                <a:spcPts val="400"/>
              </a:spcAft>
            </a:pPr>
            <a:r>
              <a:rPr sz="1500" b="1" i="0">
                <a:solidFill>
                  <a:srgbClr val="0B0B0B"/>
                </a:solidFill>
                <a:latin typeface="Arial"/>
              </a:rPr>
              <a:t>Kết hợp bằng chứng (noisy-OR)</a:t>
            </a:r>
          </a:p>
          <a:p>
            <a:pPr>
              <a:spcAft>
                <a:spcPts val="600"/>
              </a:spcAft>
            </a:pPr>
            <a:r>
              <a:rPr sz="1300" b="0" i="0">
                <a:solidFill>
                  <a:srgbClr val="52514E"/>
                </a:solidFill>
                <a:latin typeface="Arial"/>
              </a:rPr>
              <a:t>S_c = 1 − Π (1 − s_i)
Score = 100·[1 − Π_c (1 − S_c)]
Đơn điệu, dễ giải thích, kênh này bù cho kênh kia.</a:t>
            </a:r>
          </a:p>
        </p:txBody>
      </p:sp>
      <p:sp>
        <p:nvSpPr>
          <p:cNvPr id="9" name="Rounded Rectangle 8"/>
          <p:cNvSpPr/>
          <p:nvPr/>
        </p:nvSpPr>
        <p:spPr>
          <a:xfrm>
            <a:off x="8321040" y="3931920"/>
            <a:ext cx="3383280" cy="155448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58200" y="4041648"/>
            <a:ext cx="3108960" cy="1371600"/>
          </a:xfrm>
          <a:prstGeom prst="rect">
            <a:avLst/>
          </a:prstGeom>
          <a:noFill/>
        </p:spPr>
        <p:txBody>
          <a:bodyPr wrap="square" anchor="t" lIns="45720" rIns="45720">
            <a:spAutoFit/>
          </a:bodyPr>
          <a:lstStyle/>
          <a:p>
            <a:pPr>
              <a:spcAft>
                <a:spcPts val="400"/>
              </a:spcAft>
            </a:pPr>
            <a:r>
              <a:rPr sz="1500" b="1" i="0">
                <a:solidFill>
                  <a:srgbClr val="0B0B0B"/>
                </a:solidFill>
                <a:latin typeface="Arial"/>
              </a:rPr>
              <a:t>4 mức rủi ro</a:t>
            </a:r>
          </a:p>
          <a:p>
            <a:pPr>
              <a:spcAft>
                <a:spcPts val="600"/>
              </a:spcAft>
            </a:pPr>
            <a:r>
              <a:rPr sz="1300" b="0" i="0">
                <a:solidFill>
                  <a:srgbClr val="52514E"/>
                </a:solidFill>
                <a:latin typeface="Arial"/>
              </a:rPr>
              <a:t>An toàn &lt; 25 · Cần chú ý 25–49
Nguy hiểm 50–74 · Rất nguy hiểm ≥ 75</a:t>
            </a:r>
          </a:p>
        </p:txBody>
      </p:sp>
      <p:sp>
        <p:nvSpPr>
          <p:cNvPr id="11" name="TextBox 10"/>
          <p:cNvSpPr txBox="1"/>
          <p:nvPr/>
        </p:nvSpPr>
        <p:spPr>
          <a:xfrm>
            <a:off x="548640" y="5623560"/>
            <a:ext cx="11155680" cy="731520"/>
          </a:xfrm>
          <a:prstGeom prst="rect">
            <a:avLst/>
          </a:prstGeom>
          <a:noFill/>
        </p:spPr>
        <p:txBody>
          <a:bodyPr wrap="square" anchor="t" lIns="45720" rIns="45720">
            <a:spAutoFit/>
          </a:bodyPr>
          <a:lstStyle/>
          <a:p>
            <a:pPr>
              <a:spcAft>
                <a:spcPts val="600"/>
              </a:spcAft>
            </a:pPr>
            <a:r>
              <a:rPr sz="1400" b="0" i="0">
                <a:solidFill>
                  <a:srgbClr val="52514E"/>
                </a:solidFill>
                <a:latin typeface="Arial"/>
              </a:rPr>
              <a:t>Mỗi bằng chứng = tiêu đề + mô tả + độ mạnh s ∈ [0,1] + bài học + nhãn loại tấn công.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II · NỘI DUNG THỰC HIỆN</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B. Năm kênh phân tích</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17</a:t>
            </a:r>
          </a:p>
        </p:txBody>
      </p:sp>
      <p:graphicFrame>
        <p:nvGraphicFramePr>
          <p:cNvPr id="6" name="Table 5"/>
          <p:cNvGraphicFramePr>
            <a:graphicFrameLocks noGrp="1"/>
          </p:cNvGraphicFramePr>
          <p:nvPr/>
        </p:nvGraphicFramePr>
        <p:xfrm>
          <a:off x="548640" y="1371600"/>
          <a:ext cx="11155680" cy="3401568"/>
        </p:xfrm>
        <a:graphic>
          <a:graphicData uri="http://schemas.openxmlformats.org/drawingml/2006/table">
            <a:tbl>
              <a:tblPr firstRow="1" bandRow="1">
                <a:tableStyleId>{5C22544A-7EE6-4342-B048-85BDC9FD1C3A}</a:tableStyleId>
              </a:tblPr>
              <a:tblGrid>
                <a:gridCol w="1463040"/>
                <a:gridCol w="9692640"/>
              </a:tblGrid>
              <a:tr h="566928">
                <a:tc>
                  <a:txBody>
                    <a:bodyPr wrap="square"/>
                    <a:lstStyle/>
                    <a:p>
                      <a:r>
                        <a:rPr sz="1400" b="1" i="0">
                          <a:solidFill>
                            <a:srgbClr val="0B0B0B"/>
                          </a:solidFill>
                          <a:latin typeface="Arial"/>
                        </a:rPr>
                        <a:t>Kênh</a:t>
                      </a:r>
                    </a:p>
                  </a:txBody>
                  <a:tcPr marL="64008" marR="64008" marT="27432" marB="27432" anchor="ctr">
                    <a:solidFill>
                      <a:srgbClr val="CDE2FB"/>
                    </a:solidFill>
                  </a:tcPr>
                </a:tc>
                <a:tc>
                  <a:txBody>
                    <a:bodyPr wrap="square"/>
                    <a:lstStyle/>
                    <a:p>
                      <a:r>
                        <a:rPr sz="1400" b="1" i="0">
                          <a:solidFill>
                            <a:srgbClr val="0B0B0B"/>
                          </a:solidFill>
                          <a:latin typeface="Arial"/>
                        </a:rPr>
                        <a:t>Phân tích</a:t>
                      </a:r>
                    </a:p>
                  </a:txBody>
                  <a:tcPr marL="64008" marR="64008" marT="27432" marB="27432" anchor="ctr">
                    <a:solidFill>
                      <a:srgbClr val="CDE2FB"/>
                    </a:solidFill>
                  </a:tcPr>
                </a:tc>
              </a:tr>
              <a:tr h="566928">
                <a:tc>
                  <a:txBody>
                    <a:bodyPr wrap="square"/>
                    <a:lstStyle/>
                    <a:p>
                      <a:r>
                        <a:rPr sz="1400" b="1" i="0">
                          <a:solidFill>
                            <a:srgbClr val="0B0B0B"/>
                          </a:solidFill>
                          <a:latin typeface="Arial"/>
                        </a:rPr>
                        <a:t>Người gửi</a:t>
                      </a:r>
                    </a:p>
                  </a:txBody>
                  <a:tcPr marL="64008" marR="64008" marT="27432" marB="27432" anchor="ctr">
                    <a:solidFill>
                      <a:srgbClr val="FFFFFF"/>
                    </a:solidFill>
                  </a:tcPr>
                </a:tc>
                <a:tc>
                  <a:txBody>
                    <a:bodyPr wrap="square"/>
                    <a:lstStyle/>
                    <a:p>
                      <a:r>
                        <a:rPr sz="1400" b="0" i="0">
                          <a:solidFill>
                            <a:srgbClr val="0B0B0B"/>
                          </a:solidFill>
                          <a:latin typeface="Arial"/>
                        </a:rPr>
                        <a:t>SPF/DKIM/DMARC, tên hiển thị mạo danh (Gmail giả 'Phòng Đào tạo'), Reply-To khác, tên miền nhái (typo, homoglyph, chèn tên trường)</a:t>
                      </a:r>
                    </a:p>
                  </a:txBody>
                  <a:tcPr marL="64008" marR="64008" marT="27432" marB="27432" anchor="ctr">
                    <a:solidFill>
                      <a:srgbClr val="FFFFFF"/>
                    </a:solidFill>
                  </a:tcPr>
                </a:tc>
              </a:tr>
              <a:tr h="566928">
                <a:tc>
                  <a:txBody>
                    <a:bodyPr wrap="square"/>
                    <a:lstStyle/>
                    <a:p>
                      <a:r>
                        <a:rPr sz="1400" b="1" i="0">
                          <a:solidFill>
                            <a:srgbClr val="0B0B0B"/>
                          </a:solidFill>
                          <a:latin typeface="Arial"/>
                        </a:rPr>
                        <a:t>Liên kết</a:t>
                      </a:r>
                    </a:p>
                  </a:txBody>
                  <a:tcPr marL="64008" marR="64008" marT="27432" marB="27432" anchor="ctr">
                    <a:solidFill>
                      <a:srgbClr val="F9F9F7"/>
                    </a:solidFill>
                  </a:tcPr>
                </a:tc>
                <a:tc>
                  <a:txBody>
                    <a:bodyPr wrap="square"/>
                    <a:lstStyle/>
                    <a:p>
                      <a:r>
                        <a:rPr sz="1400" b="0" i="0">
                          <a:solidFill>
                            <a:srgbClr val="0B0B0B"/>
                          </a:solidFill>
                          <a:latin typeface="Arial"/>
                        </a:rPr>
                        <a:t>Chữ hiển thị ≠ địa chỉ thật, link rút gọn, IP, đuôi .top/.click/.xyz, đường dẫn đăng nhập</a:t>
                      </a:r>
                    </a:p>
                  </a:txBody>
                  <a:tcPr marL="64008" marR="64008" marT="27432" marB="27432" anchor="ctr">
                    <a:solidFill>
                      <a:srgbClr val="F9F9F7"/>
                    </a:solidFill>
                  </a:tcPr>
                </a:tc>
              </a:tr>
              <a:tr h="566928">
                <a:tc>
                  <a:txBody>
                    <a:bodyPr wrap="square"/>
                    <a:lstStyle/>
                    <a:p>
                      <a:r>
                        <a:rPr sz="1400" b="1" i="0">
                          <a:solidFill>
                            <a:srgbClr val="0B0B0B"/>
                          </a:solidFill>
                          <a:latin typeface="Arial"/>
                        </a:rPr>
                        <a:t>Nội dung</a:t>
                      </a:r>
                    </a:p>
                  </a:txBody>
                  <a:tcPr marL="64008" marR="64008" marT="27432" marB="27432" anchor="ctr">
                    <a:solidFill>
                      <a:srgbClr val="FFFFFF"/>
                    </a:solidFill>
                  </a:tcPr>
                </a:tc>
                <a:tc>
                  <a:txBody>
                    <a:bodyPr wrap="square"/>
                    <a:lstStyle/>
                    <a:p>
                      <a:r>
                        <a:rPr sz="1400" b="0" i="0">
                          <a:solidFill>
                            <a:srgbClr val="0B0B0B"/>
                          </a:solidFill>
                          <a:latin typeface="Arial"/>
                        </a:rPr>
                        <a:t>KD-BiLSTM của bài báo (giải thích bằng attention) + 8 nhóm thủ đoạn tâm lý (vi/en)</a:t>
                      </a:r>
                    </a:p>
                  </a:txBody>
                  <a:tcPr marL="64008" marR="64008" marT="27432" marB="27432" anchor="ctr">
                    <a:solidFill>
                      <a:srgbClr val="FFFFFF"/>
                    </a:solidFill>
                  </a:tcPr>
                </a:tc>
              </a:tr>
              <a:tr h="566928">
                <a:tc>
                  <a:txBody>
                    <a:bodyPr wrap="square"/>
                    <a:lstStyle/>
                    <a:p>
                      <a:r>
                        <a:rPr sz="1400" b="1" i="0">
                          <a:solidFill>
                            <a:srgbClr val="0B0B0B"/>
                          </a:solidFill>
                          <a:latin typeface="Arial"/>
                        </a:rPr>
                        <a:t>Ảnh &amp; QR</a:t>
                      </a:r>
                    </a:p>
                  </a:txBody>
                  <a:tcPr marL="64008" marR="64008" marT="27432" marB="27432" anchor="ctr">
                    <a:solidFill>
                      <a:srgbClr val="F9F9F7"/>
                    </a:solidFill>
                  </a:tcPr>
                </a:tc>
                <a:tc>
                  <a:txBody>
                    <a:bodyPr wrap="square"/>
                    <a:lstStyle/>
                    <a:p>
                      <a:r>
                        <a:rPr sz="1400" b="0" i="0">
                          <a:solidFill>
                            <a:srgbClr val="0B0B0B"/>
                          </a:solidFill>
                          <a:latin typeface="Arial"/>
                        </a:rPr>
                        <a:t>OCR tiếng Việt (EasyOCR), giải mã QR (OpenCV); chữ trong ảnh được phân tích như nội dung</a:t>
                      </a:r>
                    </a:p>
                  </a:txBody>
                  <a:tcPr marL="64008" marR="64008" marT="27432" marB="27432" anchor="ctr">
                    <a:solidFill>
                      <a:srgbClr val="F9F9F7"/>
                    </a:solidFill>
                  </a:tcPr>
                </a:tc>
              </a:tr>
              <a:tr h="566928">
                <a:tc>
                  <a:txBody>
                    <a:bodyPr wrap="square"/>
                    <a:lstStyle/>
                    <a:p>
                      <a:r>
                        <a:rPr sz="1400" b="1" i="0">
                          <a:solidFill>
                            <a:srgbClr val="0B0B0B"/>
                          </a:solidFill>
                          <a:latin typeface="Arial"/>
                        </a:rPr>
                        <a:t>Tệp đính kèm</a:t>
                      </a:r>
                    </a:p>
                  </a:txBody>
                  <a:tcPr marL="64008" marR="64008" marT="27432" marB="27432" anchor="ctr">
                    <a:solidFill>
                      <a:srgbClr val="FFFFFF"/>
                    </a:solidFill>
                  </a:tcPr>
                </a:tc>
                <a:tc>
                  <a:txBody>
                    <a:bodyPr wrap="square"/>
                    <a:lstStyle/>
                    <a:p>
                      <a:r>
                        <a:rPr sz="1400" b="0" i="0">
                          <a:solidFill>
                            <a:srgbClr val="0B0B0B"/>
                          </a:solidFill>
                          <a:latin typeface="Arial"/>
                        </a:rPr>
                        <a:t>Phân tích tĩnh: magic bytes, đuôi kép .pdf.exe, macro Office, PDF JavaScript, HTML đăng nhập giả / smuggling, ZIP có mật khẩu</a:t>
                      </a:r>
                    </a:p>
                  </a:txBody>
                  <a:tcPr marL="64008" marR="64008" marT="27432" marB="27432" anchor="ctr">
                    <a:solidFill>
                      <a:srgbClr val="FFFFFF"/>
                    </a:solidFill>
                  </a:tcPr>
                </a:tc>
              </a:tr>
            </a:tbl>
          </a:graphicData>
        </a:graphic>
      </p:graphicFrame>
      <p:sp>
        <p:nvSpPr>
          <p:cNvPr id="7" name="TextBox 6"/>
          <p:cNvSpPr txBox="1"/>
          <p:nvPr/>
        </p:nvSpPr>
        <p:spPr>
          <a:xfrm>
            <a:off x="548640" y="5029200"/>
            <a:ext cx="11155680" cy="1097280"/>
          </a:xfrm>
          <a:prstGeom prst="rect">
            <a:avLst/>
          </a:prstGeom>
          <a:noFill/>
        </p:spPr>
        <p:txBody>
          <a:bodyPr wrap="square" anchor="t" lIns="45720" rIns="45720">
            <a:spAutoFit/>
          </a:bodyPr>
          <a:lstStyle/>
          <a:p>
            <a:pPr>
              <a:spcAft>
                <a:spcPts val="600"/>
              </a:spcAft>
            </a:pPr>
            <a:r>
              <a:rPr sz="1500" b="0" i="0">
                <a:solidFill>
                  <a:srgbClr val="52514E"/>
                </a:solidFill>
                <a:latin typeface="Arial"/>
              </a:rPr>
              <a:t>Văn bản lấy từ OCR ảnh và từ tệp đính kèm được đưa lại vào kênh nội dung; URL từ QR, ảnh, tệp được đưa vào kênh liên kết → thông điệp “chuyển kênh” vẫn bị phân tích.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II · NỘI DUNG THỰC HIỆN</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B. Kế thừa KD-BiLSTM của bài báo ở kênh nội dung</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18</a:t>
            </a:r>
          </a:p>
        </p:txBody>
      </p:sp>
      <p:sp>
        <p:nvSpPr>
          <p:cNvPr id="6" name="TextBox 5"/>
          <p:cNvSpPr txBox="1"/>
          <p:nvPr/>
        </p:nvSpPr>
        <p:spPr>
          <a:xfrm>
            <a:off x="548640" y="1463040"/>
            <a:ext cx="5852160" cy="4572000"/>
          </a:xfrm>
          <a:prstGeom prst="rect">
            <a:avLst/>
          </a:prstGeom>
          <a:noFill/>
        </p:spPr>
        <p:txBody>
          <a:bodyPr wrap="square" anchor="t" lIns="45720" rIns="45720">
            <a:spAutoFit/>
          </a:bodyPr>
          <a:lstStyle/>
          <a:p>
            <a:pPr>
              <a:spcAft>
                <a:spcPts val="900"/>
              </a:spcAft>
            </a:pPr>
            <a:r>
              <a:rPr sz="1600" b="0" i="0">
                <a:solidFill>
                  <a:srgbClr val="2A78D6"/>
                </a:solidFill>
                <a:latin typeface="Arial"/>
              </a:rPr>
              <a:t>•  </a:t>
            </a:r>
            <a:r>
              <a:rPr sz="1600" b="1" i="0">
                <a:solidFill>
                  <a:srgbClr val="0B0B0B"/>
                </a:solidFill>
                <a:latin typeface="Arial"/>
              </a:rPr>
              <a:t>Huấn luyện lại đúng quy trình đã tái hiện </a:t>
            </a:r>
            <a:r>
              <a:rPr sz="1600" b="0" i="0">
                <a:solidFill>
                  <a:srgbClr val="0B0B0B"/>
                </a:solidFill>
                <a:latin typeface="Arial"/>
              </a:rPr>
              <a:t>trên email trường học tiếng Việt + tiếng Anh, có bản viết lại kiểu LLM</a:t>
            </a:r>
          </a:p>
          <a:p>
            <a:pPr>
              <a:spcAft>
                <a:spcPts val="900"/>
              </a:spcAft>
            </a:pPr>
            <a:r>
              <a:rPr sz="1600" b="0" i="0">
                <a:solidFill>
                  <a:srgbClr val="2A78D6"/>
                </a:solidFill>
                <a:latin typeface="Arial"/>
              </a:rPr>
              <a:t>•  </a:t>
            </a:r>
            <a:r>
              <a:rPr sz="1600" b="1" i="0">
                <a:solidFill>
                  <a:srgbClr val="0B0B0B"/>
                </a:solidFill>
                <a:latin typeface="Arial"/>
              </a:rPr>
              <a:t>Attention → giải thích: </a:t>
            </a:r>
            <a:r>
              <a:rPr sz="1600" b="0" i="0">
                <a:solidFill>
                  <a:srgbClr val="0B0B0B"/>
                </a:solidFill>
                <a:latin typeface="Arial"/>
              </a:rPr>
              <a:t>hiển thị từ được chú ý nhiều nhất, ánh xạ về chữ gốc có dấu qua offset mapping</a:t>
            </a:r>
          </a:p>
          <a:p>
            <a:pPr>
              <a:spcAft>
                <a:spcPts val="900"/>
              </a:spcAft>
            </a:pPr>
            <a:r>
              <a:rPr sz="1600" b="0" i="0">
                <a:solidFill>
                  <a:srgbClr val="2A78D6"/>
                </a:solidFill>
                <a:latin typeface="Arial"/>
              </a:rPr>
              <a:t>•  </a:t>
            </a:r>
            <a:r>
              <a:rPr sz="1600" b="1" i="0">
                <a:solidFill>
                  <a:srgbClr val="0B0B0B"/>
                </a:solidFill>
                <a:latin typeface="Arial"/>
              </a:rPr>
              <a:t>Che URL &amp; địa chỉ email </a:t>
            </a:r>
            <a:r>
              <a:rPr sz="1600" b="0" i="0">
                <a:solidFill>
                  <a:srgbClr val="0B0B0B"/>
                </a:solidFill>
                <a:latin typeface="Arial"/>
              </a:rPr>
              <a:t>trước mô hình → học ngôn ngữ, không học “có tên miền = lừa đảo”</a:t>
            </a:r>
          </a:p>
          <a:p>
            <a:pPr>
              <a:spcAft>
                <a:spcPts val="900"/>
              </a:spcAft>
            </a:pPr>
            <a:r>
              <a:rPr sz="1600" b="0" i="0">
                <a:solidFill>
                  <a:srgbClr val="2A78D6"/>
                </a:solidFill>
                <a:latin typeface="Arial"/>
              </a:rPr>
              <a:t>•  </a:t>
            </a:r>
            <a:r>
              <a:rPr sz="1600" b="1" i="0">
                <a:solidFill>
                  <a:srgbClr val="0B0B0B"/>
                </a:solidFill>
                <a:latin typeface="Arial"/>
              </a:rPr>
              <a:t>8 nhóm thủ đoạn tâm lý (vi/en) </a:t>
            </a:r>
            <a:r>
              <a:rPr sz="1600" b="0" i="0">
                <a:solidFill>
                  <a:srgbClr val="0B0B0B"/>
                </a:solidFill>
                <a:latin typeface="Arial"/>
              </a:rPr>
              <a:t>rút từ bộ câu hỏi chấm mức phishing của bài báo</a:t>
            </a:r>
          </a:p>
          <a:p>
            <a:pPr>
              <a:spcAft>
                <a:spcPts val="900"/>
              </a:spcAft>
            </a:pPr>
            <a:r>
              <a:rPr sz="1600" b="0" i="0">
                <a:solidFill>
                  <a:srgbClr val="2A78D6"/>
                </a:solidFill>
                <a:latin typeface="Arial"/>
              </a:rPr>
              <a:t>•  </a:t>
            </a:r>
            <a:r>
              <a:rPr sz="1600" b="1" i="0">
                <a:solidFill>
                  <a:srgbClr val="0B0B0B"/>
                </a:solidFill>
                <a:latin typeface="Arial"/>
              </a:rPr>
              <a:t>Có mô hình TF-IDF để đối chiếu </a:t>
            </a:r>
            <a:r>
              <a:rPr sz="1600" b="0" i="0">
                <a:solidFill>
                  <a:srgbClr val="0B0B0B"/>
                </a:solidFill>
                <a:latin typeface="Arial"/>
              </a:rPr>
              <a:t>(chọn trên giao diện)</a:t>
            </a:r>
          </a:p>
        </p:txBody>
      </p:sp>
      <p:pic>
        <p:nvPicPr>
          <p:cNvPr id="7" name="Picture 6" descr="c_qr_evidence.png"/>
          <p:cNvPicPr>
            <a:picLocks noChangeAspect="1"/>
          </p:cNvPicPr>
          <p:nvPr/>
        </p:nvPicPr>
        <p:blipFill>
          <a:blip r:embed="rId2"/>
          <a:stretch>
            <a:fillRect/>
          </a:stretch>
        </p:blipFill>
        <p:spPr>
          <a:xfrm>
            <a:off x="6675120" y="1417320"/>
            <a:ext cx="5029200" cy="3265081"/>
          </a:xfrm>
          <a:prstGeom prst="rect">
            <a:avLst/>
          </a:prstGeom>
          <a:ln w="9525">
            <a:solidFill>
              <a:srgbClr val="E1E0D9"/>
            </a:solidFill>
          </a:ln>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II · NỘI DUNG THỰC HIỆN</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B. Corpus email trường học tiếng Việt</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19</a:t>
            </a:r>
          </a:p>
        </p:txBody>
      </p:sp>
      <p:sp>
        <p:nvSpPr>
          <p:cNvPr id="6" name="TextBox 5"/>
          <p:cNvSpPr txBox="1"/>
          <p:nvPr/>
        </p:nvSpPr>
        <p:spPr>
          <a:xfrm>
            <a:off x="548640" y="1463040"/>
            <a:ext cx="6583680" cy="4572000"/>
          </a:xfrm>
          <a:prstGeom prst="rect">
            <a:avLst/>
          </a:prstGeom>
          <a:noFill/>
        </p:spPr>
        <p:txBody>
          <a:bodyPr wrap="square" anchor="t" lIns="45720" rIns="45720">
            <a:spAutoFit/>
          </a:bodyPr>
          <a:lstStyle/>
          <a:p>
            <a:pPr>
              <a:spcAft>
                <a:spcPts val="900"/>
              </a:spcAft>
            </a:pPr>
            <a:r>
              <a:rPr sz="1600" b="0" i="0">
                <a:solidFill>
                  <a:srgbClr val="2A78D6"/>
                </a:solidFill>
                <a:latin typeface="Arial"/>
              </a:rPr>
              <a:t>•  </a:t>
            </a:r>
            <a:r>
              <a:rPr sz="1600" b="1" i="0">
                <a:solidFill>
                  <a:srgbClr val="0B0B0B"/>
                </a:solidFill>
                <a:latin typeface="Arial"/>
              </a:rPr>
              <a:t>15 dạng tấn công: </a:t>
            </a:r>
            <a:r>
              <a:rPr sz="1600" b="0" i="0">
                <a:solidFill>
                  <a:srgbClr val="0B0B0B"/>
                </a:solidFill>
                <a:latin typeface="Arial"/>
              </a:rPr>
              <a:t>khóa tài khoản, học bổng giả, học phí giả, tuyển CTV, thầy nhờ mua thẻ cào, macro, hóa đơn điện tử, mã QR…</a:t>
            </a:r>
          </a:p>
          <a:p>
            <a:pPr>
              <a:spcAft>
                <a:spcPts val="900"/>
              </a:spcAft>
            </a:pPr>
            <a:r>
              <a:rPr sz="1600" b="0" i="0">
                <a:solidFill>
                  <a:srgbClr val="2A78D6"/>
                </a:solidFill>
                <a:latin typeface="Arial"/>
              </a:rPr>
              <a:t>•  </a:t>
            </a:r>
            <a:r>
              <a:rPr sz="1600" b="1" i="0">
                <a:solidFill>
                  <a:srgbClr val="0B0B0B"/>
                </a:solidFill>
                <a:latin typeface="Arial"/>
              </a:rPr>
              <a:t>21 dạng email hợp lệ, </a:t>
            </a:r>
            <a:r>
              <a:rPr sz="1600" b="0" i="0">
                <a:solidFill>
                  <a:srgbClr val="0B0B0B"/>
                </a:solidFill>
                <a:latin typeface="Arial"/>
              </a:rPr>
              <a:t>kể cả email “khó”: có link chính thức, tệp, QR, hạn chót, chữ “mật khẩu”</a:t>
            </a:r>
          </a:p>
          <a:p>
            <a:pPr>
              <a:spcAft>
                <a:spcPts val="900"/>
              </a:spcAft>
            </a:pPr>
            <a:r>
              <a:rPr sz="1600" b="0" i="0">
                <a:solidFill>
                  <a:srgbClr val="2A78D6"/>
                </a:solidFill>
                <a:latin typeface="Arial"/>
              </a:rPr>
              <a:t>•  </a:t>
            </a:r>
            <a:r>
              <a:rPr sz="1600" b="1" i="0">
                <a:solidFill>
                  <a:srgbClr val="0B0B0B"/>
                </a:solidFill>
                <a:latin typeface="Arial"/>
              </a:rPr>
              <a:t>Phép biến đổi kiểu LLM cho tiếng Việt: </a:t>
            </a:r>
            <a:r>
              <a:rPr sz="1600" b="0" i="0">
                <a:solidFill>
                  <a:srgbClr val="0B0B0B"/>
                </a:solidFill>
                <a:latin typeface="Arial"/>
              </a:rPr>
              <a:t>paraphrase / masking / personalization</a:t>
            </a:r>
          </a:p>
          <a:p>
            <a:pPr>
              <a:spcAft>
                <a:spcPts val="900"/>
              </a:spcAft>
            </a:pPr>
            <a:r>
              <a:rPr sz="1600" b="0" i="0">
                <a:solidFill>
                  <a:srgbClr val="2A78D6"/>
                </a:solidFill>
                <a:latin typeface="Arial"/>
              </a:rPr>
              <a:t>•  </a:t>
            </a:r>
            <a:r>
              <a:rPr sz="1600" b="1" i="0">
                <a:solidFill>
                  <a:srgbClr val="0B0B0B"/>
                </a:solidFill>
                <a:latin typeface="Arial"/>
              </a:rPr>
              <a:t>Email hợp lệ cũng được cá nhân hóa </a:t>
            </a:r>
            <a:r>
              <a:rPr sz="1600" b="0" i="0">
                <a:solidFill>
                  <a:srgbClr val="0B0B0B"/>
                </a:solidFill>
                <a:latin typeface="Arial"/>
              </a:rPr>
              <a:t>để văn phong lịch sự không thành dấu hiệu</a:t>
            </a:r>
          </a:p>
          <a:p>
            <a:pPr>
              <a:spcAft>
                <a:spcPts val="900"/>
              </a:spcAft>
            </a:pPr>
            <a:r>
              <a:rPr sz="1600" b="0" i="0">
                <a:solidFill>
                  <a:srgbClr val="2A78D6"/>
                </a:solidFill>
                <a:latin typeface="Arial"/>
              </a:rPr>
              <a:t>•  </a:t>
            </a:r>
            <a:r>
              <a:rPr sz="1600" b="1" i="0">
                <a:solidFill>
                  <a:srgbClr val="0B0B0B"/>
                </a:solidFill>
                <a:latin typeface="Arial"/>
              </a:rPr>
              <a:t>12 email mẫu .eml </a:t>
            </a:r>
            <a:r>
              <a:rPr sz="1600" b="0" i="0">
                <a:solidFill>
                  <a:srgbClr val="0B0B0B"/>
                </a:solidFill>
                <a:latin typeface="Arial"/>
              </a:rPr>
              <a:t>bao phủ các tình huống điển hình (tệp “độc” đều là tệp giả vô hại)</a:t>
            </a:r>
          </a:p>
        </p:txBody>
      </p:sp>
      <p:sp>
        <p:nvSpPr>
          <p:cNvPr id="7" name="Rounded Rectangle 6"/>
          <p:cNvSpPr/>
          <p:nvPr/>
        </p:nvSpPr>
        <p:spPr>
          <a:xfrm>
            <a:off x="7498079" y="1554480"/>
            <a:ext cx="4206240" cy="2194560"/>
          </a:xfrm>
          <a:prstGeom prst="roundRect">
            <a:avLst>
              <a:gd name="adj" fmla="val 6000"/>
            </a:avLst>
          </a:prstGeom>
          <a:solidFill>
            <a:srgbClr val="CDE2FB"/>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35239" y="1664208"/>
            <a:ext cx="3931920" cy="2011680"/>
          </a:xfrm>
          <a:prstGeom prst="rect">
            <a:avLst/>
          </a:prstGeom>
          <a:noFill/>
        </p:spPr>
        <p:txBody>
          <a:bodyPr wrap="square" anchor="t" lIns="45720" rIns="45720">
            <a:spAutoFit/>
          </a:bodyPr>
          <a:lstStyle/>
          <a:p>
            <a:pPr>
              <a:spcAft>
                <a:spcPts val="400"/>
              </a:spcAft>
            </a:pPr>
            <a:r>
              <a:rPr sz="1500" b="1" i="0">
                <a:solidFill>
                  <a:srgbClr val="2A78D6"/>
                </a:solidFill>
                <a:latin typeface="Arial"/>
              </a:rPr>
              <a:t>Chia template train / held-out</a:t>
            </a:r>
          </a:p>
          <a:p>
            <a:pPr>
              <a:spcAft>
                <a:spcPts val="600"/>
              </a:spcAft>
            </a:pPr>
            <a:r>
              <a:rPr sz="1300" b="0" i="0">
                <a:solidFill>
                  <a:srgbClr val="52514E"/>
                </a:solidFill>
                <a:latin typeface="Arial"/>
              </a:rPr>
              <a:t>Cứ 3 template giữ lại 1 chỉ để đánh giá. Nếu train và test chung cách viết, mô hình đạt ~100% một cách giả tạo.</a:t>
            </a:r>
          </a:p>
        </p:txBody>
      </p:sp>
      <p:sp>
        <p:nvSpPr>
          <p:cNvPr id="9" name="Rounded Rectangle 8"/>
          <p:cNvSpPr/>
          <p:nvPr/>
        </p:nvSpPr>
        <p:spPr>
          <a:xfrm>
            <a:off x="7498079" y="3931920"/>
            <a:ext cx="4206240" cy="201168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35239" y="4041648"/>
            <a:ext cx="3931920" cy="1828800"/>
          </a:xfrm>
          <a:prstGeom prst="rect">
            <a:avLst/>
          </a:prstGeom>
          <a:noFill/>
        </p:spPr>
        <p:txBody>
          <a:bodyPr wrap="square" anchor="t" lIns="45720" rIns="45720">
            <a:spAutoFit/>
          </a:bodyPr>
          <a:lstStyle/>
          <a:p>
            <a:pPr>
              <a:spcAft>
                <a:spcPts val="400"/>
              </a:spcAft>
            </a:pPr>
            <a:r>
              <a:rPr sz="1500" b="1" i="0">
                <a:solidFill>
                  <a:srgbClr val="0B0B0B"/>
                </a:solidFill>
                <a:latin typeface="Arial"/>
              </a:rPr>
              <a:t>Cấu hình theo trường</a:t>
            </a:r>
          </a:p>
          <a:p>
            <a:pPr>
              <a:spcAft>
                <a:spcPts val="600"/>
              </a:spcAft>
            </a:pPr>
            <a:r>
              <a:rPr sz="1300" b="0" i="0">
                <a:solidFill>
                  <a:srgbClr val="52514E"/>
                </a:solidFill>
                <a:latin typeface="Arial"/>
              </a:rPr>
              <a:t>Tên trường, tên miền chính thức, thương hiệu hay bị giả mạo, bật/tắt OCR — trong phishlens/config.py.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II · NỘI DUNG THỰC HIỆN · DEMO</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Demo: email chỉ có ảnh + mã QR (quishing)</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20</a:t>
            </a:r>
          </a:p>
        </p:txBody>
      </p:sp>
      <p:pic>
        <p:nvPicPr>
          <p:cNvPr id="6" name="Picture 5" descr="s04_qr_m365_top.png"/>
          <p:cNvPicPr>
            <a:picLocks noChangeAspect="1"/>
          </p:cNvPicPr>
          <p:nvPr/>
        </p:nvPicPr>
        <p:blipFill>
          <a:blip r:embed="rId2"/>
          <a:stretch>
            <a:fillRect/>
          </a:stretch>
        </p:blipFill>
        <p:spPr>
          <a:xfrm>
            <a:off x="457200" y="1371600"/>
            <a:ext cx="7315200" cy="4572000"/>
          </a:xfrm>
          <a:prstGeom prst="rect">
            <a:avLst/>
          </a:prstGeom>
          <a:ln w="9525">
            <a:solidFill>
              <a:srgbClr val="E1E0D9"/>
            </a:solidFill>
          </a:ln>
        </p:spPr>
      </p:pic>
      <p:pic>
        <p:nvPicPr>
          <p:cNvPr id="7" name="Picture 6" descr="c_qr_figure.png"/>
          <p:cNvPicPr>
            <a:picLocks noChangeAspect="1"/>
          </p:cNvPicPr>
          <p:nvPr/>
        </p:nvPicPr>
        <p:blipFill>
          <a:blip r:embed="rId3"/>
          <a:stretch>
            <a:fillRect/>
          </a:stretch>
        </p:blipFill>
        <p:spPr>
          <a:xfrm>
            <a:off x="8046720" y="1371600"/>
            <a:ext cx="3657600" cy="3392905"/>
          </a:xfrm>
          <a:prstGeom prst="rect">
            <a:avLst/>
          </a:prstGeom>
          <a:ln w="9525">
            <a:solidFill>
              <a:srgbClr val="E1E0D9"/>
            </a:solidFill>
          </a:ln>
        </p:spPr>
      </p:pic>
      <p:sp>
        <p:nvSpPr>
          <p:cNvPr id="8" name="TextBox 7"/>
          <p:cNvSpPr txBox="1"/>
          <p:nvPr/>
        </p:nvSpPr>
        <p:spPr>
          <a:xfrm>
            <a:off x="8046720" y="5394960"/>
            <a:ext cx="3657600" cy="1097280"/>
          </a:xfrm>
          <a:prstGeom prst="rect">
            <a:avLst/>
          </a:prstGeom>
          <a:noFill/>
        </p:spPr>
        <p:txBody>
          <a:bodyPr wrap="square" anchor="t" lIns="45720" rIns="45720">
            <a:spAutoFit/>
          </a:bodyPr>
          <a:lstStyle/>
          <a:p>
            <a:pPr>
              <a:spcAft>
                <a:spcPts val="600"/>
              </a:spcAft>
            </a:pPr>
            <a:r>
              <a:rPr sz="1300" b="0" i="0">
                <a:solidFill>
                  <a:srgbClr val="52514E"/>
                </a:solidFill>
                <a:latin typeface="Arial"/>
              </a:rPr>
              <a:t>OCR đọc chữ tiếng Việt trong ảnh; QR giải mã ra link .click giả mạo tên trường → Rất nguy hiểm.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II · NỘI DUNG THỰC HIỆN · DEMO</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Demo: tệp đính kèm &amp; mạo danh thầy cô</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21</a:t>
            </a:r>
          </a:p>
        </p:txBody>
      </p:sp>
      <p:pic>
        <p:nvPicPr>
          <p:cNvPr id="6" name="Picture 5" descr="c_zip_att.png"/>
          <p:cNvPicPr>
            <a:picLocks noChangeAspect="1"/>
          </p:cNvPicPr>
          <p:nvPr/>
        </p:nvPicPr>
        <p:blipFill>
          <a:blip r:embed="rId2"/>
          <a:stretch>
            <a:fillRect/>
          </a:stretch>
        </p:blipFill>
        <p:spPr>
          <a:xfrm>
            <a:off x="457200" y="1371600"/>
            <a:ext cx="5669280" cy="2362200"/>
          </a:xfrm>
          <a:prstGeom prst="rect">
            <a:avLst/>
          </a:prstGeom>
          <a:ln w="9525">
            <a:solidFill>
              <a:srgbClr val="E1E0D9"/>
            </a:solidFill>
          </a:ln>
        </p:spPr>
      </p:pic>
      <p:sp>
        <p:nvSpPr>
          <p:cNvPr id="7" name="TextBox 6"/>
          <p:cNvSpPr txBox="1"/>
          <p:nvPr/>
        </p:nvSpPr>
        <p:spPr>
          <a:xfrm>
            <a:off x="457200" y="4754880"/>
            <a:ext cx="5669280" cy="1463040"/>
          </a:xfrm>
          <a:prstGeom prst="rect">
            <a:avLst/>
          </a:prstGeom>
          <a:noFill/>
        </p:spPr>
        <p:txBody>
          <a:bodyPr wrap="square" anchor="t" lIns="45720" rIns="45720">
            <a:spAutoFit/>
          </a:bodyPr>
          <a:lstStyle/>
          <a:p>
            <a:pPr>
              <a:spcAft>
                <a:spcPts val="600"/>
              </a:spcAft>
            </a:pPr>
            <a:r>
              <a:rPr sz="1300" b="0" i="0">
                <a:solidFill>
                  <a:srgbClr val="52514E"/>
                </a:solidFill>
                <a:latin typeface="Arial"/>
              </a:rPr>
              <a:t>ZIP có mật khẩu chứa HoaDon_T10.pdf.exe: không giải nén được nhưng vẫn đọc tên tệp bên trong → đuôi kép + tệp chạy được. Tệp không bao giờ được mở.</a:t>
            </a:r>
          </a:p>
        </p:txBody>
      </p:sp>
      <p:pic>
        <p:nvPicPr>
          <p:cNvPr id="8" name="Picture 7" descr="s08_the_cao_top.png"/>
          <p:cNvPicPr>
            <a:picLocks noChangeAspect="1"/>
          </p:cNvPicPr>
          <p:nvPr/>
        </p:nvPicPr>
        <p:blipFill>
          <a:blip r:embed="rId3"/>
          <a:stretch>
            <a:fillRect/>
          </a:stretch>
        </p:blipFill>
        <p:spPr>
          <a:xfrm>
            <a:off x="6400800" y="1371600"/>
            <a:ext cx="5394960" cy="3371850"/>
          </a:xfrm>
          <a:prstGeom prst="rect">
            <a:avLst/>
          </a:prstGeom>
          <a:ln w="9525">
            <a:solidFill>
              <a:srgbClr val="E1E0D9"/>
            </a:solidFill>
          </a:ln>
        </p:spPr>
      </p:pic>
      <p:sp>
        <p:nvSpPr>
          <p:cNvPr id="9" name="TextBox 8"/>
          <p:cNvSpPr txBox="1"/>
          <p:nvPr/>
        </p:nvSpPr>
        <p:spPr>
          <a:xfrm>
            <a:off x="6400800" y="4754880"/>
            <a:ext cx="5394960" cy="1463040"/>
          </a:xfrm>
          <a:prstGeom prst="rect">
            <a:avLst/>
          </a:prstGeom>
          <a:noFill/>
        </p:spPr>
        <p:txBody>
          <a:bodyPr wrap="square" anchor="t" lIns="45720" rIns="45720">
            <a:spAutoFit/>
          </a:bodyPr>
          <a:lstStyle/>
          <a:p>
            <a:pPr>
              <a:spcAft>
                <a:spcPts val="600"/>
              </a:spcAft>
            </a:pPr>
            <a:r>
              <a:rPr sz="1300" b="0" i="0">
                <a:solidFill>
                  <a:srgbClr val="52514E"/>
                </a:solidFill>
                <a:latin typeface="Arial"/>
              </a:rPr>
              <a:t>“Thầy nhờ mua thẻ cào”: không link, không tệp. Mô hình văn bản chỉ cho 4%, hệ đa kênh chấm 78/100 nhờ tên hiển thị mạo danh + yêu cầu giữ bí mật + đòi mã thẻ.</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II · NỘI DUNG THỰC HIỆN · DEMO</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Demo: 12 email mẫu &amp; chế độ luyện tập</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22</a:t>
            </a:r>
          </a:p>
        </p:txBody>
      </p:sp>
      <p:graphicFrame>
        <p:nvGraphicFramePr>
          <p:cNvPr id="6" name="Table 5"/>
          <p:cNvGraphicFramePr>
            <a:graphicFrameLocks noGrp="1"/>
          </p:cNvGraphicFramePr>
          <p:nvPr/>
        </p:nvGraphicFramePr>
        <p:xfrm>
          <a:off x="457200" y="1325880"/>
          <a:ext cx="5486400" cy="4636008"/>
        </p:xfrm>
        <a:graphic>
          <a:graphicData uri="http://schemas.openxmlformats.org/drawingml/2006/table">
            <a:tbl>
              <a:tblPr firstRow="1" bandRow="1">
                <a:tableStyleId>{5C22544A-7EE6-4342-B048-85BDC9FD1C3A}</a:tableStyleId>
              </a:tblPr>
              <a:tblGrid>
                <a:gridCol w="3657600"/>
                <a:gridCol w="609600"/>
                <a:gridCol w="1219200"/>
              </a:tblGrid>
              <a:tr h="356616">
                <a:tc>
                  <a:txBody>
                    <a:bodyPr wrap="square"/>
                    <a:lstStyle/>
                    <a:p>
                      <a:r>
                        <a:rPr sz="1100" b="1" i="0">
                          <a:solidFill>
                            <a:srgbClr val="0B0B0B"/>
                          </a:solidFill>
                          <a:latin typeface="Arial"/>
                        </a:rPr>
                        <a:t>Email mẫu</a:t>
                      </a:r>
                    </a:p>
                  </a:txBody>
                  <a:tcPr marL="64008" marR="64008" marT="27432" marB="27432" anchor="ctr">
                    <a:solidFill>
                      <a:srgbClr val="CDE2FB"/>
                    </a:solidFill>
                  </a:tcPr>
                </a:tc>
                <a:tc>
                  <a:txBody>
                    <a:bodyPr wrap="square"/>
                    <a:lstStyle/>
                    <a:p>
                      <a:r>
                        <a:rPr sz="1100" b="1" i="0">
                          <a:solidFill>
                            <a:srgbClr val="0B0B0B"/>
                          </a:solidFill>
                          <a:latin typeface="Arial"/>
                        </a:rPr>
                        <a:t>Điểm</a:t>
                      </a:r>
                    </a:p>
                  </a:txBody>
                  <a:tcPr marL="64008" marR="64008" marT="27432" marB="27432" anchor="ctr">
                    <a:solidFill>
                      <a:srgbClr val="CDE2FB"/>
                    </a:solidFill>
                  </a:tcPr>
                </a:tc>
                <a:tc>
                  <a:txBody>
                    <a:bodyPr wrap="square"/>
                    <a:lstStyle/>
                    <a:p>
                      <a:r>
                        <a:rPr sz="1100" b="1" i="0">
                          <a:solidFill>
                            <a:srgbClr val="0B0B0B"/>
                          </a:solidFill>
                          <a:latin typeface="Arial"/>
                        </a:rPr>
                        <a:t>Mức</a:t>
                      </a:r>
                    </a:p>
                  </a:txBody>
                  <a:tcPr marL="64008" marR="64008" marT="27432" marB="27432" anchor="ctr">
                    <a:solidFill>
                      <a:srgbClr val="CDE2FB"/>
                    </a:solidFill>
                  </a:tcPr>
                </a:tc>
              </a:tr>
              <a:tr h="356616">
                <a:tc>
                  <a:txBody>
                    <a:bodyPr wrap="square"/>
                    <a:lstStyle/>
                    <a:p>
                      <a:r>
                        <a:rPr sz="1100" b="0" i="0">
                          <a:solidFill>
                            <a:srgbClr val="0B0B0B"/>
                          </a:solidFill>
                          <a:latin typeface="Arial"/>
                        </a:rPr>
                        <a:t>Lịch thi cuối kỳ (thật)</a:t>
                      </a:r>
                    </a:p>
                  </a:txBody>
                  <a:tcPr marL="64008" marR="64008" marT="27432" marB="27432" anchor="ctr">
                    <a:solidFill>
                      <a:srgbClr val="FFFFFF"/>
                    </a:solidFill>
                  </a:tcPr>
                </a:tc>
                <a:tc>
                  <a:txBody>
                    <a:bodyPr wrap="square"/>
                    <a:lstStyle/>
                    <a:p>
                      <a:r>
                        <a:rPr sz="1100" b="0" i="0">
                          <a:solidFill>
                            <a:srgbClr val="0B0B0B"/>
                          </a:solidFill>
                          <a:latin typeface="Arial"/>
                        </a:rPr>
                        <a:t>0</a:t>
                      </a:r>
                    </a:p>
                  </a:txBody>
                  <a:tcPr marL="64008" marR="64008" marT="27432" marB="27432" anchor="ctr">
                    <a:solidFill>
                      <a:srgbClr val="FFFFFF"/>
                    </a:solidFill>
                  </a:tcPr>
                </a:tc>
                <a:tc>
                  <a:txBody>
                    <a:bodyPr wrap="square"/>
                    <a:lstStyle/>
                    <a:p>
                      <a:r>
                        <a:rPr sz="1100" b="0" i="0">
                          <a:solidFill>
                            <a:srgbClr val="0CA30C"/>
                          </a:solidFill>
                          <a:latin typeface="Arial"/>
                        </a:rPr>
                        <a:t>An toàn</a:t>
                      </a:r>
                    </a:p>
                  </a:txBody>
                  <a:tcPr marL="64008" marR="64008" marT="27432" marB="27432" anchor="ctr">
                    <a:solidFill>
                      <a:srgbClr val="FFFFFF"/>
                    </a:solidFill>
                  </a:tcPr>
                </a:tc>
              </a:tr>
              <a:tr h="356616">
                <a:tc>
                  <a:txBody>
                    <a:bodyPr wrap="square"/>
                    <a:lstStyle/>
                    <a:p>
                      <a:r>
                        <a:rPr sz="1100" b="0" i="0">
                          <a:solidFill>
                            <a:srgbClr val="0B0B0B"/>
                          </a:solidFill>
                          <a:latin typeface="Arial"/>
                        </a:rPr>
                        <a:t>Tài khoản sẽ bị khóa (cổ điển)</a:t>
                      </a:r>
                    </a:p>
                  </a:txBody>
                  <a:tcPr marL="64008" marR="64008" marT="27432" marB="27432" anchor="ctr">
                    <a:solidFill>
                      <a:srgbClr val="F9F9F7"/>
                    </a:solidFill>
                  </a:tcPr>
                </a:tc>
                <a:tc>
                  <a:txBody>
                    <a:bodyPr wrap="square"/>
                    <a:lstStyle/>
                    <a:p>
                      <a:r>
                        <a:rPr sz="1100" b="0" i="0">
                          <a:solidFill>
                            <a:srgbClr val="0B0B0B"/>
                          </a:solidFill>
                          <a:latin typeface="Arial"/>
                        </a:rPr>
                        <a:t>100</a:t>
                      </a:r>
                    </a:p>
                  </a:txBody>
                  <a:tcPr marL="64008" marR="64008" marT="27432" marB="27432" anchor="ctr">
                    <a:solidFill>
                      <a:srgbClr val="F9F9F7"/>
                    </a:solidFill>
                  </a:tcPr>
                </a:tc>
                <a:tc>
                  <a:txBody>
                    <a:bodyPr wrap="square"/>
                    <a:lstStyle/>
                    <a:p>
                      <a:r>
                        <a:rPr sz="1100" b="0" i="0">
                          <a:solidFill>
                            <a:srgbClr val="D03B3B"/>
                          </a:solidFill>
                          <a:latin typeface="Arial"/>
                        </a:rPr>
                        <a:t>Rất nguy hiểm</a:t>
                      </a:r>
                    </a:p>
                  </a:txBody>
                  <a:tcPr marL="64008" marR="64008" marT="27432" marB="27432" anchor="ctr">
                    <a:solidFill>
                      <a:srgbClr val="F9F9F7"/>
                    </a:solidFill>
                  </a:tcPr>
                </a:tc>
              </a:tr>
              <a:tr h="356616">
                <a:tc>
                  <a:txBody>
                    <a:bodyPr wrap="square"/>
                    <a:lstStyle/>
                    <a:p>
                      <a:r>
                        <a:rPr sz="1100" b="0" i="0">
                          <a:solidFill>
                            <a:srgbClr val="0B0B0B"/>
                          </a:solidFill>
                          <a:latin typeface="Arial"/>
                        </a:rPr>
                        <a:t>Học bổng - viết trau chuốt kiểu LLM</a:t>
                      </a:r>
                    </a:p>
                  </a:txBody>
                  <a:tcPr marL="64008" marR="64008" marT="27432" marB="27432" anchor="ctr">
                    <a:solidFill>
                      <a:srgbClr val="FFFFFF"/>
                    </a:solidFill>
                  </a:tcPr>
                </a:tc>
                <a:tc>
                  <a:txBody>
                    <a:bodyPr wrap="square"/>
                    <a:lstStyle/>
                    <a:p>
                      <a:r>
                        <a:rPr sz="1100" b="0" i="0">
                          <a:solidFill>
                            <a:srgbClr val="0B0B0B"/>
                          </a:solidFill>
                          <a:latin typeface="Arial"/>
                        </a:rPr>
                        <a:t>94</a:t>
                      </a:r>
                    </a:p>
                  </a:txBody>
                  <a:tcPr marL="64008" marR="64008" marT="27432" marB="27432" anchor="ctr">
                    <a:solidFill>
                      <a:srgbClr val="FFFFFF"/>
                    </a:solidFill>
                  </a:tcPr>
                </a:tc>
                <a:tc>
                  <a:txBody>
                    <a:bodyPr wrap="square"/>
                    <a:lstStyle/>
                    <a:p>
                      <a:r>
                        <a:rPr sz="1100" b="0" i="0">
                          <a:solidFill>
                            <a:srgbClr val="D03B3B"/>
                          </a:solidFill>
                          <a:latin typeface="Arial"/>
                        </a:rPr>
                        <a:t>Rất nguy hiểm</a:t>
                      </a:r>
                    </a:p>
                  </a:txBody>
                  <a:tcPr marL="64008" marR="64008" marT="27432" marB="27432" anchor="ctr">
                    <a:solidFill>
                      <a:srgbClr val="FFFFFF"/>
                    </a:solidFill>
                  </a:tcPr>
                </a:tc>
              </a:tr>
              <a:tr h="356616">
                <a:tc>
                  <a:txBody>
                    <a:bodyPr wrap="square"/>
                    <a:lstStyle/>
                    <a:p>
                      <a:r>
                        <a:rPr sz="1100" b="0" i="0">
                          <a:solidFill>
                            <a:srgbClr val="0B0B0B"/>
                          </a:solidFill>
                          <a:latin typeface="Arial"/>
                        </a:rPr>
                        <a:t>Chỉ có ảnh + mã QR</a:t>
                      </a:r>
                    </a:p>
                  </a:txBody>
                  <a:tcPr marL="64008" marR="64008" marT="27432" marB="27432" anchor="ctr">
                    <a:solidFill>
                      <a:srgbClr val="F9F9F7"/>
                    </a:solidFill>
                  </a:tcPr>
                </a:tc>
                <a:tc>
                  <a:txBody>
                    <a:bodyPr wrap="square"/>
                    <a:lstStyle/>
                    <a:p>
                      <a:r>
                        <a:rPr sz="1100" b="0" i="0">
                          <a:solidFill>
                            <a:srgbClr val="0B0B0B"/>
                          </a:solidFill>
                          <a:latin typeface="Arial"/>
                        </a:rPr>
                        <a:t>98</a:t>
                      </a:r>
                    </a:p>
                  </a:txBody>
                  <a:tcPr marL="64008" marR="64008" marT="27432" marB="27432" anchor="ctr">
                    <a:solidFill>
                      <a:srgbClr val="F9F9F7"/>
                    </a:solidFill>
                  </a:tcPr>
                </a:tc>
                <a:tc>
                  <a:txBody>
                    <a:bodyPr wrap="square"/>
                    <a:lstStyle/>
                    <a:p>
                      <a:r>
                        <a:rPr sz="1100" b="0" i="0">
                          <a:solidFill>
                            <a:srgbClr val="D03B3B"/>
                          </a:solidFill>
                          <a:latin typeface="Arial"/>
                        </a:rPr>
                        <a:t>Rất nguy hiểm</a:t>
                      </a:r>
                    </a:p>
                  </a:txBody>
                  <a:tcPr marL="64008" marR="64008" marT="27432" marB="27432" anchor="ctr">
                    <a:solidFill>
                      <a:srgbClr val="F9F9F7"/>
                    </a:solidFill>
                  </a:tcPr>
                </a:tc>
              </a:tr>
              <a:tr h="356616">
                <a:tc>
                  <a:txBody>
                    <a:bodyPr wrap="square"/>
                    <a:lstStyle/>
                    <a:p>
                      <a:r>
                        <a:rPr sz="1100" b="0" i="0">
                          <a:solidFill>
                            <a:srgbClr val="0B0B0B"/>
                          </a:solidFill>
                          <a:latin typeface="Arial"/>
                        </a:rPr>
                        <a:t>Biên lai học phí (tệp HTML)</a:t>
                      </a:r>
                    </a:p>
                  </a:txBody>
                  <a:tcPr marL="64008" marR="64008" marT="27432" marB="27432" anchor="ctr">
                    <a:solidFill>
                      <a:srgbClr val="FFFFFF"/>
                    </a:solidFill>
                  </a:tcPr>
                </a:tc>
                <a:tc>
                  <a:txBody>
                    <a:bodyPr wrap="square"/>
                    <a:lstStyle/>
                    <a:p>
                      <a:r>
                        <a:rPr sz="1100" b="0" i="0">
                          <a:solidFill>
                            <a:srgbClr val="0B0B0B"/>
                          </a:solidFill>
                          <a:latin typeface="Arial"/>
                        </a:rPr>
                        <a:t>100</a:t>
                      </a:r>
                    </a:p>
                  </a:txBody>
                  <a:tcPr marL="64008" marR="64008" marT="27432" marB="27432" anchor="ctr">
                    <a:solidFill>
                      <a:srgbClr val="FFFFFF"/>
                    </a:solidFill>
                  </a:tcPr>
                </a:tc>
                <a:tc>
                  <a:txBody>
                    <a:bodyPr wrap="square"/>
                    <a:lstStyle/>
                    <a:p>
                      <a:r>
                        <a:rPr sz="1100" b="0" i="0">
                          <a:solidFill>
                            <a:srgbClr val="D03B3B"/>
                          </a:solidFill>
                          <a:latin typeface="Arial"/>
                        </a:rPr>
                        <a:t>Rất nguy hiểm</a:t>
                      </a:r>
                    </a:p>
                  </a:txBody>
                  <a:tcPr marL="64008" marR="64008" marT="27432" marB="27432" anchor="ctr">
                    <a:solidFill>
                      <a:srgbClr val="FFFFFF"/>
                    </a:solidFill>
                  </a:tcPr>
                </a:tc>
              </a:tr>
              <a:tr h="356616">
                <a:tc>
                  <a:txBody>
                    <a:bodyPr wrap="square"/>
                    <a:lstStyle/>
                    <a:p>
                      <a:r>
                        <a:rPr sz="1100" b="0" i="0">
                          <a:solidFill>
                            <a:srgbClr val="0B0B0B"/>
                          </a:solidFill>
                          <a:latin typeface="Arial"/>
                        </a:rPr>
                        <a:t>Danh sách cảnh cáo (Word macro)</a:t>
                      </a:r>
                    </a:p>
                  </a:txBody>
                  <a:tcPr marL="64008" marR="64008" marT="27432" marB="27432" anchor="ctr">
                    <a:solidFill>
                      <a:srgbClr val="F9F9F7"/>
                    </a:solidFill>
                  </a:tcPr>
                </a:tc>
                <a:tc>
                  <a:txBody>
                    <a:bodyPr wrap="square"/>
                    <a:lstStyle/>
                    <a:p>
                      <a:r>
                        <a:rPr sz="1100" b="0" i="0">
                          <a:solidFill>
                            <a:srgbClr val="0B0B0B"/>
                          </a:solidFill>
                          <a:latin typeface="Arial"/>
                        </a:rPr>
                        <a:t>100</a:t>
                      </a:r>
                    </a:p>
                  </a:txBody>
                  <a:tcPr marL="64008" marR="64008" marT="27432" marB="27432" anchor="ctr">
                    <a:solidFill>
                      <a:srgbClr val="F9F9F7"/>
                    </a:solidFill>
                  </a:tcPr>
                </a:tc>
                <a:tc>
                  <a:txBody>
                    <a:bodyPr wrap="square"/>
                    <a:lstStyle/>
                    <a:p>
                      <a:r>
                        <a:rPr sz="1100" b="0" i="0">
                          <a:solidFill>
                            <a:srgbClr val="D03B3B"/>
                          </a:solidFill>
                          <a:latin typeface="Arial"/>
                        </a:rPr>
                        <a:t>Rất nguy hiểm</a:t>
                      </a:r>
                    </a:p>
                  </a:txBody>
                  <a:tcPr marL="64008" marR="64008" marT="27432" marB="27432" anchor="ctr">
                    <a:solidFill>
                      <a:srgbClr val="F9F9F7"/>
                    </a:solidFill>
                  </a:tcPr>
                </a:tc>
              </a:tr>
              <a:tr h="356616">
                <a:tc>
                  <a:txBody>
                    <a:bodyPr wrap="square"/>
                    <a:lstStyle/>
                    <a:p>
                      <a:r>
                        <a:rPr sz="1100" b="0" i="0">
                          <a:solidFill>
                            <a:srgbClr val="0B0B0B"/>
                          </a:solidFill>
                          <a:latin typeface="Arial"/>
                        </a:rPr>
                        <a:t>Hóa đơn (ZIP mật khẩu, .pdf.exe)</a:t>
                      </a:r>
                    </a:p>
                  </a:txBody>
                  <a:tcPr marL="64008" marR="64008" marT="27432" marB="27432" anchor="ctr">
                    <a:solidFill>
                      <a:srgbClr val="FFFFFF"/>
                    </a:solidFill>
                  </a:tcPr>
                </a:tc>
                <a:tc>
                  <a:txBody>
                    <a:bodyPr wrap="square"/>
                    <a:lstStyle/>
                    <a:p>
                      <a:r>
                        <a:rPr sz="1100" b="0" i="0">
                          <a:solidFill>
                            <a:srgbClr val="0B0B0B"/>
                          </a:solidFill>
                          <a:latin typeface="Arial"/>
                        </a:rPr>
                        <a:t>100</a:t>
                      </a:r>
                    </a:p>
                  </a:txBody>
                  <a:tcPr marL="64008" marR="64008" marT="27432" marB="27432" anchor="ctr">
                    <a:solidFill>
                      <a:srgbClr val="FFFFFF"/>
                    </a:solidFill>
                  </a:tcPr>
                </a:tc>
                <a:tc>
                  <a:txBody>
                    <a:bodyPr wrap="square"/>
                    <a:lstStyle/>
                    <a:p>
                      <a:r>
                        <a:rPr sz="1100" b="0" i="0">
                          <a:solidFill>
                            <a:srgbClr val="D03B3B"/>
                          </a:solidFill>
                          <a:latin typeface="Arial"/>
                        </a:rPr>
                        <a:t>Rất nguy hiểm</a:t>
                      </a:r>
                    </a:p>
                  </a:txBody>
                  <a:tcPr marL="64008" marR="64008" marT="27432" marB="27432" anchor="ctr">
                    <a:solidFill>
                      <a:srgbClr val="FFFFFF"/>
                    </a:solidFill>
                  </a:tcPr>
                </a:tc>
              </a:tr>
              <a:tr h="356616">
                <a:tc>
                  <a:txBody>
                    <a:bodyPr wrap="square"/>
                    <a:lstStyle/>
                    <a:p>
                      <a:r>
                        <a:rPr sz="1100" b="0" i="0">
                          <a:solidFill>
                            <a:srgbClr val="0B0B0B"/>
                          </a:solidFill>
                          <a:latin typeface="Arial"/>
                        </a:rPr>
                        <a:t>Thầy nhờ mua thẻ cào (BEC)</a:t>
                      </a:r>
                    </a:p>
                  </a:txBody>
                  <a:tcPr marL="64008" marR="64008" marT="27432" marB="27432" anchor="ctr">
                    <a:solidFill>
                      <a:srgbClr val="F9F9F7"/>
                    </a:solidFill>
                  </a:tcPr>
                </a:tc>
                <a:tc>
                  <a:txBody>
                    <a:bodyPr wrap="square"/>
                    <a:lstStyle/>
                    <a:p>
                      <a:r>
                        <a:rPr sz="1100" b="0" i="0">
                          <a:solidFill>
                            <a:srgbClr val="0B0B0B"/>
                          </a:solidFill>
                          <a:latin typeface="Arial"/>
                        </a:rPr>
                        <a:t>78</a:t>
                      </a:r>
                    </a:p>
                  </a:txBody>
                  <a:tcPr marL="64008" marR="64008" marT="27432" marB="27432" anchor="ctr">
                    <a:solidFill>
                      <a:srgbClr val="F9F9F7"/>
                    </a:solidFill>
                  </a:tcPr>
                </a:tc>
                <a:tc>
                  <a:txBody>
                    <a:bodyPr wrap="square"/>
                    <a:lstStyle/>
                    <a:p>
                      <a:r>
                        <a:rPr sz="1100" b="0" i="0">
                          <a:solidFill>
                            <a:srgbClr val="D03B3B"/>
                          </a:solidFill>
                          <a:latin typeface="Arial"/>
                        </a:rPr>
                        <a:t>Rất nguy hiểm</a:t>
                      </a:r>
                    </a:p>
                  </a:txBody>
                  <a:tcPr marL="64008" marR="64008" marT="27432" marB="27432" anchor="ctr">
                    <a:solidFill>
                      <a:srgbClr val="F9F9F7"/>
                    </a:solidFill>
                  </a:tcPr>
                </a:tc>
              </a:tr>
              <a:tr h="356616">
                <a:tc>
                  <a:txBody>
                    <a:bodyPr wrap="square"/>
                    <a:lstStyle/>
                    <a:p>
                      <a:r>
                        <a:rPr sz="1100" b="0" i="0">
                          <a:solidFill>
                            <a:srgbClr val="0B0B0B"/>
                          </a:solidFill>
                          <a:latin typeface="Arial"/>
                        </a:rPr>
                        <a:t>Workshop CLB (poster + QR, thật)</a:t>
                      </a:r>
                    </a:p>
                  </a:txBody>
                  <a:tcPr marL="64008" marR="64008" marT="27432" marB="27432" anchor="ctr">
                    <a:solidFill>
                      <a:srgbClr val="FFFFFF"/>
                    </a:solidFill>
                  </a:tcPr>
                </a:tc>
                <a:tc>
                  <a:txBody>
                    <a:bodyPr wrap="square"/>
                    <a:lstStyle/>
                    <a:p>
                      <a:r>
                        <a:rPr sz="1100" b="0" i="0">
                          <a:solidFill>
                            <a:srgbClr val="0B0B0B"/>
                          </a:solidFill>
                          <a:latin typeface="Arial"/>
                        </a:rPr>
                        <a:t>5</a:t>
                      </a:r>
                    </a:p>
                  </a:txBody>
                  <a:tcPr marL="64008" marR="64008" marT="27432" marB="27432" anchor="ctr">
                    <a:solidFill>
                      <a:srgbClr val="FFFFFF"/>
                    </a:solidFill>
                  </a:tcPr>
                </a:tc>
                <a:tc>
                  <a:txBody>
                    <a:bodyPr wrap="square"/>
                    <a:lstStyle/>
                    <a:p>
                      <a:r>
                        <a:rPr sz="1100" b="0" i="0">
                          <a:solidFill>
                            <a:srgbClr val="0CA30C"/>
                          </a:solidFill>
                          <a:latin typeface="Arial"/>
                        </a:rPr>
                        <a:t>An toàn</a:t>
                      </a:r>
                    </a:p>
                  </a:txBody>
                  <a:tcPr marL="64008" marR="64008" marT="27432" marB="27432" anchor="ctr">
                    <a:solidFill>
                      <a:srgbClr val="FFFFFF"/>
                    </a:solidFill>
                  </a:tcPr>
                </a:tc>
              </a:tr>
              <a:tr h="356616">
                <a:tc>
                  <a:txBody>
                    <a:bodyPr wrap="square"/>
                    <a:lstStyle/>
                    <a:p>
                      <a:r>
                        <a:rPr sz="1100" b="0" i="0">
                          <a:solidFill>
                            <a:srgbClr val="0B0B0B"/>
                          </a:solidFill>
                          <a:latin typeface="Arial"/>
                        </a:rPr>
                        <a:t>Điều chỉnh học phí (giả mạo tên miền trường, PDF JS)</a:t>
                      </a:r>
                    </a:p>
                  </a:txBody>
                  <a:tcPr marL="64008" marR="64008" marT="27432" marB="27432" anchor="ctr">
                    <a:solidFill>
                      <a:srgbClr val="F9F9F7"/>
                    </a:solidFill>
                  </a:tcPr>
                </a:tc>
                <a:tc>
                  <a:txBody>
                    <a:bodyPr wrap="square"/>
                    <a:lstStyle/>
                    <a:p>
                      <a:r>
                        <a:rPr sz="1100" b="0" i="0">
                          <a:solidFill>
                            <a:srgbClr val="0B0B0B"/>
                          </a:solidFill>
                          <a:latin typeface="Arial"/>
                        </a:rPr>
                        <a:t>97</a:t>
                      </a:r>
                    </a:p>
                  </a:txBody>
                  <a:tcPr marL="64008" marR="64008" marT="27432" marB="27432" anchor="ctr">
                    <a:solidFill>
                      <a:srgbClr val="F9F9F7"/>
                    </a:solidFill>
                  </a:tcPr>
                </a:tc>
                <a:tc>
                  <a:txBody>
                    <a:bodyPr wrap="square"/>
                    <a:lstStyle/>
                    <a:p>
                      <a:r>
                        <a:rPr sz="1100" b="0" i="0">
                          <a:solidFill>
                            <a:srgbClr val="D03B3B"/>
                          </a:solidFill>
                          <a:latin typeface="Arial"/>
                        </a:rPr>
                        <a:t>Rất nguy hiểm</a:t>
                      </a:r>
                    </a:p>
                  </a:txBody>
                  <a:tcPr marL="64008" marR="64008" marT="27432" marB="27432" anchor="ctr">
                    <a:solidFill>
                      <a:srgbClr val="F9F9F7"/>
                    </a:solidFill>
                  </a:tcPr>
                </a:tc>
              </a:tr>
              <a:tr h="356616">
                <a:tc>
                  <a:txBody>
                    <a:bodyPr wrap="square"/>
                    <a:lstStyle/>
                    <a:p>
                      <a:r>
                        <a:rPr sz="1100" b="0" i="0">
                          <a:solidFill>
                            <a:srgbClr val="0B0B0B"/>
                          </a:solidFill>
                          <a:latin typeface="Arial"/>
                        </a:rPr>
                        <a:t>Microsoft 365 password (English)</a:t>
                      </a:r>
                    </a:p>
                  </a:txBody>
                  <a:tcPr marL="64008" marR="64008" marT="27432" marB="27432" anchor="ctr">
                    <a:solidFill>
                      <a:srgbClr val="FFFFFF"/>
                    </a:solidFill>
                  </a:tcPr>
                </a:tc>
                <a:tc>
                  <a:txBody>
                    <a:bodyPr wrap="square"/>
                    <a:lstStyle/>
                    <a:p>
                      <a:r>
                        <a:rPr sz="1100" b="0" i="0">
                          <a:solidFill>
                            <a:srgbClr val="0B0B0B"/>
                          </a:solidFill>
                          <a:latin typeface="Arial"/>
                        </a:rPr>
                        <a:t>99</a:t>
                      </a:r>
                    </a:p>
                  </a:txBody>
                  <a:tcPr marL="64008" marR="64008" marT="27432" marB="27432" anchor="ctr">
                    <a:solidFill>
                      <a:srgbClr val="FFFFFF"/>
                    </a:solidFill>
                  </a:tcPr>
                </a:tc>
                <a:tc>
                  <a:txBody>
                    <a:bodyPr wrap="square"/>
                    <a:lstStyle/>
                    <a:p>
                      <a:r>
                        <a:rPr sz="1100" b="0" i="0">
                          <a:solidFill>
                            <a:srgbClr val="D03B3B"/>
                          </a:solidFill>
                          <a:latin typeface="Arial"/>
                        </a:rPr>
                        <a:t>Rất nguy hiểm</a:t>
                      </a:r>
                    </a:p>
                  </a:txBody>
                  <a:tcPr marL="64008" marR="64008" marT="27432" marB="27432" anchor="ctr">
                    <a:solidFill>
                      <a:srgbClr val="FFFFFF"/>
                    </a:solidFill>
                  </a:tcPr>
                </a:tc>
              </a:tr>
              <a:tr h="356616">
                <a:tc>
                  <a:txBody>
                    <a:bodyPr wrap="square"/>
                    <a:lstStyle/>
                    <a:p>
                      <a:r>
                        <a:rPr sz="1100" b="0" i="0">
                          <a:solidFill>
                            <a:srgbClr val="0B0B0B"/>
                          </a:solidFill>
                          <a:latin typeface="Arial"/>
                        </a:rPr>
                        <a:t>Bảo trì email (thật, có chữ 'mật khẩu')</a:t>
                      </a:r>
                    </a:p>
                  </a:txBody>
                  <a:tcPr marL="64008" marR="64008" marT="27432" marB="27432" anchor="ctr">
                    <a:solidFill>
                      <a:srgbClr val="F9F9F7"/>
                    </a:solidFill>
                  </a:tcPr>
                </a:tc>
                <a:tc>
                  <a:txBody>
                    <a:bodyPr wrap="square"/>
                    <a:lstStyle/>
                    <a:p>
                      <a:r>
                        <a:rPr sz="1100" b="0" i="0">
                          <a:solidFill>
                            <a:srgbClr val="0B0B0B"/>
                          </a:solidFill>
                          <a:latin typeface="Arial"/>
                        </a:rPr>
                        <a:t>7</a:t>
                      </a:r>
                    </a:p>
                  </a:txBody>
                  <a:tcPr marL="64008" marR="64008" marT="27432" marB="27432" anchor="ctr">
                    <a:solidFill>
                      <a:srgbClr val="F9F9F7"/>
                    </a:solidFill>
                  </a:tcPr>
                </a:tc>
                <a:tc>
                  <a:txBody>
                    <a:bodyPr wrap="square"/>
                    <a:lstStyle/>
                    <a:p>
                      <a:r>
                        <a:rPr sz="1100" b="0" i="0">
                          <a:solidFill>
                            <a:srgbClr val="0CA30C"/>
                          </a:solidFill>
                          <a:latin typeface="Arial"/>
                        </a:rPr>
                        <a:t>An toàn</a:t>
                      </a:r>
                    </a:p>
                  </a:txBody>
                  <a:tcPr marL="64008" marR="64008" marT="27432" marB="27432" anchor="ctr">
                    <a:solidFill>
                      <a:srgbClr val="F9F9F7"/>
                    </a:solidFill>
                  </a:tcPr>
                </a:tc>
              </a:tr>
            </a:tbl>
          </a:graphicData>
        </a:graphic>
      </p:graphicFrame>
      <p:pic>
        <p:nvPicPr>
          <p:cNvPr id="7" name="Picture 6" descr="quiz_a.png"/>
          <p:cNvPicPr>
            <a:picLocks noChangeAspect="1"/>
          </p:cNvPicPr>
          <p:nvPr/>
        </p:nvPicPr>
        <p:blipFill>
          <a:blip r:embed="rId2"/>
          <a:stretch>
            <a:fillRect/>
          </a:stretch>
        </p:blipFill>
        <p:spPr>
          <a:xfrm>
            <a:off x="6217920" y="1325880"/>
            <a:ext cx="5577840" cy="3677242"/>
          </a:xfrm>
          <a:prstGeom prst="rect">
            <a:avLst/>
          </a:prstGeom>
          <a:ln w="9525">
            <a:solidFill>
              <a:srgbClr val="E1E0D9"/>
            </a:solidFill>
          </a:ln>
        </p:spPr>
      </p:pic>
      <p:sp>
        <p:nvSpPr>
          <p:cNvPr id="8" name="TextBox 7"/>
          <p:cNvSpPr txBox="1"/>
          <p:nvPr/>
        </p:nvSpPr>
        <p:spPr>
          <a:xfrm>
            <a:off x="6217920" y="5623560"/>
            <a:ext cx="5577840" cy="822960"/>
          </a:xfrm>
          <a:prstGeom prst="rect">
            <a:avLst/>
          </a:prstGeom>
          <a:noFill/>
        </p:spPr>
        <p:txBody>
          <a:bodyPr wrap="square" anchor="t" lIns="45720" rIns="45720">
            <a:spAutoFit/>
          </a:bodyPr>
          <a:lstStyle/>
          <a:p>
            <a:pPr>
              <a:spcAft>
                <a:spcPts val="600"/>
              </a:spcAft>
            </a:pPr>
            <a:r>
              <a:rPr sz="1300" b="0" i="0">
                <a:solidFill>
                  <a:srgbClr val="52514E"/>
                </a:solidFill>
                <a:latin typeface="Arial"/>
              </a:rPr>
              <a:t>9/9 email lừa đảo ở mức Rất nguy hiểm, 3/3 email thật ở mức An toàn. Luyện tập: tự đoán trước → xem đáp án, phân tích, bài học.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II · NỘI DUNG THỰC HIỆN</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Đánh giá độ bền: thiết kế thí nghiệm</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23</a:t>
            </a:r>
          </a:p>
        </p:txBody>
      </p:sp>
      <p:sp>
        <p:nvSpPr>
          <p:cNvPr id="6" name="TextBox 5"/>
          <p:cNvSpPr txBox="1"/>
          <p:nvPr/>
        </p:nvSpPr>
        <p:spPr>
          <a:xfrm>
            <a:off x="548640" y="1325880"/>
            <a:ext cx="11155680" cy="914400"/>
          </a:xfrm>
          <a:prstGeom prst="rect">
            <a:avLst/>
          </a:prstGeom>
          <a:noFill/>
        </p:spPr>
        <p:txBody>
          <a:bodyPr wrap="square" anchor="t" lIns="45720" rIns="45720">
            <a:spAutoFit/>
          </a:bodyPr>
          <a:lstStyle/>
          <a:p>
            <a:pPr>
              <a:spcAft>
                <a:spcPts val="400"/>
              </a:spcAft>
            </a:pPr>
            <a:r>
              <a:rPr sz="1500" b="1" i="0">
                <a:solidFill>
                  <a:srgbClr val="0B0B0B"/>
                </a:solidFill>
                <a:latin typeface="Arial"/>
              </a:rPr>
              <a:t>RQ1: </a:t>
            </a:r>
            <a:r>
              <a:rPr sz="1500" b="0" i="0">
                <a:solidFill>
                  <a:srgbClr val="0B0B0B"/>
                </a:solidFill>
                <a:latin typeface="Arial"/>
              </a:rPr>
              <a:t>bộ phát hiện chỉ đọc văn bản (như bài báo) suy giảm thế nào khi email bị LLM viết lại hoặc chuyển vào ảnh / QR / tệp?</a:t>
            </a:r>
          </a:p>
          <a:p>
            <a:pPr>
              <a:spcAft>
                <a:spcPts val="600"/>
              </a:spcAft>
            </a:pPr>
            <a:r>
              <a:rPr sz="1500" b="1" i="0">
                <a:solidFill>
                  <a:srgbClr val="0B0B0B"/>
                </a:solidFill>
                <a:latin typeface="Arial"/>
              </a:rPr>
              <a:t>RQ2: </a:t>
            </a:r>
            <a:r>
              <a:rPr sz="1500" b="0" i="0">
                <a:solidFill>
                  <a:srgbClr val="0B0B0B"/>
                </a:solidFill>
                <a:latin typeface="Arial"/>
              </a:rPr>
              <a:t>kết hợp bằng chứng đa kênh có khôi phục được mà không tăng báo nhầm?</a:t>
            </a:r>
          </a:p>
        </p:txBody>
      </p:sp>
      <p:graphicFrame>
        <p:nvGraphicFramePr>
          <p:cNvPr id="7" name="Table 6"/>
          <p:cNvGraphicFramePr>
            <a:graphicFrameLocks noGrp="1"/>
          </p:cNvGraphicFramePr>
          <p:nvPr/>
        </p:nvGraphicFramePr>
        <p:xfrm>
          <a:off x="548640" y="2377440"/>
          <a:ext cx="6583680" cy="3008376"/>
        </p:xfrm>
        <a:graphic>
          <a:graphicData uri="http://schemas.openxmlformats.org/drawingml/2006/table">
            <a:tbl>
              <a:tblPr firstRow="1" bandRow="1">
                <a:tableStyleId>{5C22544A-7EE6-4342-B048-85BDC9FD1C3A}</a:tableStyleId>
              </a:tblPr>
              <a:tblGrid>
                <a:gridCol w="1828800"/>
                <a:gridCol w="4754880"/>
              </a:tblGrid>
              <a:tr h="429768">
                <a:tc>
                  <a:txBody>
                    <a:bodyPr wrap="square"/>
                    <a:lstStyle/>
                    <a:p>
                      <a:r>
                        <a:rPr sz="1200" b="1" i="0">
                          <a:solidFill>
                            <a:srgbClr val="0B0B0B"/>
                          </a:solidFill>
                          <a:latin typeface="Arial"/>
                        </a:rPr>
                        <a:t>Kịch bản</a:t>
                      </a:r>
                    </a:p>
                  </a:txBody>
                  <a:tcPr marL="64008" marR="64008" marT="27432" marB="27432" anchor="ctr">
                    <a:solidFill>
                      <a:srgbClr val="CDE2FB"/>
                    </a:solidFill>
                  </a:tcPr>
                </a:tc>
                <a:tc>
                  <a:txBody>
                    <a:bodyPr wrap="square"/>
                    <a:lstStyle/>
                    <a:p>
                      <a:r>
                        <a:rPr sz="1200" b="1" i="0">
                          <a:solidFill>
                            <a:srgbClr val="0B0B0B"/>
                          </a:solidFill>
                          <a:latin typeface="Arial"/>
                        </a:rPr>
                        <a:t>Mô tả</a:t>
                      </a:r>
                    </a:p>
                  </a:txBody>
                  <a:tcPr marL="64008" marR="64008" marT="27432" marB="27432" anchor="ctr">
                    <a:solidFill>
                      <a:srgbClr val="CDE2FB"/>
                    </a:solidFill>
                  </a:tcPr>
                </a:tc>
              </a:tr>
              <a:tr h="429768">
                <a:tc>
                  <a:txBody>
                    <a:bodyPr wrap="square"/>
                    <a:lstStyle/>
                    <a:p>
                      <a:r>
                        <a:rPr sz="1200" b="1" i="0">
                          <a:solidFill>
                            <a:srgbClr val="0B0B0B"/>
                          </a:solidFill>
                          <a:latin typeface="Arial"/>
                        </a:rPr>
                        <a:t>Gốc (văn bản)</a:t>
                      </a:r>
                    </a:p>
                  </a:txBody>
                  <a:tcPr marL="64008" marR="64008" marT="27432" marB="27432" anchor="ctr">
                    <a:solidFill>
                      <a:srgbClr val="FFFFFF"/>
                    </a:solidFill>
                  </a:tcPr>
                </a:tc>
                <a:tc>
                  <a:txBody>
                    <a:bodyPr wrap="square"/>
                    <a:lstStyle/>
                    <a:p>
                      <a:r>
                        <a:rPr sz="1200" b="0" i="0">
                          <a:solidFill>
                            <a:srgbClr val="0B0B0B"/>
                          </a:solidFill>
                          <a:latin typeface="Arial"/>
                        </a:rPr>
                        <a:t>email lừa đảo nguyên bản trong thân thư</a:t>
                      </a:r>
                    </a:p>
                  </a:txBody>
                  <a:tcPr marL="64008" marR="64008" marT="27432" marB="27432" anchor="ctr">
                    <a:solidFill>
                      <a:srgbClr val="FFFFFF"/>
                    </a:solidFill>
                  </a:tcPr>
                </a:tc>
              </a:tr>
              <a:tr h="429768">
                <a:tc>
                  <a:txBody>
                    <a:bodyPr wrap="square"/>
                    <a:lstStyle/>
                    <a:p>
                      <a:r>
                        <a:rPr sz="1200" b="1" i="0">
                          <a:solidFill>
                            <a:srgbClr val="0B0B0B"/>
                          </a:solidFill>
                          <a:latin typeface="Arial"/>
                        </a:rPr>
                        <a:t>LLM viết lại</a:t>
                      </a:r>
                    </a:p>
                  </a:txBody>
                  <a:tcPr marL="64008" marR="64008" marT="27432" marB="27432" anchor="ctr">
                    <a:solidFill>
                      <a:srgbClr val="F9F9F7"/>
                    </a:solidFill>
                  </a:tcPr>
                </a:tc>
                <a:tc>
                  <a:txBody>
                    <a:bodyPr wrap="square"/>
                    <a:lstStyle/>
                    <a:p>
                      <a:r>
                        <a:rPr sz="1200" b="0" i="0">
                          <a:solidFill>
                            <a:srgbClr val="0B0B0B"/>
                          </a:solidFill>
                          <a:latin typeface="Arial"/>
                        </a:rPr>
                        <a:t>paraphrase + masking + personalization</a:t>
                      </a:r>
                    </a:p>
                  </a:txBody>
                  <a:tcPr marL="64008" marR="64008" marT="27432" marB="27432" anchor="ctr">
                    <a:solidFill>
                      <a:srgbClr val="F9F9F7"/>
                    </a:solidFill>
                  </a:tcPr>
                </a:tc>
              </a:tr>
              <a:tr h="429768">
                <a:tc>
                  <a:txBody>
                    <a:bodyPr wrap="square"/>
                    <a:lstStyle/>
                    <a:p>
                      <a:r>
                        <a:rPr sz="1200" b="1" i="0">
                          <a:solidFill>
                            <a:srgbClr val="0B0B0B"/>
                          </a:solidFill>
                          <a:latin typeface="Arial"/>
                        </a:rPr>
                        <a:t>Chuyển vào ảnh</a:t>
                      </a:r>
                    </a:p>
                  </a:txBody>
                  <a:tcPr marL="64008" marR="64008" marT="27432" marB="27432" anchor="ctr">
                    <a:solidFill>
                      <a:srgbClr val="FFFFFF"/>
                    </a:solidFill>
                  </a:tcPr>
                </a:tc>
                <a:tc>
                  <a:txBody>
                    <a:bodyPr wrap="square"/>
                    <a:lstStyle/>
                    <a:p>
                      <a:r>
                        <a:rPr sz="1200" b="0" i="0">
                          <a:solidFill>
                            <a:srgbClr val="0B0B0B"/>
                          </a:solidFill>
                          <a:latin typeface="Arial"/>
                        </a:rPr>
                        <a:t>nội dung (đã viết lại) được đặt trong ảnh, thân thư gần như trống</a:t>
                      </a:r>
                    </a:p>
                  </a:txBody>
                  <a:tcPr marL="64008" marR="64008" marT="27432" marB="27432" anchor="ctr">
                    <a:solidFill>
                      <a:srgbClr val="FFFFFF"/>
                    </a:solidFill>
                  </a:tcPr>
                </a:tc>
              </a:tr>
              <a:tr h="429768">
                <a:tc>
                  <a:txBody>
                    <a:bodyPr wrap="square"/>
                    <a:lstStyle/>
                    <a:p>
                      <a:r>
                        <a:rPr sz="1200" b="1" i="0">
                          <a:solidFill>
                            <a:srgbClr val="0B0B0B"/>
                          </a:solidFill>
                          <a:latin typeface="Arial"/>
                        </a:rPr>
                        <a:t>Ảnh + mã QR</a:t>
                      </a:r>
                    </a:p>
                  </a:txBody>
                  <a:tcPr marL="64008" marR="64008" marT="27432" marB="27432" anchor="ctr">
                    <a:solidFill>
                      <a:srgbClr val="F9F9F7"/>
                    </a:solidFill>
                  </a:tcPr>
                </a:tc>
                <a:tc>
                  <a:txBody>
                    <a:bodyPr wrap="square"/>
                    <a:lstStyle/>
                    <a:p>
                      <a:r>
                        <a:rPr sz="1200" b="0" i="0">
                          <a:solidFill>
                            <a:srgbClr val="0B0B0B"/>
                          </a:solidFill>
                          <a:latin typeface="Arial"/>
                        </a:rPr>
                        <a:t>như trên, liên kết được giấu trong mã QR</a:t>
                      </a:r>
                    </a:p>
                  </a:txBody>
                  <a:tcPr marL="64008" marR="64008" marT="27432" marB="27432" anchor="ctr">
                    <a:solidFill>
                      <a:srgbClr val="F9F9F7"/>
                    </a:solidFill>
                  </a:tcPr>
                </a:tc>
              </a:tr>
              <a:tr h="429768">
                <a:tc>
                  <a:txBody>
                    <a:bodyPr wrap="square"/>
                    <a:lstStyle/>
                    <a:p>
                      <a:r>
                        <a:rPr sz="1200" b="1" i="0">
                          <a:solidFill>
                            <a:srgbClr val="0B0B0B"/>
                          </a:solidFill>
                          <a:latin typeface="Arial"/>
                        </a:rPr>
                        <a:t>Tệp Word đính kèm</a:t>
                      </a:r>
                    </a:p>
                  </a:txBody>
                  <a:tcPr marL="64008" marR="64008" marT="27432" marB="27432" anchor="ctr">
                    <a:solidFill>
                      <a:srgbClr val="FFFFFF"/>
                    </a:solidFill>
                  </a:tcPr>
                </a:tc>
                <a:tc>
                  <a:txBody>
                    <a:bodyPr wrap="square"/>
                    <a:lstStyle/>
                    <a:p>
                      <a:r>
                        <a:rPr sz="1200" b="0" i="0">
                          <a:solidFill>
                            <a:srgbClr val="0B0B0B"/>
                          </a:solidFill>
                          <a:latin typeface="Arial"/>
                        </a:rPr>
                        <a:t>nội dung nằm trong tệp .docx (không macro)</a:t>
                      </a:r>
                    </a:p>
                  </a:txBody>
                  <a:tcPr marL="64008" marR="64008" marT="27432" marB="27432" anchor="ctr">
                    <a:solidFill>
                      <a:srgbClr val="FFFFFF"/>
                    </a:solidFill>
                  </a:tcPr>
                </a:tc>
              </a:tr>
              <a:tr h="429768">
                <a:tc>
                  <a:txBody>
                    <a:bodyPr wrap="square"/>
                    <a:lstStyle/>
                    <a:p>
                      <a:r>
                        <a:rPr sz="1200" b="1" i="0">
                          <a:solidFill>
                            <a:srgbClr val="0B0B0B"/>
                          </a:solidFill>
                          <a:latin typeface="Arial"/>
                        </a:rPr>
                        <a:t>Tệp HTML đính kèm</a:t>
                      </a:r>
                    </a:p>
                  </a:txBody>
                  <a:tcPr marL="64008" marR="64008" marT="27432" marB="27432" anchor="ctr">
                    <a:solidFill>
                      <a:srgbClr val="F9F9F7"/>
                    </a:solidFill>
                  </a:tcPr>
                </a:tc>
                <a:tc>
                  <a:txBody>
                    <a:bodyPr wrap="square"/>
                    <a:lstStyle/>
                    <a:p>
                      <a:r>
                        <a:rPr sz="1200" b="0" i="0">
                          <a:solidFill>
                            <a:srgbClr val="0B0B0B"/>
                          </a:solidFill>
                          <a:latin typeface="Arial"/>
                        </a:rPr>
                        <a:t>nội dung nằm trong tệp .html (không có form)</a:t>
                      </a:r>
                    </a:p>
                  </a:txBody>
                  <a:tcPr marL="64008" marR="64008" marT="27432" marB="27432" anchor="ctr">
                    <a:solidFill>
                      <a:srgbClr val="F9F9F7"/>
                    </a:solidFill>
                  </a:tcPr>
                </a:tc>
              </a:tr>
            </a:tbl>
          </a:graphicData>
        </a:graphic>
      </p:graphicFrame>
      <p:sp>
        <p:nvSpPr>
          <p:cNvPr id="8" name="Rounded Rectangle 7"/>
          <p:cNvSpPr/>
          <p:nvPr/>
        </p:nvSpPr>
        <p:spPr>
          <a:xfrm>
            <a:off x="7498079" y="2377440"/>
            <a:ext cx="4206240" cy="17373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35239" y="2487168"/>
            <a:ext cx="3931920" cy="1554480"/>
          </a:xfrm>
          <a:prstGeom prst="rect">
            <a:avLst/>
          </a:prstGeom>
          <a:noFill/>
        </p:spPr>
        <p:txBody>
          <a:bodyPr wrap="square" anchor="t" lIns="45720" rIns="45720">
            <a:spAutoFit/>
          </a:bodyPr>
          <a:lstStyle/>
          <a:p>
            <a:pPr>
              <a:spcAft>
                <a:spcPts val="400"/>
              </a:spcAft>
            </a:pPr>
            <a:r>
              <a:rPr sz="1500" b="1" i="0">
                <a:solidFill>
                  <a:srgbClr val="0B0B0B"/>
                </a:solidFill>
                <a:latin typeface="Arial"/>
              </a:rPr>
              <a:t>Dữ liệu</a:t>
            </a:r>
          </a:p>
          <a:p>
            <a:pPr>
              <a:spcAft>
                <a:spcPts val="600"/>
              </a:spcAft>
            </a:pPr>
            <a:r>
              <a:rPr sz="1300" b="0" i="0">
                <a:solidFill>
                  <a:srgbClr val="52514E"/>
                </a:solidFill>
                <a:latin typeface="Arial"/>
              </a:rPr>
              <a:t>30 email lừa đảo + 30 email hợp lệ / kịch bản, từ template held-out. Email hợp lệ biến đổi tương ứng; người gửi giữ trung tính.</a:t>
            </a:r>
          </a:p>
        </p:txBody>
      </p:sp>
      <p:sp>
        <p:nvSpPr>
          <p:cNvPr id="10" name="Rounded Rectangle 9"/>
          <p:cNvSpPr/>
          <p:nvPr/>
        </p:nvSpPr>
        <p:spPr>
          <a:xfrm>
            <a:off x="7498079" y="4297680"/>
            <a:ext cx="4206240" cy="155448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35239" y="4407408"/>
            <a:ext cx="3931920" cy="1371600"/>
          </a:xfrm>
          <a:prstGeom prst="rect">
            <a:avLst/>
          </a:prstGeom>
          <a:noFill/>
        </p:spPr>
        <p:txBody>
          <a:bodyPr wrap="square" anchor="t" lIns="45720" rIns="45720">
            <a:spAutoFit/>
          </a:bodyPr>
          <a:lstStyle/>
          <a:p>
            <a:pPr>
              <a:spcAft>
                <a:spcPts val="400"/>
              </a:spcAft>
            </a:pPr>
            <a:r>
              <a:rPr sz="1500" b="1" i="0">
                <a:solidFill>
                  <a:srgbClr val="0B0B0B"/>
                </a:solidFill>
                <a:latin typeface="Arial"/>
              </a:rPr>
              <a:t>4 bộ phát hiện</a:t>
            </a:r>
          </a:p>
          <a:p>
            <a:pPr>
              <a:spcAft>
                <a:spcPts val="600"/>
              </a:spcAft>
            </a:pPr>
            <a:r>
              <a:rPr sz="1300" b="0" i="0">
                <a:solidFill>
                  <a:srgbClr val="52514E"/>
                </a:solidFill>
                <a:latin typeface="Arial"/>
              </a:rPr>
              <a:t>Chỉ văn bản: TF-IDF · KD-BiLSTM
Đa kênh PhishLens: TF-IDF · KD-BiLSTM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II · NỘI DUNG THỰC HIỆN</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Kết quả: tỉ lệ phát hiện email lừa đảo</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24</a:t>
            </a:r>
          </a:p>
        </p:txBody>
      </p:sp>
      <p:graphicFrame>
        <p:nvGraphicFramePr>
          <p:cNvPr id="6" name="Chart 5"/>
          <p:cNvGraphicFramePr>
            <a:graphicFrameLocks noGrp="1"/>
          </p:cNvGraphicFramePr>
          <p:nvPr/>
        </p:nvGraphicFramePr>
        <p:xfrm>
          <a:off x="457200" y="1280160"/>
          <a:ext cx="7863840" cy="5120640"/>
        </p:xfrm>
        <a:graphic>
          <a:graphicData uri="http://schemas.openxmlformats.org/drawingml/2006/chart">
            <c:chart xmlns:c="http://schemas.openxmlformats.org/drawingml/2006/chart" r:id="rId2"/>
          </a:graphicData>
        </a:graphic>
      </p:graphicFrame>
      <p:sp>
        <p:nvSpPr>
          <p:cNvPr id="7" name="TextBox 6"/>
          <p:cNvSpPr txBox="1"/>
          <p:nvPr/>
        </p:nvSpPr>
        <p:spPr>
          <a:xfrm>
            <a:off x="8503920" y="1325880"/>
            <a:ext cx="3291840" cy="365760"/>
          </a:xfrm>
          <a:prstGeom prst="rect">
            <a:avLst/>
          </a:prstGeom>
          <a:noFill/>
        </p:spPr>
        <p:txBody>
          <a:bodyPr wrap="square" anchor="t" lIns="45720" rIns="45720">
            <a:spAutoFit/>
          </a:bodyPr>
          <a:lstStyle/>
          <a:p>
            <a:pPr>
              <a:spcAft>
                <a:spcPts val="600"/>
              </a:spcAft>
            </a:pPr>
            <a:r>
              <a:rPr sz="1400" b="1" i="0">
                <a:solidFill>
                  <a:srgbClr val="0B0B0B"/>
                </a:solidFill>
                <a:latin typeface="Arial"/>
              </a:rPr>
              <a:t>Báo nhầm trên email hợp lệ</a:t>
            </a:r>
          </a:p>
        </p:txBody>
      </p:sp>
      <p:graphicFrame>
        <p:nvGraphicFramePr>
          <p:cNvPr id="8" name="Table 7"/>
          <p:cNvGraphicFramePr>
            <a:graphicFrameLocks noGrp="1"/>
          </p:cNvGraphicFramePr>
          <p:nvPr/>
        </p:nvGraphicFramePr>
        <p:xfrm>
          <a:off x="8503920" y="1737360"/>
          <a:ext cx="3291839" cy="2304288"/>
        </p:xfrm>
        <a:graphic>
          <a:graphicData uri="http://schemas.openxmlformats.org/drawingml/2006/table">
            <a:tbl>
              <a:tblPr firstRow="1" bandRow="1">
                <a:tableStyleId>{5C22544A-7EE6-4342-B048-85BDC9FD1C3A}</a:tableStyleId>
              </a:tblPr>
              <a:tblGrid>
                <a:gridCol w="1276427"/>
                <a:gridCol w="503853"/>
                <a:gridCol w="503853"/>
                <a:gridCol w="503853"/>
                <a:gridCol w="503853"/>
              </a:tblGrid>
              <a:tr h="329184">
                <a:tc>
                  <a:txBody>
                    <a:bodyPr wrap="square"/>
                    <a:lstStyle/>
                    <a:p>
                      <a:r>
                        <a:rPr sz="1000" b="1" i="0">
                          <a:solidFill>
                            <a:srgbClr val="0B0B0B"/>
                          </a:solidFill>
                          <a:latin typeface="Arial"/>
                        </a:rPr>
                        <a:t>Báo nhầm</a:t>
                      </a:r>
                    </a:p>
                  </a:txBody>
                  <a:tcPr marL="64008" marR="64008" marT="27432" marB="27432" anchor="ctr">
                    <a:solidFill>
                      <a:srgbClr val="CDE2FB"/>
                    </a:solidFill>
                  </a:tcPr>
                </a:tc>
                <a:tc>
                  <a:txBody>
                    <a:bodyPr wrap="square"/>
                    <a:lstStyle/>
                    <a:p>
                      <a:r>
                        <a:rPr sz="1000" b="1" i="0">
                          <a:solidFill>
                            <a:srgbClr val="0B0B0B"/>
                          </a:solidFill>
                          <a:latin typeface="Arial"/>
                        </a:rPr>
                        <a:t>VB/TF</a:t>
                      </a:r>
                    </a:p>
                  </a:txBody>
                  <a:tcPr marL="64008" marR="64008" marT="27432" marB="27432" anchor="ctr">
                    <a:solidFill>
                      <a:srgbClr val="CDE2FB"/>
                    </a:solidFill>
                  </a:tcPr>
                </a:tc>
                <a:tc>
                  <a:txBody>
                    <a:bodyPr wrap="square"/>
                    <a:lstStyle/>
                    <a:p>
                      <a:r>
                        <a:rPr sz="1000" b="1" i="0">
                          <a:solidFill>
                            <a:srgbClr val="0B0B0B"/>
                          </a:solidFill>
                          <a:latin typeface="Arial"/>
                        </a:rPr>
                        <a:t>VB/KD</a:t>
                      </a:r>
                    </a:p>
                  </a:txBody>
                  <a:tcPr marL="64008" marR="64008" marT="27432" marB="27432" anchor="ctr">
                    <a:solidFill>
                      <a:srgbClr val="CDE2FB"/>
                    </a:solidFill>
                  </a:tcPr>
                </a:tc>
                <a:tc>
                  <a:txBody>
                    <a:bodyPr wrap="square"/>
                    <a:lstStyle/>
                    <a:p>
                      <a:r>
                        <a:rPr sz="1000" b="1" i="0">
                          <a:solidFill>
                            <a:srgbClr val="0B0B0B"/>
                          </a:solidFill>
                          <a:latin typeface="Arial"/>
                        </a:rPr>
                        <a:t>ĐK/TF</a:t>
                      </a:r>
                    </a:p>
                  </a:txBody>
                  <a:tcPr marL="64008" marR="64008" marT="27432" marB="27432" anchor="ctr">
                    <a:solidFill>
                      <a:srgbClr val="CDE2FB"/>
                    </a:solidFill>
                  </a:tcPr>
                </a:tc>
                <a:tc>
                  <a:txBody>
                    <a:bodyPr wrap="square"/>
                    <a:lstStyle/>
                    <a:p>
                      <a:r>
                        <a:rPr sz="1000" b="1" i="0">
                          <a:solidFill>
                            <a:srgbClr val="0B0B0B"/>
                          </a:solidFill>
                          <a:latin typeface="Arial"/>
                        </a:rPr>
                        <a:t>ĐK/KD</a:t>
                      </a:r>
                    </a:p>
                  </a:txBody>
                  <a:tcPr marL="64008" marR="64008" marT="27432" marB="27432" anchor="ctr">
                    <a:solidFill>
                      <a:srgbClr val="CDE2FB"/>
                    </a:solidFill>
                  </a:tcPr>
                </a:tc>
              </a:tr>
              <a:tr h="329184">
                <a:tc>
                  <a:txBody>
                    <a:bodyPr wrap="square"/>
                    <a:lstStyle/>
                    <a:p>
                      <a:r>
                        <a:rPr sz="1000" b="0" i="0">
                          <a:solidFill>
                            <a:srgbClr val="0B0B0B"/>
                          </a:solidFill>
                          <a:latin typeface="Arial"/>
                        </a:rPr>
                        <a:t>Gốc (văn bản)</a:t>
                      </a:r>
                    </a:p>
                  </a:txBody>
                  <a:tcPr marL="64008" marR="64008" marT="27432" marB="27432" anchor="ctr">
                    <a:solidFill>
                      <a:srgbClr val="FFFFFF"/>
                    </a:solidFill>
                  </a:tcPr>
                </a:tc>
                <a:tc>
                  <a:txBody>
                    <a:bodyPr wrap="square"/>
                    <a:lstStyle/>
                    <a:p>
                      <a:r>
                        <a:rPr sz="1000" b="0" i="0">
                          <a:solidFill>
                            <a:srgbClr val="0B0B0B"/>
                          </a:solidFill>
                          <a:latin typeface="Arial"/>
                        </a:rPr>
                        <a:t>0%</a:t>
                      </a:r>
                    </a:p>
                  </a:txBody>
                  <a:tcPr marL="64008" marR="64008" marT="27432" marB="27432" anchor="ctr">
                    <a:solidFill>
                      <a:srgbClr val="FFFFFF"/>
                    </a:solidFill>
                  </a:tcPr>
                </a:tc>
                <a:tc>
                  <a:txBody>
                    <a:bodyPr wrap="square"/>
                    <a:lstStyle/>
                    <a:p>
                      <a:r>
                        <a:rPr sz="1000" b="0" i="0">
                          <a:solidFill>
                            <a:srgbClr val="0B0B0B"/>
                          </a:solidFill>
                          <a:latin typeface="Arial"/>
                        </a:rPr>
                        <a:t>23%</a:t>
                      </a:r>
                    </a:p>
                  </a:txBody>
                  <a:tcPr marL="64008" marR="64008" marT="27432" marB="27432" anchor="ctr">
                    <a:solidFill>
                      <a:srgbClr val="FFFFFF"/>
                    </a:solidFill>
                  </a:tcPr>
                </a:tc>
                <a:tc>
                  <a:txBody>
                    <a:bodyPr wrap="square"/>
                    <a:lstStyle/>
                    <a:p>
                      <a:r>
                        <a:rPr sz="1000" b="0" i="0">
                          <a:solidFill>
                            <a:srgbClr val="0B0B0B"/>
                          </a:solidFill>
                          <a:latin typeface="Arial"/>
                        </a:rPr>
                        <a:t>0%</a:t>
                      </a:r>
                    </a:p>
                  </a:txBody>
                  <a:tcPr marL="64008" marR="64008" marT="27432" marB="27432" anchor="ctr">
                    <a:solidFill>
                      <a:srgbClr val="FFFFFF"/>
                    </a:solidFill>
                  </a:tcPr>
                </a:tc>
                <a:tc>
                  <a:txBody>
                    <a:bodyPr wrap="square"/>
                    <a:lstStyle/>
                    <a:p>
                      <a:r>
                        <a:rPr sz="1000" b="0" i="0">
                          <a:solidFill>
                            <a:srgbClr val="0B0B0B"/>
                          </a:solidFill>
                          <a:latin typeface="Arial"/>
                        </a:rPr>
                        <a:t>10%</a:t>
                      </a:r>
                    </a:p>
                  </a:txBody>
                  <a:tcPr marL="64008" marR="64008" marT="27432" marB="27432" anchor="ctr">
                    <a:solidFill>
                      <a:srgbClr val="FFFFFF"/>
                    </a:solidFill>
                  </a:tcPr>
                </a:tc>
              </a:tr>
              <a:tr h="329184">
                <a:tc>
                  <a:txBody>
                    <a:bodyPr wrap="square"/>
                    <a:lstStyle/>
                    <a:p>
                      <a:r>
                        <a:rPr sz="1000" b="0" i="0">
                          <a:solidFill>
                            <a:srgbClr val="0B0B0B"/>
                          </a:solidFill>
                          <a:latin typeface="Arial"/>
                        </a:rPr>
                        <a:t>LLM viết lại</a:t>
                      </a:r>
                    </a:p>
                  </a:txBody>
                  <a:tcPr marL="64008" marR="64008" marT="27432" marB="27432" anchor="ctr">
                    <a:solidFill>
                      <a:srgbClr val="F9F9F7"/>
                    </a:solidFill>
                  </a:tcPr>
                </a:tc>
                <a:tc>
                  <a:txBody>
                    <a:bodyPr wrap="square"/>
                    <a:lstStyle/>
                    <a:p>
                      <a:r>
                        <a:rPr sz="1000" b="0" i="0">
                          <a:solidFill>
                            <a:srgbClr val="0B0B0B"/>
                          </a:solidFill>
                          <a:latin typeface="Arial"/>
                        </a:rPr>
                        <a:t>0%</a:t>
                      </a:r>
                    </a:p>
                  </a:txBody>
                  <a:tcPr marL="64008" marR="64008" marT="27432" marB="27432" anchor="ctr">
                    <a:solidFill>
                      <a:srgbClr val="F9F9F7"/>
                    </a:solidFill>
                  </a:tcPr>
                </a:tc>
                <a:tc>
                  <a:txBody>
                    <a:bodyPr wrap="square"/>
                    <a:lstStyle/>
                    <a:p>
                      <a:r>
                        <a:rPr sz="1000" b="0" i="0">
                          <a:solidFill>
                            <a:srgbClr val="0B0B0B"/>
                          </a:solidFill>
                          <a:latin typeface="Arial"/>
                        </a:rPr>
                        <a:t>23%</a:t>
                      </a:r>
                    </a:p>
                  </a:txBody>
                  <a:tcPr marL="64008" marR="64008" marT="27432" marB="27432" anchor="ctr">
                    <a:solidFill>
                      <a:srgbClr val="F9F9F7"/>
                    </a:solidFill>
                  </a:tcPr>
                </a:tc>
                <a:tc>
                  <a:txBody>
                    <a:bodyPr wrap="square"/>
                    <a:lstStyle/>
                    <a:p>
                      <a:r>
                        <a:rPr sz="1000" b="0" i="0">
                          <a:solidFill>
                            <a:srgbClr val="0B0B0B"/>
                          </a:solidFill>
                          <a:latin typeface="Arial"/>
                        </a:rPr>
                        <a:t>0%</a:t>
                      </a:r>
                    </a:p>
                  </a:txBody>
                  <a:tcPr marL="64008" marR="64008" marT="27432" marB="27432" anchor="ctr">
                    <a:solidFill>
                      <a:srgbClr val="F9F9F7"/>
                    </a:solidFill>
                  </a:tcPr>
                </a:tc>
                <a:tc>
                  <a:txBody>
                    <a:bodyPr wrap="square"/>
                    <a:lstStyle/>
                    <a:p>
                      <a:r>
                        <a:rPr sz="1000" b="0" i="0">
                          <a:solidFill>
                            <a:srgbClr val="0B0B0B"/>
                          </a:solidFill>
                          <a:latin typeface="Arial"/>
                        </a:rPr>
                        <a:t>10%</a:t>
                      </a:r>
                    </a:p>
                  </a:txBody>
                  <a:tcPr marL="64008" marR="64008" marT="27432" marB="27432" anchor="ctr">
                    <a:solidFill>
                      <a:srgbClr val="F9F9F7"/>
                    </a:solidFill>
                  </a:tcPr>
                </a:tc>
              </a:tr>
              <a:tr h="329184">
                <a:tc>
                  <a:txBody>
                    <a:bodyPr wrap="square"/>
                    <a:lstStyle/>
                    <a:p>
                      <a:r>
                        <a:rPr sz="1000" b="0" i="0">
                          <a:solidFill>
                            <a:srgbClr val="0B0B0B"/>
                          </a:solidFill>
                          <a:latin typeface="Arial"/>
                        </a:rPr>
                        <a:t>Chuyển vào ảnh</a:t>
                      </a:r>
                    </a:p>
                  </a:txBody>
                  <a:tcPr marL="64008" marR="64008" marT="27432" marB="27432" anchor="ctr">
                    <a:solidFill>
                      <a:srgbClr val="FFFFFF"/>
                    </a:solidFill>
                  </a:tcPr>
                </a:tc>
                <a:tc>
                  <a:txBody>
                    <a:bodyPr wrap="square"/>
                    <a:lstStyle/>
                    <a:p>
                      <a:r>
                        <a:rPr sz="1000" b="0" i="0">
                          <a:solidFill>
                            <a:srgbClr val="0B0B0B"/>
                          </a:solidFill>
                          <a:latin typeface="Arial"/>
                        </a:rPr>
                        <a:t>0%</a:t>
                      </a:r>
                    </a:p>
                  </a:txBody>
                  <a:tcPr marL="64008" marR="64008" marT="27432" marB="27432" anchor="ctr">
                    <a:solidFill>
                      <a:srgbClr val="FFFFFF"/>
                    </a:solidFill>
                  </a:tcPr>
                </a:tc>
                <a:tc>
                  <a:txBody>
                    <a:bodyPr wrap="square"/>
                    <a:lstStyle/>
                    <a:p>
                      <a:r>
                        <a:rPr sz="1000" b="0" i="0">
                          <a:solidFill>
                            <a:srgbClr val="0B0B0B"/>
                          </a:solidFill>
                          <a:latin typeface="Arial"/>
                        </a:rPr>
                        <a:t>0%</a:t>
                      </a:r>
                    </a:p>
                  </a:txBody>
                  <a:tcPr marL="64008" marR="64008" marT="27432" marB="27432" anchor="ctr">
                    <a:solidFill>
                      <a:srgbClr val="FFFFFF"/>
                    </a:solidFill>
                  </a:tcPr>
                </a:tc>
                <a:tc>
                  <a:txBody>
                    <a:bodyPr wrap="square"/>
                    <a:lstStyle/>
                    <a:p>
                      <a:r>
                        <a:rPr sz="1000" b="0" i="0">
                          <a:solidFill>
                            <a:srgbClr val="0B0B0B"/>
                          </a:solidFill>
                          <a:latin typeface="Arial"/>
                        </a:rPr>
                        <a:t>0%</a:t>
                      </a:r>
                    </a:p>
                  </a:txBody>
                  <a:tcPr marL="64008" marR="64008" marT="27432" marB="27432" anchor="ctr">
                    <a:solidFill>
                      <a:srgbClr val="FFFFFF"/>
                    </a:solidFill>
                  </a:tcPr>
                </a:tc>
                <a:tc>
                  <a:txBody>
                    <a:bodyPr wrap="square"/>
                    <a:lstStyle/>
                    <a:p>
                      <a:r>
                        <a:rPr sz="1000" b="0" i="0">
                          <a:solidFill>
                            <a:srgbClr val="0B0B0B"/>
                          </a:solidFill>
                          <a:latin typeface="Arial"/>
                        </a:rPr>
                        <a:t>17%</a:t>
                      </a:r>
                    </a:p>
                  </a:txBody>
                  <a:tcPr marL="64008" marR="64008" marT="27432" marB="27432" anchor="ctr">
                    <a:solidFill>
                      <a:srgbClr val="FFFFFF"/>
                    </a:solidFill>
                  </a:tcPr>
                </a:tc>
              </a:tr>
              <a:tr h="329184">
                <a:tc>
                  <a:txBody>
                    <a:bodyPr wrap="square"/>
                    <a:lstStyle/>
                    <a:p>
                      <a:r>
                        <a:rPr sz="1000" b="0" i="0">
                          <a:solidFill>
                            <a:srgbClr val="0B0B0B"/>
                          </a:solidFill>
                          <a:latin typeface="Arial"/>
                        </a:rPr>
                        <a:t>Ảnh + mã QR</a:t>
                      </a:r>
                    </a:p>
                  </a:txBody>
                  <a:tcPr marL="64008" marR="64008" marT="27432" marB="27432" anchor="ctr">
                    <a:solidFill>
                      <a:srgbClr val="F9F9F7"/>
                    </a:solidFill>
                  </a:tcPr>
                </a:tc>
                <a:tc>
                  <a:txBody>
                    <a:bodyPr wrap="square"/>
                    <a:lstStyle/>
                    <a:p>
                      <a:r>
                        <a:rPr sz="1000" b="0" i="0">
                          <a:solidFill>
                            <a:srgbClr val="0B0B0B"/>
                          </a:solidFill>
                          <a:latin typeface="Arial"/>
                        </a:rPr>
                        <a:t>0%</a:t>
                      </a:r>
                    </a:p>
                  </a:txBody>
                  <a:tcPr marL="64008" marR="64008" marT="27432" marB="27432" anchor="ctr">
                    <a:solidFill>
                      <a:srgbClr val="F9F9F7"/>
                    </a:solidFill>
                  </a:tcPr>
                </a:tc>
                <a:tc>
                  <a:txBody>
                    <a:bodyPr wrap="square"/>
                    <a:lstStyle/>
                    <a:p>
                      <a:r>
                        <a:rPr sz="1000" b="0" i="0">
                          <a:solidFill>
                            <a:srgbClr val="0B0B0B"/>
                          </a:solidFill>
                          <a:latin typeface="Arial"/>
                        </a:rPr>
                        <a:t>0%</a:t>
                      </a:r>
                    </a:p>
                  </a:txBody>
                  <a:tcPr marL="64008" marR="64008" marT="27432" marB="27432" anchor="ctr">
                    <a:solidFill>
                      <a:srgbClr val="F9F9F7"/>
                    </a:solidFill>
                  </a:tcPr>
                </a:tc>
                <a:tc>
                  <a:txBody>
                    <a:bodyPr wrap="square"/>
                    <a:lstStyle/>
                    <a:p>
                      <a:r>
                        <a:rPr sz="1000" b="0" i="0">
                          <a:solidFill>
                            <a:srgbClr val="0B0B0B"/>
                          </a:solidFill>
                          <a:latin typeface="Arial"/>
                        </a:rPr>
                        <a:t>7%</a:t>
                      </a:r>
                    </a:p>
                  </a:txBody>
                  <a:tcPr marL="64008" marR="64008" marT="27432" marB="27432" anchor="ctr">
                    <a:solidFill>
                      <a:srgbClr val="F9F9F7"/>
                    </a:solidFill>
                  </a:tcPr>
                </a:tc>
                <a:tc>
                  <a:txBody>
                    <a:bodyPr wrap="square"/>
                    <a:lstStyle/>
                    <a:p>
                      <a:r>
                        <a:rPr sz="1000" b="0" i="0">
                          <a:solidFill>
                            <a:srgbClr val="0B0B0B"/>
                          </a:solidFill>
                          <a:latin typeface="Arial"/>
                        </a:rPr>
                        <a:t>20%</a:t>
                      </a:r>
                    </a:p>
                  </a:txBody>
                  <a:tcPr marL="64008" marR="64008" marT="27432" marB="27432" anchor="ctr">
                    <a:solidFill>
                      <a:srgbClr val="F9F9F7"/>
                    </a:solidFill>
                  </a:tcPr>
                </a:tc>
              </a:tr>
              <a:tr h="329184">
                <a:tc>
                  <a:txBody>
                    <a:bodyPr wrap="square"/>
                    <a:lstStyle/>
                    <a:p>
                      <a:r>
                        <a:rPr sz="1000" b="0" i="0">
                          <a:solidFill>
                            <a:srgbClr val="0B0B0B"/>
                          </a:solidFill>
                          <a:latin typeface="Arial"/>
                        </a:rPr>
                        <a:t>Tệp Word đính kèm</a:t>
                      </a:r>
                    </a:p>
                  </a:txBody>
                  <a:tcPr marL="64008" marR="64008" marT="27432" marB="27432" anchor="ctr">
                    <a:solidFill>
                      <a:srgbClr val="FFFFFF"/>
                    </a:solidFill>
                  </a:tcPr>
                </a:tc>
                <a:tc>
                  <a:txBody>
                    <a:bodyPr wrap="square"/>
                    <a:lstStyle/>
                    <a:p>
                      <a:r>
                        <a:rPr sz="1000" b="0" i="0">
                          <a:solidFill>
                            <a:srgbClr val="0B0B0B"/>
                          </a:solidFill>
                          <a:latin typeface="Arial"/>
                        </a:rPr>
                        <a:t>0%</a:t>
                      </a:r>
                    </a:p>
                  </a:txBody>
                  <a:tcPr marL="64008" marR="64008" marT="27432" marB="27432" anchor="ctr">
                    <a:solidFill>
                      <a:srgbClr val="FFFFFF"/>
                    </a:solidFill>
                  </a:tcPr>
                </a:tc>
                <a:tc>
                  <a:txBody>
                    <a:bodyPr wrap="square"/>
                    <a:lstStyle/>
                    <a:p>
                      <a:r>
                        <a:rPr sz="1000" b="0" i="0">
                          <a:solidFill>
                            <a:srgbClr val="0B0B0B"/>
                          </a:solidFill>
                          <a:latin typeface="Arial"/>
                        </a:rPr>
                        <a:t>0%</a:t>
                      </a:r>
                    </a:p>
                  </a:txBody>
                  <a:tcPr marL="64008" marR="64008" marT="27432" marB="27432" anchor="ctr">
                    <a:solidFill>
                      <a:srgbClr val="FFFFFF"/>
                    </a:solidFill>
                  </a:tcPr>
                </a:tc>
                <a:tc>
                  <a:txBody>
                    <a:bodyPr wrap="square"/>
                    <a:lstStyle/>
                    <a:p>
                      <a:r>
                        <a:rPr sz="1000" b="0" i="0">
                          <a:solidFill>
                            <a:srgbClr val="0B0B0B"/>
                          </a:solidFill>
                          <a:latin typeface="Arial"/>
                        </a:rPr>
                        <a:t>0%</a:t>
                      </a:r>
                    </a:p>
                  </a:txBody>
                  <a:tcPr marL="64008" marR="64008" marT="27432" marB="27432" anchor="ctr">
                    <a:solidFill>
                      <a:srgbClr val="FFFFFF"/>
                    </a:solidFill>
                  </a:tcPr>
                </a:tc>
                <a:tc>
                  <a:txBody>
                    <a:bodyPr wrap="square"/>
                    <a:lstStyle/>
                    <a:p>
                      <a:r>
                        <a:rPr sz="1000" b="0" i="0">
                          <a:solidFill>
                            <a:srgbClr val="0B0B0B"/>
                          </a:solidFill>
                          <a:latin typeface="Arial"/>
                        </a:rPr>
                        <a:t>10%</a:t>
                      </a:r>
                    </a:p>
                  </a:txBody>
                  <a:tcPr marL="64008" marR="64008" marT="27432" marB="27432" anchor="ctr">
                    <a:solidFill>
                      <a:srgbClr val="FFFFFF"/>
                    </a:solidFill>
                  </a:tcPr>
                </a:tc>
              </a:tr>
              <a:tr h="329184">
                <a:tc>
                  <a:txBody>
                    <a:bodyPr wrap="square"/>
                    <a:lstStyle/>
                    <a:p>
                      <a:r>
                        <a:rPr sz="1000" b="0" i="0">
                          <a:solidFill>
                            <a:srgbClr val="0B0B0B"/>
                          </a:solidFill>
                          <a:latin typeface="Arial"/>
                        </a:rPr>
                        <a:t>Tệp HTML đính kèm</a:t>
                      </a:r>
                    </a:p>
                  </a:txBody>
                  <a:tcPr marL="64008" marR="64008" marT="27432" marB="27432" anchor="ctr">
                    <a:solidFill>
                      <a:srgbClr val="F9F9F7"/>
                    </a:solidFill>
                  </a:tcPr>
                </a:tc>
                <a:tc>
                  <a:txBody>
                    <a:bodyPr wrap="square"/>
                    <a:lstStyle/>
                    <a:p>
                      <a:r>
                        <a:rPr sz="1000" b="0" i="0">
                          <a:solidFill>
                            <a:srgbClr val="0B0B0B"/>
                          </a:solidFill>
                          <a:latin typeface="Arial"/>
                        </a:rPr>
                        <a:t>0%</a:t>
                      </a:r>
                    </a:p>
                  </a:txBody>
                  <a:tcPr marL="64008" marR="64008" marT="27432" marB="27432" anchor="ctr">
                    <a:solidFill>
                      <a:srgbClr val="F9F9F7"/>
                    </a:solidFill>
                  </a:tcPr>
                </a:tc>
                <a:tc>
                  <a:txBody>
                    <a:bodyPr wrap="square"/>
                    <a:lstStyle/>
                    <a:p>
                      <a:r>
                        <a:rPr sz="1000" b="0" i="0">
                          <a:solidFill>
                            <a:srgbClr val="0B0B0B"/>
                          </a:solidFill>
                          <a:latin typeface="Arial"/>
                        </a:rPr>
                        <a:t>0%</a:t>
                      </a:r>
                    </a:p>
                  </a:txBody>
                  <a:tcPr marL="64008" marR="64008" marT="27432" marB="27432" anchor="ctr">
                    <a:solidFill>
                      <a:srgbClr val="F9F9F7"/>
                    </a:solidFill>
                  </a:tcPr>
                </a:tc>
                <a:tc>
                  <a:txBody>
                    <a:bodyPr wrap="square"/>
                    <a:lstStyle/>
                    <a:p>
                      <a:r>
                        <a:rPr sz="1000" b="0" i="0">
                          <a:solidFill>
                            <a:srgbClr val="0B0B0B"/>
                          </a:solidFill>
                          <a:latin typeface="Arial"/>
                        </a:rPr>
                        <a:t>0%</a:t>
                      </a:r>
                    </a:p>
                  </a:txBody>
                  <a:tcPr marL="64008" marR="64008" marT="27432" marB="27432" anchor="ctr">
                    <a:solidFill>
                      <a:srgbClr val="F9F9F7"/>
                    </a:solidFill>
                  </a:tcPr>
                </a:tc>
                <a:tc>
                  <a:txBody>
                    <a:bodyPr wrap="square"/>
                    <a:lstStyle/>
                    <a:p>
                      <a:r>
                        <a:rPr sz="1000" b="0" i="0">
                          <a:solidFill>
                            <a:srgbClr val="0B0B0B"/>
                          </a:solidFill>
                          <a:latin typeface="Arial"/>
                        </a:rPr>
                        <a:t>17%</a:t>
                      </a:r>
                    </a:p>
                  </a:txBody>
                  <a:tcPr marL="64008" marR="64008" marT="27432" marB="27432" anchor="ctr">
                    <a:solidFill>
                      <a:srgbClr val="F9F9F7"/>
                    </a:solidFill>
                  </a:tcPr>
                </a:tc>
              </a:tr>
            </a:tbl>
          </a:graphicData>
        </a:graphic>
      </p:graphicFrame>
      <p:sp>
        <p:nvSpPr>
          <p:cNvPr id="9" name="TextBox 8"/>
          <p:cNvSpPr txBox="1"/>
          <p:nvPr/>
        </p:nvSpPr>
        <p:spPr>
          <a:xfrm>
            <a:off x="8503920" y="4206240"/>
            <a:ext cx="3291840" cy="2103120"/>
          </a:xfrm>
          <a:prstGeom prst="rect">
            <a:avLst/>
          </a:prstGeom>
          <a:noFill/>
        </p:spPr>
        <p:txBody>
          <a:bodyPr wrap="square" anchor="t" lIns="45720" rIns="45720">
            <a:spAutoFit/>
          </a:bodyPr>
          <a:lstStyle/>
          <a:p>
            <a:pPr>
              <a:spcAft>
                <a:spcPts val="600"/>
              </a:spcAft>
            </a:pPr>
            <a:r>
              <a:rPr sz="1100" b="0" i="0">
                <a:solidFill>
                  <a:srgbClr val="898781"/>
                </a:solidFill>
                <a:latin typeface="Arial"/>
              </a:rPr>
              <a:t>VB = chỉ đọc thân thư; ĐK = PhishLens đa kênh. Ngưỡng: điểm ≥ 50 hoặc P ≥ 0,5.</a:t>
            </a:r>
          </a:p>
          <a:p>
            <a:pPr>
              <a:spcAft>
                <a:spcPts val="600"/>
              </a:spcAft>
            </a:pPr>
            <a:r>
              <a:rPr sz="1100" b="0" i="1">
                <a:solidFill>
                  <a:srgbClr val="898781"/>
                </a:solidFill>
                <a:latin typeface="Arial"/>
              </a:rPr>
              <a:t>Dữ liệu tổng hợp; “LLM viết lại” là bộ luật mô phỏng – con số thể hiện xu hướng.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A78D6"/>
        </a:solidFill>
        <a:effectLst/>
      </p:bgPr>
    </p:bg>
    <p:spTree>
      <p:nvGrpSpPr>
        <p:cNvPr id="1" name=""/>
        <p:cNvGrpSpPr/>
        <p:nvPr/>
      </p:nvGrpSpPr>
      <p:grpSpPr/>
      <p:sp>
        <p:nvSpPr>
          <p:cNvPr id="2" name="TextBox 1"/>
          <p:cNvSpPr txBox="1"/>
          <p:nvPr/>
        </p:nvSpPr>
        <p:spPr>
          <a:xfrm>
            <a:off x="822960" y="2011680"/>
            <a:ext cx="10515600" cy="914400"/>
          </a:xfrm>
          <a:prstGeom prst="rect">
            <a:avLst/>
          </a:prstGeom>
          <a:noFill/>
        </p:spPr>
        <p:txBody>
          <a:bodyPr wrap="square" anchor="t" lIns="45720" rIns="45720">
            <a:spAutoFit/>
          </a:bodyPr>
          <a:lstStyle/>
          <a:p>
            <a:pPr>
              <a:spcAft>
                <a:spcPts val="600"/>
              </a:spcAft>
            </a:pPr>
            <a:r>
              <a:rPr sz="2000" b="1" i="0">
                <a:solidFill>
                  <a:srgbClr val="CDE2FB"/>
                </a:solidFill>
                <a:latin typeface="Arial"/>
              </a:rPr>
              <a:t>PHẦN III</a:t>
            </a:r>
          </a:p>
        </p:txBody>
      </p:sp>
      <p:sp>
        <p:nvSpPr>
          <p:cNvPr id="3" name="TextBox 2"/>
          <p:cNvSpPr txBox="1"/>
          <p:nvPr/>
        </p:nvSpPr>
        <p:spPr>
          <a:xfrm>
            <a:off x="822960" y="2651760"/>
            <a:ext cx="10515600" cy="1188720"/>
          </a:xfrm>
          <a:prstGeom prst="rect">
            <a:avLst/>
          </a:prstGeom>
          <a:noFill/>
        </p:spPr>
        <p:txBody>
          <a:bodyPr wrap="square" anchor="t" lIns="45720" rIns="45720">
            <a:spAutoFit/>
          </a:bodyPr>
          <a:lstStyle/>
          <a:p>
            <a:pPr>
              <a:spcAft>
                <a:spcPts val="600"/>
              </a:spcAft>
            </a:pPr>
            <a:r>
              <a:rPr sz="4800" b="1" i="0">
                <a:solidFill>
                  <a:srgbClr val="FFFFFF"/>
                </a:solidFill>
                <a:latin typeface="Arial"/>
              </a:rPr>
              <a:t>Đóng góp</a:t>
            </a:r>
          </a:p>
        </p:txBody>
      </p:sp>
      <p:sp>
        <p:nvSpPr>
          <p:cNvPr id="4" name="TextBox 3"/>
          <p:cNvSpPr txBox="1"/>
          <p:nvPr/>
        </p:nvSpPr>
        <p:spPr>
          <a:xfrm>
            <a:off x="822960" y="3840480"/>
            <a:ext cx="10515600" cy="914400"/>
          </a:xfrm>
          <a:prstGeom prst="rect">
            <a:avLst/>
          </a:prstGeom>
          <a:noFill/>
        </p:spPr>
        <p:txBody>
          <a:bodyPr wrap="square" anchor="t" lIns="45720" rIns="45720">
            <a:spAutoFit/>
          </a:bodyPr>
          <a:lstStyle/>
          <a:p>
            <a:pPr>
              <a:spcAft>
                <a:spcPts val="600"/>
              </a:spcAft>
            </a:pPr>
            <a:r>
              <a:rPr sz="2000" b="0" i="0">
                <a:solidFill>
                  <a:srgbClr val="CDE2FB"/>
                </a:solidFill>
                <a:latin typeface="Arial"/>
              </a:rPr>
              <a:t>Những gì nhóm bổ sung so với bài báo, phát hiện, hướng phát triển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III · ĐÓNG GÓP</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Bài báo làm gì — nhóm bổ sung gì</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26</a:t>
            </a:r>
          </a:p>
        </p:txBody>
      </p:sp>
      <p:graphicFrame>
        <p:nvGraphicFramePr>
          <p:cNvPr id="6" name="Table 5"/>
          <p:cNvGraphicFramePr>
            <a:graphicFrameLocks noGrp="1"/>
          </p:cNvGraphicFramePr>
          <p:nvPr/>
        </p:nvGraphicFramePr>
        <p:xfrm>
          <a:off x="548640" y="1371600"/>
          <a:ext cx="11155680" cy="4535424"/>
        </p:xfrm>
        <a:graphic>
          <a:graphicData uri="http://schemas.openxmlformats.org/drawingml/2006/table">
            <a:tbl>
              <a:tblPr firstRow="1" bandRow="1">
                <a:tableStyleId>{5C22544A-7EE6-4342-B048-85BDC9FD1C3A}</a:tableStyleId>
              </a:tblPr>
              <a:tblGrid>
                <a:gridCol w="2377440"/>
                <a:gridCol w="3474720"/>
                <a:gridCol w="5303520"/>
              </a:tblGrid>
              <a:tr h="566928">
                <a:tc>
                  <a:txBody>
                    <a:bodyPr wrap="square"/>
                    <a:lstStyle/>
                    <a:p>
                      <a:r>
                        <a:rPr sz="1400" b="1" i="0">
                          <a:solidFill>
                            <a:srgbClr val="0B0B0B"/>
                          </a:solidFill>
                          <a:latin typeface="Arial"/>
                        </a:rPr>
                        <a:t>Khía cạnh</a:t>
                      </a:r>
                    </a:p>
                  </a:txBody>
                  <a:tcPr marL="64008" marR="64008" marT="27432" marB="27432" anchor="ctr">
                    <a:solidFill>
                      <a:srgbClr val="CDE2FB"/>
                    </a:solidFill>
                  </a:tcPr>
                </a:tc>
                <a:tc>
                  <a:txBody>
                    <a:bodyPr wrap="square"/>
                    <a:lstStyle/>
                    <a:p>
                      <a:r>
                        <a:rPr sz="1400" b="1" i="0">
                          <a:solidFill>
                            <a:srgbClr val="0B0B0B"/>
                          </a:solidFill>
                          <a:latin typeface="Arial"/>
                        </a:rPr>
                        <a:t>Bài báo gốc</a:t>
                      </a:r>
                    </a:p>
                  </a:txBody>
                  <a:tcPr marL="64008" marR="64008" marT="27432" marB="27432" anchor="ctr">
                    <a:solidFill>
                      <a:srgbClr val="CDE2FB"/>
                    </a:solidFill>
                  </a:tcPr>
                </a:tc>
                <a:tc>
                  <a:txBody>
                    <a:bodyPr wrap="square"/>
                    <a:lstStyle/>
                    <a:p>
                      <a:r>
                        <a:rPr sz="1400" b="1" i="0">
                          <a:solidFill>
                            <a:srgbClr val="2A78D6"/>
                          </a:solidFill>
                          <a:latin typeface="Arial"/>
                        </a:rPr>
                        <a:t>Nhóm thực hiện</a:t>
                      </a:r>
                    </a:p>
                  </a:txBody>
                  <a:tcPr marL="64008" marR="64008" marT="27432" marB="27432" anchor="ctr">
                    <a:solidFill>
                      <a:srgbClr val="CDE2FB"/>
                    </a:solidFill>
                  </a:tcPr>
                </a:tc>
              </a:tr>
              <a:tr h="566928">
                <a:tc>
                  <a:txBody>
                    <a:bodyPr wrap="square"/>
                    <a:lstStyle/>
                    <a:p>
                      <a:r>
                        <a:rPr sz="1400" b="1" i="0">
                          <a:solidFill>
                            <a:srgbClr val="0B0B0B"/>
                          </a:solidFill>
                          <a:latin typeface="Arial"/>
                        </a:rPr>
                        <a:t>Kênh phân tích</a:t>
                      </a:r>
                    </a:p>
                  </a:txBody>
                  <a:tcPr marL="64008" marR="64008" marT="27432" marB="27432" anchor="ctr">
                    <a:solidFill>
                      <a:srgbClr val="FFFFFF"/>
                    </a:solidFill>
                  </a:tcPr>
                </a:tc>
                <a:tc>
                  <a:txBody>
                    <a:bodyPr wrap="square"/>
                    <a:lstStyle/>
                    <a:p>
                      <a:r>
                        <a:rPr sz="1400" b="0" i="0">
                          <a:solidFill>
                            <a:srgbClr val="0B0B0B"/>
                          </a:solidFill>
                          <a:latin typeface="Arial"/>
                        </a:rPr>
                        <a:t>Chỉ văn bản thân thư</a:t>
                      </a:r>
                    </a:p>
                  </a:txBody>
                  <a:tcPr marL="64008" marR="64008" marT="27432" marB="27432" anchor="ctr">
                    <a:solidFill>
                      <a:srgbClr val="FFFFFF"/>
                    </a:solidFill>
                  </a:tcPr>
                </a:tc>
                <a:tc>
                  <a:txBody>
                    <a:bodyPr wrap="square"/>
                    <a:lstStyle/>
                    <a:p>
                      <a:r>
                        <a:rPr sz="1400" b="0" i="0">
                          <a:solidFill>
                            <a:srgbClr val="0B0B0B"/>
                          </a:solidFill>
                          <a:latin typeface="Arial"/>
                        </a:rPr>
                        <a:t>5 kênh: người gửi, liên kết, nội dung, ảnh &amp; QR, tệp</a:t>
                      </a:r>
                    </a:p>
                  </a:txBody>
                  <a:tcPr marL="64008" marR="64008" marT="27432" marB="27432" anchor="ctr">
                    <a:solidFill>
                      <a:srgbClr val="FFFFFF"/>
                    </a:solidFill>
                  </a:tcPr>
                </a:tc>
              </a:tr>
              <a:tr h="566928">
                <a:tc>
                  <a:txBody>
                    <a:bodyPr wrap="square"/>
                    <a:lstStyle/>
                    <a:p>
                      <a:r>
                        <a:rPr sz="1400" b="1" i="0">
                          <a:solidFill>
                            <a:srgbClr val="0B0B0B"/>
                          </a:solidFill>
                          <a:latin typeface="Arial"/>
                        </a:rPr>
                        <a:t>Đầu ra</a:t>
                      </a:r>
                    </a:p>
                  </a:txBody>
                  <a:tcPr marL="64008" marR="64008" marT="27432" marB="27432" anchor="ctr">
                    <a:solidFill>
                      <a:srgbClr val="F9F9F7"/>
                    </a:solidFill>
                  </a:tcPr>
                </a:tc>
                <a:tc>
                  <a:txBody>
                    <a:bodyPr wrap="square"/>
                    <a:lstStyle/>
                    <a:p>
                      <a:r>
                        <a:rPr sz="1400" b="0" i="0">
                          <a:solidFill>
                            <a:srgbClr val="0B0B0B"/>
                          </a:solidFill>
                          <a:latin typeface="Arial"/>
                        </a:rPr>
                        <a:t>Nhãn nhị phân</a:t>
                      </a:r>
                    </a:p>
                  </a:txBody>
                  <a:tcPr marL="64008" marR="64008" marT="27432" marB="27432" anchor="ctr">
                    <a:solidFill>
                      <a:srgbClr val="F9F9F7"/>
                    </a:solidFill>
                  </a:tcPr>
                </a:tc>
                <a:tc>
                  <a:txBody>
                    <a:bodyPr wrap="square"/>
                    <a:lstStyle/>
                    <a:p>
                      <a:r>
                        <a:rPr sz="1400" b="0" i="0">
                          <a:solidFill>
                            <a:srgbClr val="0B0B0B"/>
                          </a:solidFill>
                          <a:latin typeface="Arial"/>
                        </a:rPr>
                        <a:t>Điểm 0–100, 4 mức, loại tấn công, kỹ thuật né tránh</a:t>
                      </a:r>
                    </a:p>
                  </a:txBody>
                  <a:tcPr marL="64008" marR="64008" marT="27432" marB="27432" anchor="ctr">
                    <a:solidFill>
                      <a:srgbClr val="F9F9F7"/>
                    </a:solidFill>
                  </a:tcPr>
                </a:tc>
              </a:tr>
              <a:tr h="566928">
                <a:tc>
                  <a:txBody>
                    <a:bodyPr wrap="square"/>
                    <a:lstStyle/>
                    <a:p>
                      <a:r>
                        <a:rPr sz="1400" b="1" i="0">
                          <a:solidFill>
                            <a:srgbClr val="0B0B0B"/>
                          </a:solidFill>
                          <a:latin typeface="Arial"/>
                        </a:rPr>
                        <a:t>Giải thích</a:t>
                      </a:r>
                    </a:p>
                  </a:txBody>
                  <a:tcPr marL="64008" marR="64008" marT="27432" marB="27432" anchor="ctr">
                    <a:solidFill>
                      <a:srgbClr val="FFFFFF"/>
                    </a:solidFill>
                  </a:tcPr>
                </a:tc>
                <a:tc>
                  <a:txBody>
                    <a:bodyPr wrap="square"/>
                    <a:lstStyle/>
                    <a:p>
                      <a:r>
                        <a:rPr sz="1400" b="0" i="0">
                          <a:solidFill>
                            <a:srgbClr val="0B0B0B"/>
                          </a:solidFill>
                          <a:latin typeface="Arial"/>
                        </a:rPr>
                        <a:t>Không</a:t>
                      </a:r>
                    </a:p>
                  </a:txBody>
                  <a:tcPr marL="64008" marR="64008" marT="27432" marB="27432" anchor="ctr">
                    <a:solidFill>
                      <a:srgbClr val="FFFFFF"/>
                    </a:solidFill>
                  </a:tcPr>
                </a:tc>
                <a:tc>
                  <a:txBody>
                    <a:bodyPr wrap="square"/>
                    <a:lstStyle/>
                    <a:p>
                      <a:r>
                        <a:rPr sz="1400" b="0" i="0">
                          <a:solidFill>
                            <a:srgbClr val="0B0B0B"/>
                          </a:solidFill>
                          <a:latin typeface="Arial"/>
                        </a:rPr>
                        <a:t>Lý do + bài học tiếng Việt, tô sáng, attention có dấu</a:t>
                      </a:r>
                    </a:p>
                  </a:txBody>
                  <a:tcPr marL="64008" marR="64008" marT="27432" marB="27432" anchor="ctr">
                    <a:solidFill>
                      <a:srgbClr val="FFFFFF"/>
                    </a:solidFill>
                  </a:tcPr>
                </a:tc>
              </a:tr>
              <a:tr h="566928">
                <a:tc>
                  <a:txBody>
                    <a:bodyPr wrap="square"/>
                    <a:lstStyle/>
                    <a:p>
                      <a:r>
                        <a:rPr sz="1400" b="1" i="0">
                          <a:solidFill>
                            <a:srgbClr val="0B0B0B"/>
                          </a:solidFill>
                          <a:latin typeface="Arial"/>
                        </a:rPr>
                        <a:t>Ngôn ngữ / bối cảnh</a:t>
                      </a:r>
                    </a:p>
                  </a:txBody>
                  <a:tcPr marL="64008" marR="64008" marT="27432" marB="27432" anchor="ctr">
                    <a:solidFill>
                      <a:srgbClr val="F9F9F7"/>
                    </a:solidFill>
                  </a:tcPr>
                </a:tc>
                <a:tc>
                  <a:txBody>
                    <a:bodyPr wrap="square"/>
                    <a:lstStyle/>
                    <a:p>
                      <a:r>
                        <a:rPr sz="1400" b="0" i="0">
                          <a:solidFill>
                            <a:srgbClr val="0B0B0B"/>
                          </a:solidFill>
                          <a:latin typeface="Arial"/>
                        </a:rPr>
                        <a:t>Tiếng Anh, doanh nghiệp</a:t>
                      </a:r>
                    </a:p>
                  </a:txBody>
                  <a:tcPr marL="64008" marR="64008" marT="27432" marB="27432" anchor="ctr">
                    <a:solidFill>
                      <a:srgbClr val="F9F9F7"/>
                    </a:solidFill>
                  </a:tcPr>
                </a:tc>
                <a:tc>
                  <a:txBody>
                    <a:bodyPr wrap="square"/>
                    <a:lstStyle/>
                    <a:p>
                      <a:r>
                        <a:rPr sz="1400" b="0" i="0">
                          <a:solidFill>
                            <a:srgbClr val="0B0B0B"/>
                          </a:solidFill>
                          <a:latin typeface="Arial"/>
                        </a:rPr>
                        <a:t>Tiếng Việt + Anh, môi trường trường học</a:t>
                      </a:r>
                    </a:p>
                  </a:txBody>
                  <a:tcPr marL="64008" marR="64008" marT="27432" marB="27432" anchor="ctr">
                    <a:solidFill>
                      <a:srgbClr val="F9F9F7"/>
                    </a:solidFill>
                  </a:tcPr>
                </a:tc>
              </a:tr>
              <a:tr h="566928">
                <a:tc>
                  <a:txBody>
                    <a:bodyPr wrap="square"/>
                    <a:lstStyle/>
                    <a:p>
                      <a:r>
                        <a:rPr sz="1400" b="1" i="0">
                          <a:solidFill>
                            <a:srgbClr val="0B0B0B"/>
                          </a:solidFill>
                          <a:latin typeface="Arial"/>
                        </a:rPr>
                        <a:t>Đánh giá</a:t>
                      </a:r>
                    </a:p>
                  </a:txBody>
                  <a:tcPr marL="64008" marR="64008" marT="27432" marB="27432" anchor="ctr">
                    <a:solidFill>
                      <a:srgbClr val="FFFFFF"/>
                    </a:solidFill>
                  </a:tcPr>
                </a:tc>
                <a:tc>
                  <a:txBody>
                    <a:bodyPr wrap="square"/>
                    <a:lstStyle/>
                    <a:p>
                      <a:r>
                        <a:rPr sz="1400" b="0" i="0">
                          <a:solidFill>
                            <a:srgbClr val="0B0B0B"/>
                          </a:solidFill>
                          <a:latin typeface="Arial"/>
                        </a:rPr>
                        <a:t>Chuyển phân phối Orig ↔ Gen</a:t>
                      </a:r>
                    </a:p>
                  </a:txBody>
                  <a:tcPr marL="64008" marR="64008" marT="27432" marB="27432" anchor="ctr">
                    <a:solidFill>
                      <a:srgbClr val="FFFFFF"/>
                    </a:solidFill>
                  </a:tcPr>
                </a:tc>
                <a:tc>
                  <a:txBody>
                    <a:bodyPr wrap="square"/>
                    <a:lstStyle/>
                    <a:p>
                      <a:r>
                        <a:rPr sz="1400" b="0" i="0">
                          <a:solidFill>
                            <a:srgbClr val="0B0B0B"/>
                          </a:solidFill>
                          <a:latin typeface="Arial"/>
                        </a:rPr>
                        <a:t>Thêm chuyển kênh: ảnh, QR, Word, HTML + báo nhầm</a:t>
                      </a:r>
                    </a:p>
                  </a:txBody>
                  <a:tcPr marL="64008" marR="64008" marT="27432" marB="27432" anchor="ctr">
                    <a:solidFill>
                      <a:srgbClr val="FFFFFF"/>
                    </a:solidFill>
                  </a:tcPr>
                </a:tc>
              </a:tr>
              <a:tr h="566928">
                <a:tc>
                  <a:txBody>
                    <a:bodyPr wrap="square"/>
                    <a:lstStyle/>
                    <a:p>
                      <a:r>
                        <a:rPr sz="1400" b="1" i="0">
                          <a:solidFill>
                            <a:srgbClr val="0B0B0B"/>
                          </a:solidFill>
                          <a:latin typeface="Arial"/>
                        </a:rPr>
                        <a:t>Tái lập</a:t>
                      </a:r>
                    </a:p>
                  </a:txBody>
                  <a:tcPr marL="64008" marR="64008" marT="27432" marB="27432" anchor="ctr">
                    <a:solidFill>
                      <a:srgbClr val="F9F9F7"/>
                    </a:solidFill>
                  </a:tcPr>
                </a:tc>
                <a:tc>
                  <a:txBody>
                    <a:bodyPr wrap="square"/>
                    <a:lstStyle/>
                    <a:p>
                      <a:r>
                        <a:rPr sz="1400" b="0" i="0">
                          <a:solidFill>
                            <a:srgbClr val="0B0B0B"/>
                          </a:solidFill>
                          <a:latin typeface="Arial"/>
                        </a:rPr>
                        <a:t>Dữ liệu &amp; code theo yêu cầu</a:t>
                      </a:r>
                    </a:p>
                  </a:txBody>
                  <a:tcPr marL="64008" marR="64008" marT="27432" marB="27432" anchor="ctr">
                    <a:solidFill>
                      <a:srgbClr val="F9F9F7"/>
                    </a:solidFill>
                  </a:tcPr>
                </a:tc>
                <a:tc>
                  <a:txBody>
                    <a:bodyPr wrap="square"/>
                    <a:lstStyle/>
                    <a:p>
                      <a:r>
                        <a:rPr sz="1400" b="0" i="0">
                          <a:solidFill>
                            <a:srgbClr val="0B0B0B"/>
                          </a:solidFill>
                          <a:latin typeface="Arial"/>
                        </a:rPr>
                        <a:t>Code mở, notebook Colab, script .bat cho Windows</a:t>
                      </a:r>
                    </a:p>
                  </a:txBody>
                  <a:tcPr marL="64008" marR="64008" marT="27432" marB="27432" anchor="ctr">
                    <a:solidFill>
                      <a:srgbClr val="F9F9F7"/>
                    </a:solidFill>
                  </a:tcPr>
                </a:tc>
              </a:tr>
              <a:tr h="566928">
                <a:tc>
                  <a:txBody>
                    <a:bodyPr wrap="square"/>
                    <a:lstStyle/>
                    <a:p>
                      <a:r>
                        <a:rPr sz="1400" b="1" i="0">
                          <a:solidFill>
                            <a:srgbClr val="0B0B0B"/>
                          </a:solidFill>
                          <a:latin typeface="Arial"/>
                        </a:rPr>
                        <a:t>Người dùng</a:t>
                      </a:r>
                    </a:p>
                  </a:txBody>
                  <a:tcPr marL="64008" marR="64008" marT="27432" marB="27432" anchor="ctr">
                    <a:solidFill>
                      <a:srgbClr val="FFFFFF"/>
                    </a:solidFill>
                  </a:tcPr>
                </a:tc>
                <a:tc>
                  <a:txBody>
                    <a:bodyPr wrap="square"/>
                    <a:lstStyle/>
                    <a:p>
                      <a:r>
                        <a:rPr sz="1400" b="0" i="0">
                          <a:solidFill>
                            <a:srgbClr val="0B0B0B"/>
                          </a:solidFill>
                          <a:latin typeface="Arial"/>
                        </a:rPr>
                        <a:t>Gateway / hệ thống</a:t>
                      </a:r>
                    </a:p>
                  </a:txBody>
                  <a:tcPr marL="64008" marR="64008" marT="27432" marB="27432" anchor="ctr">
                    <a:solidFill>
                      <a:srgbClr val="FFFFFF"/>
                    </a:solidFill>
                  </a:tcPr>
                </a:tc>
                <a:tc>
                  <a:txBody>
                    <a:bodyPr wrap="square"/>
                    <a:lstStyle/>
                    <a:p>
                      <a:r>
                        <a:rPr sz="1400" b="0" i="0">
                          <a:solidFill>
                            <a:srgbClr val="0B0B0B"/>
                          </a:solidFill>
                          <a:latin typeface="Arial"/>
                        </a:rPr>
                        <a:t>Sinh viên, cán bộ: web app + chế độ luyện tập</a:t>
                      </a:r>
                    </a:p>
                  </a:txBody>
                  <a:tcPr marL="64008" marR="64008" marT="27432" marB="27432" anchor="ctr">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III · ĐÓNG GÓP</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Năm đóng góp của nhóm</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27</a:t>
            </a:r>
          </a:p>
        </p:txBody>
      </p:sp>
      <p:sp>
        <p:nvSpPr>
          <p:cNvPr id="6" name="Rounded Rectangle 5"/>
          <p:cNvSpPr/>
          <p:nvPr/>
        </p:nvSpPr>
        <p:spPr>
          <a:xfrm>
            <a:off x="548640" y="1371600"/>
            <a:ext cx="5486400" cy="141732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554480"/>
            <a:ext cx="457200" cy="457200"/>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1</a:t>
            </a:r>
          </a:p>
        </p:txBody>
      </p:sp>
      <p:sp>
        <p:nvSpPr>
          <p:cNvPr id="8" name="TextBox 7"/>
          <p:cNvSpPr txBox="1"/>
          <p:nvPr/>
        </p:nvSpPr>
        <p:spPr>
          <a:xfrm>
            <a:off x="1325880" y="1481328"/>
            <a:ext cx="4572000" cy="1280160"/>
          </a:xfrm>
          <a:prstGeom prst="rect">
            <a:avLst/>
          </a:prstGeom>
          <a:noFill/>
        </p:spPr>
        <p:txBody>
          <a:bodyPr wrap="square" anchor="t" lIns="45720" rIns="45720">
            <a:spAutoFit/>
          </a:bodyPr>
          <a:lstStyle/>
          <a:p>
            <a:pPr>
              <a:spcAft>
                <a:spcPts val="300"/>
              </a:spcAft>
            </a:pPr>
            <a:r>
              <a:rPr sz="1600" b="1" i="0">
                <a:solidFill>
                  <a:srgbClr val="0B0B0B"/>
                </a:solidFill>
                <a:latin typeface="Arial"/>
              </a:rPr>
              <a:t>Bản tái hiện đầy đủ, chạy lại được</a:t>
            </a:r>
          </a:p>
          <a:p>
            <a:pPr>
              <a:spcAft>
                <a:spcPts val="600"/>
              </a:spcAft>
            </a:pPr>
            <a:r>
              <a:rPr sz="1300" b="0" i="0">
                <a:solidFill>
                  <a:srgbClr val="52514E"/>
                </a:solidFill>
                <a:latin typeface="Arial"/>
              </a:rPr>
              <a:t>Dữ liệu → 4 baseline → MobileBERT → KD-BiLSTM, 5 kịch bản × 5-fold; notebook Colab; tìm và sửa lỗi teacher MobileBERT bị sụp.</a:t>
            </a:r>
          </a:p>
        </p:txBody>
      </p:sp>
      <p:sp>
        <p:nvSpPr>
          <p:cNvPr id="9" name="Rounded Rectangle 8"/>
          <p:cNvSpPr/>
          <p:nvPr/>
        </p:nvSpPr>
        <p:spPr>
          <a:xfrm>
            <a:off x="6217920" y="1371600"/>
            <a:ext cx="5486400" cy="141732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00800" y="1554480"/>
            <a:ext cx="457200" cy="457200"/>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2</a:t>
            </a:r>
          </a:p>
        </p:txBody>
      </p:sp>
      <p:sp>
        <p:nvSpPr>
          <p:cNvPr id="11" name="TextBox 10"/>
          <p:cNvSpPr txBox="1"/>
          <p:nvPr/>
        </p:nvSpPr>
        <p:spPr>
          <a:xfrm>
            <a:off x="6995160" y="1481328"/>
            <a:ext cx="4572000" cy="1280160"/>
          </a:xfrm>
          <a:prstGeom prst="rect">
            <a:avLst/>
          </a:prstGeom>
          <a:noFill/>
        </p:spPr>
        <p:txBody>
          <a:bodyPr wrap="square" anchor="t" lIns="45720" rIns="45720">
            <a:spAutoFit/>
          </a:bodyPr>
          <a:lstStyle/>
          <a:p>
            <a:pPr>
              <a:spcAft>
                <a:spcPts val="300"/>
              </a:spcAft>
            </a:pPr>
            <a:r>
              <a:rPr sz="1600" b="1" i="0">
                <a:solidFill>
                  <a:srgbClr val="0B0B0B"/>
                </a:solidFill>
                <a:latin typeface="Arial"/>
              </a:rPr>
              <a:t>Corpus email trường học tiếng Việt</a:t>
            </a:r>
          </a:p>
          <a:p>
            <a:pPr>
              <a:spcAft>
                <a:spcPts val="600"/>
              </a:spcAft>
            </a:pPr>
            <a:r>
              <a:rPr sz="1300" b="0" i="0">
                <a:solidFill>
                  <a:srgbClr val="52514E"/>
                </a:solidFill>
                <a:latin typeface="Arial"/>
              </a:rPr>
              <a:t>15 dạng tấn công, 21 dạng hợp lệ, biến đổi kiểu LLM tiếng Việt, chia template held-out.</a:t>
            </a:r>
          </a:p>
        </p:txBody>
      </p:sp>
      <p:sp>
        <p:nvSpPr>
          <p:cNvPr id="12" name="Rounded Rectangle 11"/>
          <p:cNvSpPr/>
          <p:nvPr/>
        </p:nvSpPr>
        <p:spPr>
          <a:xfrm>
            <a:off x="548640" y="2971800"/>
            <a:ext cx="5486400" cy="1417320"/>
          </a:xfrm>
          <a:prstGeom prst="roundRect">
            <a:avLst>
              <a:gd name="adj" fmla="val 6000"/>
            </a:avLst>
          </a:prstGeom>
          <a:solidFill>
            <a:srgbClr val="CDE2FB"/>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31520" y="3154680"/>
            <a:ext cx="457200" cy="457200"/>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3</a:t>
            </a:r>
          </a:p>
        </p:txBody>
      </p:sp>
      <p:sp>
        <p:nvSpPr>
          <p:cNvPr id="14" name="TextBox 13"/>
          <p:cNvSpPr txBox="1"/>
          <p:nvPr/>
        </p:nvSpPr>
        <p:spPr>
          <a:xfrm>
            <a:off x="1325880" y="3081528"/>
            <a:ext cx="4572000" cy="1280160"/>
          </a:xfrm>
          <a:prstGeom prst="rect">
            <a:avLst/>
          </a:prstGeom>
          <a:noFill/>
        </p:spPr>
        <p:txBody>
          <a:bodyPr wrap="square" anchor="t" lIns="45720" rIns="45720">
            <a:spAutoFit/>
          </a:bodyPr>
          <a:lstStyle/>
          <a:p>
            <a:pPr>
              <a:spcAft>
                <a:spcPts val="300"/>
              </a:spcAft>
            </a:pPr>
            <a:r>
              <a:rPr sz="1600" b="1" i="0">
                <a:solidFill>
                  <a:srgbClr val="0B0B0B"/>
                </a:solidFill>
                <a:latin typeface="Arial"/>
              </a:rPr>
              <a:t>Hệ thống PhishLens Edu</a:t>
            </a:r>
          </a:p>
          <a:p>
            <a:pPr>
              <a:spcAft>
                <a:spcPts val="600"/>
              </a:spcAft>
            </a:pPr>
            <a:r>
              <a:rPr sz="1300" b="0" i="0">
                <a:solidFill>
                  <a:srgbClr val="52514E"/>
                </a:solidFill>
                <a:latin typeface="Arial"/>
              </a:rPr>
              <a:t>5 kênh, kết hợp noisy-OR, giải thích tiếng Việt, chế độ luyện tập; chạy cục bộ, phân tích tĩnh.</a:t>
            </a:r>
          </a:p>
        </p:txBody>
      </p:sp>
      <p:sp>
        <p:nvSpPr>
          <p:cNvPr id="15" name="Rounded Rectangle 14"/>
          <p:cNvSpPr/>
          <p:nvPr/>
        </p:nvSpPr>
        <p:spPr>
          <a:xfrm>
            <a:off x="6217920" y="2971800"/>
            <a:ext cx="5486400" cy="141732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00800" y="3154680"/>
            <a:ext cx="457200" cy="457200"/>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4</a:t>
            </a:r>
          </a:p>
        </p:txBody>
      </p:sp>
      <p:sp>
        <p:nvSpPr>
          <p:cNvPr id="17" name="TextBox 16"/>
          <p:cNvSpPr txBox="1"/>
          <p:nvPr/>
        </p:nvSpPr>
        <p:spPr>
          <a:xfrm>
            <a:off x="6995160" y="3081528"/>
            <a:ext cx="4572000" cy="1280160"/>
          </a:xfrm>
          <a:prstGeom prst="rect">
            <a:avLst/>
          </a:prstGeom>
          <a:noFill/>
        </p:spPr>
        <p:txBody>
          <a:bodyPr wrap="square" anchor="t" lIns="45720" rIns="45720">
            <a:spAutoFit/>
          </a:bodyPr>
          <a:lstStyle/>
          <a:p>
            <a:pPr>
              <a:spcAft>
                <a:spcPts val="300"/>
              </a:spcAft>
            </a:pPr>
            <a:r>
              <a:rPr sz="1600" b="1" i="0">
                <a:solidFill>
                  <a:srgbClr val="0B0B0B"/>
                </a:solidFill>
                <a:latin typeface="Arial"/>
              </a:rPr>
              <a:t>Thí nghiệm độ bền chuyển kênh</a:t>
            </a:r>
          </a:p>
          <a:p>
            <a:pPr>
              <a:spcAft>
                <a:spcPts val="600"/>
              </a:spcAft>
            </a:pPr>
            <a:r>
              <a:rPr sz="1300" b="0" i="0">
                <a:solidFill>
                  <a:srgbClr val="52514E"/>
                </a:solidFill>
                <a:latin typeface="Arial"/>
              </a:rPr>
              <a:t>Chỉ văn bản: 0% khi thông điệp vào ảnh/QR/tệp → đa kênh phục hồi 57–100%.</a:t>
            </a:r>
          </a:p>
        </p:txBody>
      </p:sp>
      <p:sp>
        <p:nvSpPr>
          <p:cNvPr id="18" name="Rounded Rectangle 17"/>
          <p:cNvSpPr/>
          <p:nvPr/>
        </p:nvSpPr>
        <p:spPr>
          <a:xfrm>
            <a:off x="548640" y="4572000"/>
            <a:ext cx="11155680" cy="141732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31520" y="4754880"/>
            <a:ext cx="457200" cy="457200"/>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5</a:t>
            </a:r>
          </a:p>
        </p:txBody>
      </p:sp>
      <p:sp>
        <p:nvSpPr>
          <p:cNvPr id="20" name="TextBox 19"/>
          <p:cNvSpPr txBox="1"/>
          <p:nvPr/>
        </p:nvSpPr>
        <p:spPr>
          <a:xfrm>
            <a:off x="1325880" y="4681728"/>
            <a:ext cx="10241280" cy="1280160"/>
          </a:xfrm>
          <a:prstGeom prst="rect">
            <a:avLst/>
          </a:prstGeom>
          <a:noFill/>
        </p:spPr>
        <p:txBody>
          <a:bodyPr wrap="square" anchor="t" lIns="45720" rIns="45720">
            <a:spAutoFit/>
          </a:bodyPr>
          <a:lstStyle/>
          <a:p>
            <a:pPr>
              <a:spcAft>
                <a:spcPts val="300"/>
              </a:spcAft>
            </a:pPr>
            <a:r>
              <a:rPr sz="1600" b="1" i="0">
                <a:solidFill>
                  <a:srgbClr val="0B0B0B"/>
                </a:solidFill>
                <a:latin typeface="Arial"/>
              </a:rPr>
              <a:t>Phân tích lỗi có giá trị thực tiễn</a:t>
            </a:r>
          </a:p>
          <a:p>
            <a:pPr>
              <a:spcAft>
                <a:spcPts val="600"/>
              </a:spcAft>
            </a:pPr>
            <a:r>
              <a:rPr sz="1300" b="0" i="0">
                <a:solidFill>
                  <a:srgbClr val="52514E"/>
                </a:solidFill>
                <a:latin typeface="Arial"/>
              </a:rPr>
              <a:t>BEC khó nhất; mô hình bài báo cần teacher hợp tiếng Việt; tách kênh giảm học đường tắt.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III · ĐÓNG GÓP</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Phát hiện chính từ thực nghiệm</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28</a:t>
            </a:r>
          </a:p>
        </p:txBody>
      </p:sp>
      <p:sp>
        <p:nvSpPr>
          <p:cNvPr id="6" name="Rounded Rectangle 5"/>
          <p:cNvSpPr/>
          <p:nvPr/>
        </p:nvSpPr>
        <p:spPr>
          <a:xfrm>
            <a:off x="548640" y="1371600"/>
            <a:ext cx="5486400" cy="146304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81328"/>
            <a:ext cx="5212080" cy="1280160"/>
          </a:xfrm>
          <a:prstGeom prst="rect">
            <a:avLst/>
          </a:prstGeom>
          <a:noFill/>
        </p:spPr>
        <p:txBody>
          <a:bodyPr wrap="square" anchor="t" lIns="45720" rIns="45720">
            <a:spAutoFit/>
          </a:bodyPr>
          <a:lstStyle/>
          <a:p>
            <a:pPr>
              <a:spcAft>
                <a:spcPts val="400"/>
              </a:spcAft>
            </a:pPr>
            <a:r>
              <a:rPr sz="1500" b="1" i="0">
                <a:solidFill>
                  <a:srgbClr val="0B0B0B"/>
                </a:solidFill>
                <a:latin typeface="Arial"/>
              </a:rPr>
              <a:t>Chuyển kênh vô hiệu hóa mô hình chỉ đọc văn bản</a:t>
            </a:r>
          </a:p>
          <a:p>
            <a:pPr>
              <a:spcAft>
                <a:spcPts val="600"/>
              </a:spcAft>
            </a:pPr>
            <a:r>
              <a:rPr sz="1300" b="0" i="0">
                <a:solidFill>
                  <a:srgbClr val="52514E"/>
                </a:solidFill>
                <a:latin typeface="Arial"/>
              </a:rPr>
              <a:t>Ảnh / QR / Word / HTML: chỉ văn bản 0% → đa kênh 57–100%.</a:t>
            </a:r>
          </a:p>
        </p:txBody>
      </p:sp>
      <p:sp>
        <p:nvSpPr>
          <p:cNvPr id="8" name="Rounded Rectangle 7"/>
          <p:cNvSpPr/>
          <p:nvPr/>
        </p:nvSpPr>
        <p:spPr>
          <a:xfrm>
            <a:off x="6217920" y="1371600"/>
            <a:ext cx="5486400" cy="146304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481328"/>
            <a:ext cx="5212080" cy="1280160"/>
          </a:xfrm>
          <a:prstGeom prst="rect">
            <a:avLst/>
          </a:prstGeom>
          <a:noFill/>
        </p:spPr>
        <p:txBody>
          <a:bodyPr wrap="square" anchor="t" lIns="45720" rIns="45720">
            <a:spAutoFit/>
          </a:bodyPr>
          <a:lstStyle/>
          <a:p>
            <a:pPr>
              <a:spcAft>
                <a:spcPts val="400"/>
              </a:spcAft>
            </a:pPr>
            <a:r>
              <a:rPr sz="1500" b="1" i="0">
                <a:solidFill>
                  <a:srgbClr val="0B0B0B"/>
                </a:solidFill>
                <a:latin typeface="Arial"/>
              </a:rPr>
              <a:t>LLM viết lại làm giảm mô hình văn bản</a:t>
            </a:r>
          </a:p>
          <a:p>
            <a:pPr>
              <a:spcAft>
                <a:spcPts val="600"/>
              </a:spcAft>
            </a:pPr>
            <a:r>
              <a:rPr sz="1300" b="0" i="0">
                <a:solidFill>
                  <a:srgbClr val="52514E"/>
                </a:solidFill>
                <a:latin typeface="Arial"/>
              </a:rPr>
              <a:t>TF-IDF 80% → 67%, KD-BiLSTM 67% → 60%; hệ đa kênh giữ 80%. Khớp nhận định của bài báo.</a:t>
            </a:r>
          </a:p>
        </p:txBody>
      </p:sp>
      <p:sp>
        <p:nvSpPr>
          <p:cNvPr id="10" name="Rounded Rectangle 9"/>
          <p:cNvSpPr/>
          <p:nvPr/>
        </p:nvSpPr>
        <p:spPr>
          <a:xfrm>
            <a:off x="548640" y="3017520"/>
            <a:ext cx="5486400" cy="146304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127248"/>
            <a:ext cx="5212080" cy="1280160"/>
          </a:xfrm>
          <a:prstGeom prst="rect">
            <a:avLst/>
          </a:prstGeom>
          <a:noFill/>
        </p:spPr>
        <p:txBody>
          <a:bodyPr wrap="square" anchor="t" lIns="45720" rIns="45720">
            <a:spAutoFit/>
          </a:bodyPr>
          <a:lstStyle/>
          <a:p>
            <a:pPr>
              <a:spcAft>
                <a:spcPts val="400"/>
              </a:spcAft>
            </a:pPr>
            <a:r>
              <a:rPr sz="1500" b="1" i="0">
                <a:solidFill>
                  <a:srgbClr val="0B0B0B"/>
                </a:solidFill>
                <a:latin typeface="Arial"/>
              </a:rPr>
              <a:t>BEC (mạo danh nhờ chuyển tiền/thẻ cào) khó nhất</a:t>
            </a:r>
          </a:p>
          <a:p>
            <a:pPr>
              <a:spcAft>
                <a:spcPts val="600"/>
              </a:spcAft>
            </a:pPr>
            <a:r>
              <a:rPr sz="1300" b="0" i="0">
                <a:solidFill>
                  <a:srgbClr val="52514E"/>
                </a:solidFill>
                <a:latin typeface="Arial"/>
              </a:rPr>
              <a:t>Không link, không tệp: bỏ sót 50% khi bỏ tín hiệu người gửi; có người gửi thật thì demo đạt 78/100.</a:t>
            </a:r>
          </a:p>
        </p:txBody>
      </p:sp>
      <p:sp>
        <p:nvSpPr>
          <p:cNvPr id="12" name="Rounded Rectangle 11"/>
          <p:cNvSpPr/>
          <p:nvPr/>
        </p:nvSpPr>
        <p:spPr>
          <a:xfrm>
            <a:off x="6217920" y="3017520"/>
            <a:ext cx="5486400" cy="146304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3127248"/>
            <a:ext cx="5212080" cy="1280160"/>
          </a:xfrm>
          <a:prstGeom prst="rect">
            <a:avLst/>
          </a:prstGeom>
          <a:noFill/>
        </p:spPr>
        <p:txBody>
          <a:bodyPr wrap="square" anchor="t" lIns="45720" rIns="45720">
            <a:spAutoFit/>
          </a:bodyPr>
          <a:lstStyle/>
          <a:p>
            <a:pPr>
              <a:spcAft>
                <a:spcPts val="400"/>
              </a:spcAft>
            </a:pPr>
            <a:r>
              <a:rPr sz="1500" b="1" i="0">
                <a:solidFill>
                  <a:srgbClr val="0B0B0B"/>
                </a:solidFill>
                <a:latin typeface="Arial"/>
              </a:rPr>
              <a:t>Mô hình bài báo khi sang tiếng Việt</a:t>
            </a:r>
          </a:p>
          <a:p>
            <a:pPr>
              <a:spcAft>
                <a:spcPts val="600"/>
              </a:spcAft>
            </a:pPr>
            <a:r>
              <a:rPr sz="1300" b="0" i="0">
                <a:solidFill>
                  <a:srgbClr val="52514E"/>
                </a:solidFill>
                <a:latin typeface="Arial"/>
              </a:rPr>
              <a:t>KD-BiLSTM báo nhầm ~14% so với 1% của TF-IDF: tokenizer tiếng Anh xóa dấu → cần PhoBERT / XLM-R.</a:t>
            </a:r>
          </a:p>
        </p:txBody>
      </p:sp>
      <p:sp>
        <p:nvSpPr>
          <p:cNvPr id="14" name="Rounded Rectangle 13"/>
          <p:cNvSpPr/>
          <p:nvPr/>
        </p:nvSpPr>
        <p:spPr>
          <a:xfrm>
            <a:off x="548640" y="4663440"/>
            <a:ext cx="11155680" cy="146304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773168"/>
            <a:ext cx="10881360" cy="1280160"/>
          </a:xfrm>
          <a:prstGeom prst="rect">
            <a:avLst/>
          </a:prstGeom>
          <a:noFill/>
        </p:spPr>
        <p:txBody>
          <a:bodyPr wrap="square" anchor="t" lIns="45720" rIns="45720">
            <a:spAutoFit/>
          </a:bodyPr>
          <a:lstStyle/>
          <a:p>
            <a:pPr>
              <a:spcAft>
                <a:spcPts val="400"/>
              </a:spcAft>
            </a:pPr>
            <a:r>
              <a:rPr sz="1500" b="1" i="0">
                <a:solidFill>
                  <a:srgbClr val="0B0B0B"/>
                </a:solidFill>
                <a:latin typeface="Arial"/>
              </a:rPr>
              <a:t>Học đường tắt</a:t>
            </a:r>
          </a:p>
          <a:p>
            <a:pPr>
              <a:spcAft>
                <a:spcPts val="600"/>
              </a:spcAft>
            </a:pPr>
            <a:r>
              <a:rPr sz="1300" b="0" i="0">
                <a:solidFill>
                  <a:srgbClr val="52514E"/>
                </a:solidFill>
                <a:latin typeface="Arial"/>
              </a:rPr>
              <a:t>Bản đầu báo nhầm email thật có link trường (96–100%). Che URL + email hợp lệ “khó” → dưới 0,3.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III · ĐÓNG GÓP</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Hạn chế &amp; hướng phát triển</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29</a:t>
            </a:r>
          </a:p>
        </p:txBody>
      </p:sp>
      <p:sp>
        <p:nvSpPr>
          <p:cNvPr id="6" name="TextBox 5"/>
          <p:cNvSpPr txBox="1"/>
          <p:nvPr/>
        </p:nvSpPr>
        <p:spPr>
          <a:xfrm>
            <a:off x="548640" y="1463040"/>
            <a:ext cx="5486400" cy="4572000"/>
          </a:xfrm>
          <a:prstGeom prst="rect">
            <a:avLst/>
          </a:prstGeom>
          <a:noFill/>
        </p:spPr>
        <p:txBody>
          <a:bodyPr wrap="square" anchor="t" lIns="45720" rIns="45720">
            <a:spAutoFit/>
          </a:bodyPr>
          <a:lstStyle/>
          <a:p>
            <a:pPr>
              <a:spcAft>
                <a:spcPts val="900"/>
              </a:spcAft>
            </a:pPr>
            <a:r>
              <a:rPr sz="1600" b="0" i="0">
                <a:solidFill>
                  <a:srgbClr val="2A78D6"/>
                </a:solidFill>
                <a:latin typeface="Arial"/>
              </a:rPr>
              <a:t>•  </a:t>
            </a:r>
            <a:r>
              <a:rPr sz="1600" b="1" i="0">
                <a:solidFill>
                  <a:srgbClr val="0B0B0B"/>
                </a:solidFill>
                <a:latin typeface="Arial"/>
              </a:rPr>
              <a:t>Hạn chế</a:t>
            </a:r>
            <a:r>
              <a:rPr sz="1600" b="0" i="0">
                <a:solidFill>
                  <a:srgbClr val="0B0B0B"/>
                </a:solidFill>
                <a:latin typeface="Arial"/>
              </a:rPr>
              <a:t/>
            </a:r>
          </a:p>
          <a:p>
            <a:pPr lvl="1">
              <a:spcAft>
                <a:spcPts val="500"/>
              </a:spcAft>
            </a:pPr>
            <a:r>
              <a:rPr sz="1400" b="0" i="0">
                <a:solidFill>
                  <a:srgbClr val="898781"/>
                </a:solidFill>
                <a:latin typeface="Arial"/>
              </a:rPr>
              <a:t>–  </a:t>
            </a:r>
            <a:r>
              <a:rPr sz="1400" b="0" i="0">
                <a:solidFill>
                  <a:srgbClr val="52514E"/>
                </a:solidFill>
                <a:latin typeface="Arial"/>
              </a:rPr>
              <a:t>Dữ liệu tổng hợp; chưa có email lừa đảo thật của trường</a:t>
            </a:r>
          </a:p>
          <a:p>
            <a:pPr lvl="1">
              <a:spcAft>
                <a:spcPts val="500"/>
              </a:spcAft>
            </a:pPr>
            <a:r>
              <a:rPr sz="1400" b="0" i="0">
                <a:solidFill>
                  <a:srgbClr val="898781"/>
                </a:solidFill>
                <a:latin typeface="Arial"/>
              </a:rPr>
              <a:t>–  </a:t>
            </a:r>
            <a:r>
              <a:rPr sz="1400" b="0" i="0">
                <a:solidFill>
                  <a:srgbClr val="52514E"/>
                </a:solidFill>
                <a:latin typeface="Arial"/>
              </a:rPr>
              <a:t>“LLM viết lại” mới là bộ luật mô phỏng</a:t>
            </a:r>
          </a:p>
          <a:p>
            <a:pPr lvl="1">
              <a:spcAft>
                <a:spcPts val="500"/>
              </a:spcAft>
            </a:pPr>
            <a:r>
              <a:rPr sz="1400" b="0" i="0">
                <a:solidFill>
                  <a:srgbClr val="898781"/>
                </a:solidFill>
                <a:latin typeface="Arial"/>
              </a:rPr>
              <a:t>–  </a:t>
            </a:r>
            <a:r>
              <a:rPr sz="1400" b="0" i="0">
                <a:solidFill>
                  <a:srgbClr val="52514E"/>
                </a:solidFill>
                <a:latin typeface="Arial"/>
              </a:rPr>
              <a:t>Chưa tái hiện Table 7–8 (ModernBERT, DeBERTa, XGBoost…)</a:t>
            </a:r>
          </a:p>
          <a:p>
            <a:pPr lvl="1">
              <a:spcAft>
                <a:spcPts val="500"/>
              </a:spcAft>
            </a:pPr>
            <a:r>
              <a:rPr sz="1400" b="0" i="0">
                <a:solidFill>
                  <a:srgbClr val="898781"/>
                </a:solidFill>
                <a:latin typeface="Arial"/>
              </a:rPr>
              <a:t>–  </a:t>
            </a:r>
            <a:r>
              <a:rPr sz="1400" b="0" i="0">
                <a:solidFill>
                  <a:srgbClr val="52514E"/>
                </a:solidFill>
                <a:latin typeface="Arial"/>
              </a:rPr>
              <a:t>Độ mạnh bằng chứng đặt thủ công, chưa hiệu chỉnh</a:t>
            </a:r>
          </a:p>
          <a:p>
            <a:pPr lvl="1">
              <a:spcAft>
                <a:spcPts val="500"/>
              </a:spcAft>
            </a:pPr>
            <a:r>
              <a:rPr sz="1400" b="0" i="0">
                <a:solidFill>
                  <a:srgbClr val="898781"/>
                </a:solidFill>
                <a:latin typeface="Arial"/>
              </a:rPr>
              <a:t>–  </a:t>
            </a:r>
            <a:r>
              <a:rPr sz="1400" b="0" i="0">
                <a:solidFill>
                  <a:srgbClr val="52514E"/>
                </a:solidFill>
                <a:latin typeface="Arial"/>
              </a:rPr>
              <a:t>Chưa kiểm tra danh tiếng URL, chưa sandbox tệp</a:t>
            </a:r>
          </a:p>
          <a:p>
            <a:pPr lvl="1">
              <a:spcAft>
                <a:spcPts val="500"/>
              </a:spcAft>
            </a:pPr>
            <a:r>
              <a:rPr sz="1400" b="0" i="0">
                <a:solidFill>
                  <a:srgbClr val="898781"/>
                </a:solidFill>
                <a:latin typeface="Arial"/>
              </a:rPr>
              <a:t>–  </a:t>
            </a:r>
            <a:r>
              <a:rPr sz="1400" b="0" i="0">
                <a:solidFill>
                  <a:srgbClr val="52514E"/>
                </a:solidFill>
                <a:latin typeface="Arial"/>
              </a:rPr>
              <a:t>OCR trên CPU mất vài giây mỗi ảnh</a:t>
            </a:r>
          </a:p>
        </p:txBody>
      </p:sp>
      <p:sp>
        <p:nvSpPr>
          <p:cNvPr id="7" name="TextBox 6"/>
          <p:cNvSpPr txBox="1"/>
          <p:nvPr/>
        </p:nvSpPr>
        <p:spPr>
          <a:xfrm>
            <a:off x="6309360" y="1463040"/>
            <a:ext cx="5486400" cy="4572000"/>
          </a:xfrm>
          <a:prstGeom prst="rect">
            <a:avLst/>
          </a:prstGeom>
          <a:noFill/>
        </p:spPr>
        <p:txBody>
          <a:bodyPr wrap="square" anchor="t" lIns="45720" rIns="45720">
            <a:spAutoFit/>
          </a:bodyPr>
          <a:lstStyle/>
          <a:p>
            <a:pPr>
              <a:spcAft>
                <a:spcPts val="900"/>
              </a:spcAft>
            </a:pPr>
            <a:r>
              <a:rPr sz="1600" b="0" i="0">
                <a:solidFill>
                  <a:srgbClr val="2A78D6"/>
                </a:solidFill>
                <a:latin typeface="Arial"/>
              </a:rPr>
              <a:t>•  </a:t>
            </a:r>
            <a:r>
              <a:rPr sz="1600" b="1" i="0">
                <a:solidFill>
                  <a:srgbClr val="0B0B0B"/>
                </a:solidFill>
                <a:latin typeface="Arial"/>
              </a:rPr>
              <a:t>Hướng phát triển</a:t>
            </a:r>
            <a:r>
              <a:rPr sz="1600" b="0" i="0">
                <a:solidFill>
                  <a:srgbClr val="0B0B0B"/>
                </a:solidFill>
                <a:latin typeface="Arial"/>
              </a:rPr>
              <a:t/>
            </a:r>
          </a:p>
          <a:p>
            <a:pPr lvl="1">
              <a:spcAft>
                <a:spcPts val="500"/>
              </a:spcAft>
            </a:pPr>
            <a:r>
              <a:rPr sz="1400" b="0" i="0">
                <a:solidFill>
                  <a:srgbClr val="898781"/>
                </a:solidFill>
                <a:latin typeface="Arial"/>
              </a:rPr>
              <a:t>–  </a:t>
            </a:r>
            <a:r>
              <a:rPr sz="1400" b="0" i="0">
                <a:solidFill>
                  <a:srgbClr val="52514E"/>
                </a:solidFill>
                <a:latin typeface="Arial"/>
              </a:rPr>
              <a:t>Thu thập email lừa đảo thật (ẩn danh) qua hộp thư báo cáo của Phòng CNTT</a:t>
            </a:r>
          </a:p>
          <a:p>
            <a:pPr lvl="1">
              <a:spcAft>
                <a:spcPts val="500"/>
              </a:spcAft>
            </a:pPr>
            <a:r>
              <a:rPr sz="1400" b="0" i="0">
                <a:solidFill>
                  <a:srgbClr val="898781"/>
                </a:solidFill>
                <a:latin typeface="Arial"/>
              </a:rPr>
              <a:t>–  </a:t>
            </a:r>
            <a:r>
              <a:rPr sz="1400" b="0" i="0">
                <a:solidFill>
                  <a:srgbClr val="52514E"/>
                </a:solidFill>
                <a:latin typeface="Arial"/>
              </a:rPr>
              <a:t>Sinh biến thể bằng LLM thật chạy cục bộ (đã có chỗ cắm Ollama)</a:t>
            </a:r>
          </a:p>
          <a:p>
            <a:pPr lvl="1">
              <a:spcAft>
                <a:spcPts val="500"/>
              </a:spcAft>
            </a:pPr>
            <a:r>
              <a:rPr sz="1400" b="0" i="0">
                <a:solidFill>
                  <a:srgbClr val="898781"/>
                </a:solidFill>
                <a:latin typeface="Arial"/>
              </a:rPr>
              <a:t>–  </a:t>
            </a:r>
            <a:r>
              <a:rPr sz="1400" b="0" i="0">
                <a:solidFill>
                  <a:srgbClr val="52514E"/>
                </a:solidFill>
                <a:latin typeface="Arial"/>
              </a:rPr>
              <a:t>Teacher đa ngôn ngữ: PhoBERT / XLM-R</a:t>
            </a:r>
          </a:p>
          <a:p>
            <a:pPr lvl="1">
              <a:spcAft>
                <a:spcPts val="500"/>
              </a:spcAft>
            </a:pPr>
            <a:r>
              <a:rPr sz="1400" b="0" i="0">
                <a:solidFill>
                  <a:srgbClr val="898781"/>
                </a:solidFill>
                <a:latin typeface="Arial"/>
              </a:rPr>
              <a:t>–  </a:t>
            </a:r>
            <a:r>
              <a:rPr sz="1400" b="0" i="0">
                <a:solidFill>
                  <a:srgbClr val="52514E"/>
                </a:solidFill>
                <a:latin typeface="Arial"/>
              </a:rPr>
              <a:t>Khảo sát người dùng: kiểm tra trước/sau 2 tuần luyện tập</a:t>
            </a:r>
          </a:p>
          <a:p>
            <a:pPr lvl="1">
              <a:spcAft>
                <a:spcPts val="500"/>
              </a:spcAft>
            </a:pPr>
            <a:r>
              <a:rPr sz="1400" b="0" i="0">
                <a:solidFill>
                  <a:srgbClr val="898781"/>
                </a:solidFill>
                <a:latin typeface="Arial"/>
              </a:rPr>
              <a:t>–  </a:t>
            </a:r>
            <a:r>
              <a:rPr sz="1400" b="0" i="0">
                <a:solidFill>
                  <a:srgbClr val="52514E"/>
                </a:solidFill>
                <a:latin typeface="Arial"/>
              </a:rPr>
              <a:t>Tích hợp add-in Outlook/Gmail hoặc hộp thư “chuyển tiếp để kiểm tra”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III · ĐÓNG GÓP</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Kết luận</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30</a:t>
            </a:r>
          </a:p>
        </p:txBody>
      </p:sp>
      <p:sp>
        <p:nvSpPr>
          <p:cNvPr id="6" name="Rounded Rectangle 5"/>
          <p:cNvSpPr/>
          <p:nvPr/>
        </p:nvSpPr>
        <p:spPr>
          <a:xfrm>
            <a:off x="548640" y="1737360"/>
            <a:ext cx="3566160" cy="31089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47088"/>
            <a:ext cx="3291840" cy="2926080"/>
          </a:xfrm>
          <a:prstGeom prst="rect">
            <a:avLst/>
          </a:prstGeom>
          <a:noFill/>
        </p:spPr>
        <p:txBody>
          <a:bodyPr wrap="square" anchor="t" lIns="45720" rIns="45720">
            <a:spAutoFit/>
          </a:bodyPr>
          <a:lstStyle/>
          <a:p>
            <a:pPr>
              <a:spcAft>
                <a:spcPts val="400"/>
              </a:spcAft>
            </a:pPr>
            <a:r>
              <a:rPr sz="1900" b="1" i="0">
                <a:solidFill>
                  <a:srgbClr val="0B0B0B"/>
                </a:solidFill>
                <a:latin typeface="Arial"/>
              </a:rPr>
              <a:t>Tìm hiểu</a:t>
            </a:r>
          </a:p>
          <a:p>
            <a:pPr>
              <a:spcAft>
                <a:spcPts val="600"/>
              </a:spcAft>
            </a:pPr>
            <a:r>
              <a:rPr sz="1700" b="0" i="0">
                <a:solidFill>
                  <a:srgbClr val="52514E"/>
                </a:solidFill>
                <a:latin typeface="Arial"/>
              </a:rPr>
              <a:t>Nắm vững phương pháp KD-BiLSTM: dữ liệu nhận biết LLM, BiLSTM + attention, chưng cất từ MobileBERT; chỉ ra 3 khoảng trống khi đưa vào thực tế.</a:t>
            </a:r>
          </a:p>
        </p:txBody>
      </p:sp>
      <p:sp>
        <p:nvSpPr>
          <p:cNvPr id="8" name="Rounded Rectangle 7"/>
          <p:cNvSpPr/>
          <p:nvPr/>
        </p:nvSpPr>
        <p:spPr>
          <a:xfrm>
            <a:off x="4343400" y="1737360"/>
            <a:ext cx="3566160" cy="31089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847088"/>
            <a:ext cx="3291840" cy="2926080"/>
          </a:xfrm>
          <a:prstGeom prst="rect">
            <a:avLst/>
          </a:prstGeom>
          <a:noFill/>
        </p:spPr>
        <p:txBody>
          <a:bodyPr wrap="square" anchor="t" lIns="45720" rIns="45720">
            <a:spAutoFit/>
          </a:bodyPr>
          <a:lstStyle/>
          <a:p>
            <a:pPr>
              <a:spcAft>
                <a:spcPts val="400"/>
              </a:spcAft>
            </a:pPr>
            <a:r>
              <a:rPr sz="1900" b="1" i="0">
                <a:solidFill>
                  <a:srgbClr val="0B0B0B"/>
                </a:solidFill>
                <a:latin typeface="Arial"/>
              </a:rPr>
              <a:t>Nội dung thực hiện</a:t>
            </a:r>
          </a:p>
          <a:p>
            <a:pPr>
              <a:spcAft>
                <a:spcPts val="600"/>
              </a:spcAft>
            </a:pPr>
            <a:r>
              <a:rPr sz="1700" b="0" i="0">
                <a:solidFill>
                  <a:srgbClr val="52514E"/>
                </a:solidFill>
                <a:latin typeface="Arial"/>
              </a:rPr>
              <a:t>Tái hiện đầy đủ pipeline (số tham số &amp; xu hướng khớp bài báo) và xây dựng PhishLens Edu với KD-BiLSTM làm kênh nội dung.</a:t>
            </a:r>
          </a:p>
        </p:txBody>
      </p:sp>
      <p:sp>
        <p:nvSpPr>
          <p:cNvPr id="10" name="Rounded Rectangle 9"/>
          <p:cNvSpPr/>
          <p:nvPr/>
        </p:nvSpPr>
        <p:spPr>
          <a:xfrm>
            <a:off x="8138160" y="1737360"/>
            <a:ext cx="3566160" cy="3108960"/>
          </a:xfrm>
          <a:prstGeom prst="roundRect">
            <a:avLst>
              <a:gd name="adj" fmla="val 6000"/>
            </a:avLst>
          </a:prstGeom>
          <a:solidFill>
            <a:srgbClr val="CDE2FB"/>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1847088"/>
            <a:ext cx="3291840" cy="2926080"/>
          </a:xfrm>
          <a:prstGeom prst="rect">
            <a:avLst/>
          </a:prstGeom>
          <a:noFill/>
        </p:spPr>
        <p:txBody>
          <a:bodyPr wrap="square" anchor="t" lIns="45720" rIns="45720">
            <a:spAutoFit/>
          </a:bodyPr>
          <a:lstStyle/>
          <a:p>
            <a:pPr>
              <a:spcAft>
                <a:spcPts val="400"/>
              </a:spcAft>
            </a:pPr>
            <a:r>
              <a:rPr sz="1900" b="1" i="0">
                <a:solidFill>
                  <a:srgbClr val="2A78D6"/>
                </a:solidFill>
                <a:latin typeface="Arial"/>
              </a:rPr>
              <a:t>Đóng góp</a:t>
            </a:r>
          </a:p>
          <a:p>
            <a:pPr>
              <a:spcAft>
                <a:spcPts val="600"/>
              </a:spcAft>
            </a:pPr>
            <a:r>
              <a:rPr sz="1700" b="0" i="0">
                <a:solidFill>
                  <a:srgbClr val="52514E"/>
                </a:solidFill>
                <a:latin typeface="Arial"/>
              </a:rPr>
              <a:t>Từ bộ phân loại văn bản → hệ phân tích đa kênh có giải thích cho trường học; chuyển kênh: 0% → 57–100%.</a:t>
            </a:r>
          </a:p>
        </p:txBody>
      </p:sp>
      <p:sp>
        <p:nvSpPr>
          <p:cNvPr id="12" name="TextBox 11"/>
          <p:cNvSpPr txBox="1"/>
          <p:nvPr/>
        </p:nvSpPr>
        <p:spPr>
          <a:xfrm>
            <a:off x="548640" y="5760720"/>
            <a:ext cx="11155680" cy="548640"/>
          </a:xfrm>
          <a:prstGeom prst="rect">
            <a:avLst/>
          </a:prstGeom>
          <a:noFill/>
        </p:spPr>
        <p:txBody>
          <a:bodyPr wrap="square" anchor="t" lIns="45720" rIns="45720">
            <a:spAutoFit/>
          </a:bodyPr>
          <a:lstStyle/>
          <a:p>
            <a:pPr algn="ctr">
              <a:spcAft>
                <a:spcPts val="600"/>
              </a:spcAft>
            </a:pPr>
            <a:r>
              <a:rPr sz="2000" b="1" i="0">
                <a:solidFill>
                  <a:srgbClr val="2A78D6"/>
                </a:solidFill>
                <a:latin typeface="Arial"/>
              </a:rPr>
              <a:t>Cảm ơn thầy cô và các bạn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