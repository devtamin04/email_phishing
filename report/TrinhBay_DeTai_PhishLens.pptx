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Chỉ văn bản – TF-IDF</c:v>
                </c:pt>
              </c:strCache>
            </c:strRef>
          </c:tx>
          <c:spPr>
            <a:solidFill>
              <a:srgbClr val="2A78D6"/>
            </a:solidFill>
          </c:spPr>
          <c:cat>
            <c:strRef>
              <c:f>Sheet1!$A$2:$A$7</c:f>
              <c:strCache>
                <c:ptCount val="6"/>
                <c:pt idx="0">
                  <c:v>Gốc (văn bản)</c:v>
                </c:pt>
                <c:pt idx="1">
                  <c:v>LLM viết lại</c:v>
                </c:pt>
                <c:pt idx="2">
                  <c:v>Chuyển vào ảnh</c:v>
                </c:pt>
                <c:pt idx="3">
                  <c:v>Ảnh + mã QR</c:v>
                </c:pt>
                <c:pt idx="4">
                  <c:v>Tệp Word đính kèm</c:v>
                </c:pt>
                <c:pt idx="5">
                  <c:v>Tệp HTML đính kèm</c:v>
                </c:pt>
              </c:strCache>
            </c:strRef>
          </c:cat>
          <c:val>
            <c:numRef>
              <c:f>Sheet1!$B$2:$B$7</c:f>
              <c:numCache>
                <c:formatCode>General</c:formatCode>
                <c:ptCount val="6"/>
                <c:pt idx="0">
                  <c:v>0.8</c:v>
                </c:pt>
                <c:pt idx="1">
                  <c:v>0.6666666666666666</c:v>
                </c:pt>
                <c:pt idx="2">
                  <c:v>0.0</c:v>
                </c:pt>
                <c:pt idx="3">
                  <c:v>0.0</c:v>
                </c:pt>
                <c:pt idx="4">
                  <c:v>0.0</c:v>
                </c:pt>
                <c:pt idx="5">
                  <c:v>0.0</c:v>
                </c:pt>
              </c:numCache>
            </c:numRef>
          </c:val>
        </c:ser>
        <c:ser>
          <c:idx val="1"/>
          <c:order val="1"/>
          <c:tx>
            <c:strRef>
              <c:f>Sheet1!$C$1</c:f>
              <c:strCache>
                <c:ptCount val="1"/>
                <c:pt idx="0">
                  <c:v>Chỉ văn bản – KD-BiLSTM</c:v>
                </c:pt>
              </c:strCache>
            </c:strRef>
          </c:tx>
          <c:spPr>
            <a:solidFill>
              <a:srgbClr val="EB6834"/>
            </a:solidFill>
          </c:spPr>
          <c:cat>
            <c:strRef>
              <c:f>Sheet1!$A$2:$A$7</c:f>
              <c:strCache>
                <c:ptCount val="6"/>
                <c:pt idx="0">
                  <c:v>Gốc (văn bản)</c:v>
                </c:pt>
                <c:pt idx="1">
                  <c:v>LLM viết lại</c:v>
                </c:pt>
                <c:pt idx="2">
                  <c:v>Chuyển vào ảnh</c:v>
                </c:pt>
                <c:pt idx="3">
                  <c:v>Ảnh + mã QR</c:v>
                </c:pt>
                <c:pt idx="4">
                  <c:v>Tệp Word đính kèm</c:v>
                </c:pt>
                <c:pt idx="5">
                  <c:v>Tệp HTML đính kèm</c:v>
                </c:pt>
              </c:strCache>
            </c:strRef>
          </c:cat>
          <c:val>
            <c:numRef>
              <c:f>Sheet1!$C$2:$C$7</c:f>
              <c:numCache>
                <c:formatCode>General</c:formatCode>
                <c:ptCount val="6"/>
                <c:pt idx="0">
                  <c:v>0.6666666666666666</c:v>
                </c:pt>
                <c:pt idx="1">
                  <c:v>0.6</c:v>
                </c:pt>
                <c:pt idx="2">
                  <c:v>0.0</c:v>
                </c:pt>
                <c:pt idx="3">
                  <c:v>0.0</c:v>
                </c:pt>
                <c:pt idx="4">
                  <c:v>0.0</c:v>
                </c:pt>
                <c:pt idx="5">
                  <c:v>0.0</c:v>
                </c:pt>
              </c:numCache>
            </c:numRef>
          </c:val>
        </c:ser>
        <c:ser>
          <c:idx val="2"/>
          <c:order val="2"/>
          <c:tx>
            <c:strRef>
              <c:f>Sheet1!$D$1</c:f>
              <c:strCache>
                <c:ptCount val="1"/>
                <c:pt idx="0">
                  <c:v>PhishLens đa kênh – TF-IDF</c:v>
                </c:pt>
              </c:strCache>
            </c:strRef>
          </c:tx>
          <c:spPr>
            <a:solidFill>
              <a:srgbClr val="1BAF7A"/>
            </a:solidFill>
          </c:spPr>
          <c:cat>
            <c:strRef>
              <c:f>Sheet1!$A$2:$A$7</c:f>
              <c:strCache>
                <c:ptCount val="6"/>
                <c:pt idx="0">
                  <c:v>Gốc (văn bản)</c:v>
                </c:pt>
                <c:pt idx="1">
                  <c:v>LLM viết lại</c:v>
                </c:pt>
                <c:pt idx="2">
                  <c:v>Chuyển vào ảnh</c:v>
                </c:pt>
                <c:pt idx="3">
                  <c:v>Ảnh + mã QR</c:v>
                </c:pt>
                <c:pt idx="4">
                  <c:v>Tệp Word đính kèm</c:v>
                </c:pt>
                <c:pt idx="5">
                  <c:v>Tệp HTML đính kèm</c:v>
                </c:pt>
              </c:strCache>
            </c:strRef>
          </c:cat>
          <c:val>
            <c:numRef>
              <c:f>Sheet1!$D$2:$D$7</c:f>
              <c:numCache>
                <c:formatCode>General</c:formatCode>
                <c:ptCount val="6"/>
                <c:pt idx="0">
                  <c:v>0.8</c:v>
                </c:pt>
                <c:pt idx="1">
                  <c:v>0.8</c:v>
                </c:pt>
                <c:pt idx="2">
                  <c:v>0.9</c:v>
                </c:pt>
                <c:pt idx="3">
                  <c:v>1.0</c:v>
                </c:pt>
                <c:pt idx="4">
                  <c:v>0.7</c:v>
                </c:pt>
                <c:pt idx="5">
                  <c:v>1.0</c:v>
                </c:pt>
              </c:numCache>
            </c:numRef>
          </c:val>
        </c:ser>
        <c:ser>
          <c:idx val="3"/>
          <c:order val="3"/>
          <c:tx>
            <c:strRef>
              <c:f>Sheet1!$E$1</c:f>
              <c:strCache>
                <c:ptCount val="1"/>
                <c:pt idx="0">
                  <c:v>PhishLens đa kênh – KD-BiLSTM</c:v>
                </c:pt>
              </c:strCache>
            </c:strRef>
          </c:tx>
          <c:spPr>
            <a:solidFill>
              <a:srgbClr val="EDA100"/>
            </a:solidFill>
          </c:spPr>
          <c:cat>
            <c:strRef>
              <c:f>Sheet1!$A$2:$A$7</c:f>
              <c:strCache>
                <c:ptCount val="6"/>
                <c:pt idx="0">
                  <c:v>Gốc (văn bản)</c:v>
                </c:pt>
                <c:pt idx="1">
                  <c:v>LLM viết lại</c:v>
                </c:pt>
                <c:pt idx="2">
                  <c:v>Chuyển vào ảnh</c:v>
                </c:pt>
                <c:pt idx="3">
                  <c:v>Ảnh + mã QR</c:v>
                </c:pt>
                <c:pt idx="4">
                  <c:v>Tệp Word đính kèm</c:v>
                </c:pt>
                <c:pt idx="5">
                  <c:v>Tệp HTML đính kèm</c:v>
                </c:pt>
              </c:strCache>
            </c:strRef>
          </c:cat>
          <c:val>
            <c:numRef>
              <c:f>Sheet1!$E$2:$E$7</c:f>
              <c:numCache>
                <c:formatCode>General</c:formatCode>
                <c:ptCount val="6"/>
                <c:pt idx="0">
                  <c:v>0.8</c:v>
                </c:pt>
                <c:pt idx="1">
                  <c:v>0.8</c:v>
                </c:pt>
                <c:pt idx="2">
                  <c:v>0.9666666666666667</c:v>
                </c:pt>
                <c:pt idx="3">
                  <c:v>1.0</c:v>
                </c:pt>
                <c:pt idx="4">
                  <c:v>0.5666666666666667</c:v>
                </c:pt>
                <c:pt idx="5">
                  <c:v>1.0</c:v>
                </c:pt>
              </c:numCache>
            </c:numRef>
          </c:val>
        </c:ser>
        <c:dLbls>
          <c:numFmt formatCode="0%" sourceLinked="0"/>
          <c:txPr>
            <a:bodyPr/>
            <a:lstStyle/>
            <a:p>
              <a:pPr>
                <a:defRPr sz="900">
                  <a:solidFill>
                    <a:srgbClr val="52514E"/>
                  </a:solidFill>
                  <a:latin typeface="Arial"/>
                </a:defRPr>
              </a:pPr>
            </a:p>
          </c:txPr>
          <c:dLblPos val="outEnd"/>
          <c:showLegendKey val="0"/>
          <c:showVal val="1"/>
          <c:showCatName val="0"/>
          <c:showSerName val="0"/>
          <c:showPercent val="0"/>
          <c:showBubbleSize val="0"/>
          <c:showLeaderLines val="1"/>
        </c:dLbls>
        <c:gapWidth val="60"/>
        <c:overlap val="-8"/>
        <c:axId val="-2068027336"/>
        <c:axId val="-2113994440"/>
      </c:barChart>
      <c:catAx>
        <c:axId val="-2068027336"/>
        <c:scaling>
          <c:orientation val="maxMin"/>
        </c:scaling>
        <c:delete val="0"/>
        <c:axPos val="l"/>
        <c:majorTickMark val="out"/>
        <c:minorTickMark val="none"/>
        <c:tickLblPos val="nextTo"/>
        <c:spPr>
          <a:ln>
            <a:solidFill>
              <a:srgbClr val="E1E0D9"/>
            </a:solidFill>
          </a:ln>
        </c:spPr>
        <c:txPr>
          <a:bodyPr/>
          <a:lstStyle/>
          <a:p>
            <a:pPr>
              <a:defRPr sz="1200">
                <a:latin typeface="Arial"/>
              </a:defRPr>
            </a:pPr>
          </a:p>
        </c:txPr>
        <c:crossAx val="-2113994440"/>
        <c:crosses val="autoZero"/>
        <c:auto val="1"/>
        <c:lblAlgn val="ctr"/>
        <c:lblOffset val="100"/>
        <c:noMultiLvlLbl val="0"/>
      </c:catAx>
      <c:valAx>
        <c:axId val="-2113994440"/>
        <c:scaling>
          <c:max val="1.0"/>
          <c:min val="0.0"/>
        </c:scaling>
        <c:delete val="0"/>
        <c:axPos val="b"/>
        <c:majorGridlines>
          <c:spPr>
            <a:ln>
              <a:solidFill>
                <a:srgbClr val="E1E0D9"/>
              </a:solidFill>
            </a:ln>
          </c:spPr>
        </c:majorGridlines>
        <c:numFmt formatCode="0%" sourceLinked="0"/>
        <c:majorTickMark val="out"/>
        <c:minorTickMark val="none"/>
        <c:tickLblPos val="nextTo"/>
        <c:spPr>
          <a:ln>
            <a:noFill/>
          </a:ln>
        </c:spPr>
        <c:txPr>
          <a:bodyPr/>
          <a:lstStyle/>
          <a:p>
            <a:pPr>
              <a:defRPr sz="1000">
                <a:solidFill>
                  <a:srgbClr val="898781"/>
                </a:solidFill>
              </a:defRPr>
            </a:pPr>
          </a:p>
        </c:txPr>
        <c:crossAx val="-2068027336"/>
        <c:crosses val="autoZero"/>
        <c:majorUnit val="0.25"/>
      </c:valAx>
    </c:plotArea>
    <c:legend>
      <c:legendPos val="t"/>
      <c:overlay val="0"/>
      <c:txPr>
        <a:bodyPr/>
        <a:lstStyle/>
        <a:p>
          <a:pPr>
            <a:defRPr sz="1100">
              <a:solidFill>
                <a:srgbClr val="52514E"/>
              </a:solidFill>
              <a:latin typeface="Arial"/>
            </a:defRPr>
          </a:pPr>
        </a:p>
      </c:txPr>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97280"/>
          </a:xfrm>
          <a:prstGeom prst="rect">
            <a:avLst/>
          </a:prstGeom>
          <a:noFill/>
        </p:spPr>
        <p:txBody>
          <a:bodyPr wrap="square" anchor="t" lIns="45720" rIns="45720">
            <a:spAutoFit/>
          </a:bodyPr>
          <a:lstStyle/>
          <a:p>
            <a:pPr>
              <a:spcAft>
                <a:spcPts val="600"/>
              </a:spcAft>
            </a:pPr>
            <a:r>
              <a:rPr sz="4200" b="1" i="0">
                <a:solidFill>
                  <a:srgbClr val="0B0B0B"/>
                </a:solidFill>
                <a:latin typeface="Arial"/>
              </a:rPr>
              <a:t>Phát hiện email lừa đảo thế hệ LLM</a:t>
            </a:r>
          </a:p>
        </p:txBody>
      </p:sp>
      <p:sp>
        <p:nvSpPr>
          <p:cNvPr id="4" name="TextBox 3"/>
          <p:cNvSpPr txBox="1"/>
          <p:nvPr/>
        </p:nvSpPr>
        <p:spPr>
          <a:xfrm>
            <a:off x="822960" y="2880360"/>
            <a:ext cx="10515600" cy="914400"/>
          </a:xfrm>
          <a:prstGeom prst="rect">
            <a:avLst/>
          </a:prstGeom>
          <a:noFill/>
        </p:spPr>
        <p:txBody>
          <a:bodyPr wrap="square" anchor="t" lIns="45720" rIns="45720">
            <a:spAutoFit/>
          </a:bodyPr>
          <a:lstStyle/>
          <a:p>
            <a:pPr>
              <a:spcAft>
                <a:spcPts val="600"/>
              </a:spcAft>
            </a:pPr>
            <a:r>
              <a:rPr sz="2200" b="0" i="0">
                <a:solidFill>
                  <a:srgbClr val="52514E"/>
                </a:solidFill>
                <a:latin typeface="Arial"/>
              </a:rPr>
              <a:t>Tái hiện KD-BiLSTM (Eskandarian et al., JISA 2026) và ứng dụng: PhishLens Edu</a:t>
            </a:r>
          </a:p>
        </p:txBody>
      </p:sp>
      <p:sp>
        <p:nvSpPr>
          <p:cNvPr id="5" name="TextBox 4"/>
          <p:cNvSpPr txBox="1"/>
          <p:nvPr/>
        </p:nvSpPr>
        <p:spPr>
          <a:xfrm>
            <a:off x="822960" y="4206240"/>
            <a:ext cx="10515600" cy="1097280"/>
          </a:xfrm>
          <a:prstGeom prst="rect">
            <a:avLst/>
          </a:prstGeom>
          <a:noFill/>
        </p:spPr>
        <p:txBody>
          <a:bodyPr wrap="square" anchor="t" lIns="45720" rIns="45720">
            <a:spAutoFit/>
          </a:bodyPr>
          <a:lstStyle/>
          <a:p>
            <a:pPr>
              <a:spcAft>
                <a:spcPts val="600"/>
              </a:spcAft>
            </a:pPr>
            <a:r>
              <a:rPr sz="1300" b="0" i="1">
                <a:solidFill>
                  <a:srgbClr val="898781"/>
                </a:solidFill>
                <a:latin typeface="Arial"/>
              </a:rPr>
              <a:t>Bài báo gốc: M. Eskandarian et al., "A lightweight defense mechanism against next-generation of phishing emails using distilled attention-augmented BiLSTM", Journal of Information Security and Applications 101 (2026) 104552.</a:t>
            </a:r>
          </a:p>
          <a:p>
            <a:pPr>
              <a:spcAft>
                <a:spcPts val="600"/>
              </a:spcAft>
            </a:pPr>
            <a:r>
              <a:rPr sz="1600" b="0" i="0">
                <a:solidFill>
                  <a:srgbClr val="0B0B0B"/>
                </a:solidFill>
                <a:latin typeface="Arial"/>
              </a:rPr>
              <a:t>Người trình bày: [Họ tên sinh viên]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Nội dung trình bày</a:t>
            </a:r>
          </a:p>
        </p:txBody>
      </p:sp>
      <p:sp>
        <p:nvSpPr>
          <p:cNvPr id="4" name="TextBox 3"/>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2</a:t>
            </a:r>
          </a:p>
        </p:txBody>
      </p:sp>
      <p:sp>
        <p:nvSpPr>
          <p:cNvPr id="5" name="Oval 4"/>
          <p:cNvSpPr/>
          <p:nvPr/>
        </p:nvSpPr>
        <p:spPr>
          <a:xfrm>
            <a:off x="822960" y="1508760"/>
            <a:ext cx="502920" cy="502920"/>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1</a:t>
            </a:r>
          </a:p>
        </p:txBody>
      </p:sp>
      <p:sp>
        <p:nvSpPr>
          <p:cNvPr id="6" name="TextBox 5"/>
          <p:cNvSpPr txBox="1"/>
          <p:nvPr/>
        </p:nvSpPr>
        <p:spPr>
          <a:xfrm>
            <a:off x="1554480" y="1490472"/>
            <a:ext cx="9144000" cy="640080"/>
          </a:xfrm>
          <a:prstGeom prst="rect">
            <a:avLst/>
          </a:prstGeom>
          <a:noFill/>
        </p:spPr>
        <p:txBody>
          <a:bodyPr wrap="square" anchor="t" lIns="45720" rIns="45720">
            <a:spAutoFit/>
          </a:bodyPr>
          <a:lstStyle/>
          <a:p>
            <a:pPr>
              <a:spcAft>
                <a:spcPts val="600"/>
              </a:spcAft>
            </a:pPr>
            <a:r>
              <a:rPr sz="1800" b="1" i="0">
                <a:solidFill>
                  <a:srgbClr val="0B0B0B"/>
                </a:solidFill>
                <a:latin typeface="Arial"/>
              </a:rPr>
              <a:t>Bài báo gốc</a:t>
            </a:r>
            <a:r>
              <a:rPr sz="1800" b="0" i="0">
                <a:solidFill>
                  <a:srgbClr val="0B0B0B"/>
                </a:solidFill>
                <a:latin typeface="Arial"/>
              </a:rPr>
              <a:t>  —  Bài toán, phương pháp KD-BiLSTM, kết quả</a:t>
            </a:r>
          </a:p>
        </p:txBody>
      </p:sp>
      <p:sp>
        <p:nvSpPr>
          <p:cNvPr id="7" name="Oval 6"/>
          <p:cNvSpPr/>
          <p:nvPr/>
        </p:nvSpPr>
        <p:spPr>
          <a:xfrm>
            <a:off x="822960" y="2295144"/>
            <a:ext cx="502920" cy="502920"/>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2</a:t>
            </a:r>
          </a:p>
        </p:txBody>
      </p:sp>
      <p:sp>
        <p:nvSpPr>
          <p:cNvPr id="8" name="TextBox 7"/>
          <p:cNvSpPr txBox="1"/>
          <p:nvPr/>
        </p:nvSpPr>
        <p:spPr>
          <a:xfrm>
            <a:off x="1554480" y="2276856"/>
            <a:ext cx="9144000" cy="640080"/>
          </a:xfrm>
          <a:prstGeom prst="rect">
            <a:avLst/>
          </a:prstGeom>
          <a:noFill/>
        </p:spPr>
        <p:txBody>
          <a:bodyPr wrap="square" anchor="t" lIns="45720" rIns="45720">
            <a:spAutoFit/>
          </a:bodyPr>
          <a:lstStyle/>
          <a:p>
            <a:pPr>
              <a:spcAft>
                <a:spcPts val="600"/>
              </a:spcAft>
            </a:pPr>
            <a:r>
              <a:rPr sz="1800" b="1" i="0">
                <a:solidFill>
                  <a:srgbClr val="0B0B0B"/>
                </a:solidFill>
                <a:latin typeface="Arial"/>
              </a:rPr>
              <a:t>Tái hiện bài báo</a:t>
            </a:r>
            <a:r>
              <a:rPr sz="1800" b="0" i="0">
                <a:solidFill>
                  <a:srgbClr val="0B0B0B"/>
                </a:solidFill>
                <a:latin typeface="Arial"/>
              </a:rPr>
              <a:t>  —  Đã làm đến đâu, số liệu đo được, vấn đề gặp phải</a:t>
            </a:r>
          </a:p>
        </p:txBody>
      </p:sp>
      <p:sp>
        <p:nvSpPr>
          <p:cNvPr id="9" name="Oval 8"/>
          <p:cNvSpPr/>
          <p:nvPr/>
        </p:nvSpPr>
        <p:spPr>
          <a:xfrm>
            <a:off x="822960" y="3081528"/>
            <a:ext cx="502920" cy="502920"/>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3</a:t>
            </a:r>
          </a:p>
        </p:txBody>
      </p:sp>
      <p:sp>
        <p:nvSpPr>
          <p:cNvPr id="10" name="TextBox 9"/>
          <p:cNvSpPr txBox="1"/>
          <p:nvPr/>
        </p:nvSpPr>
        <p:spPr>
          <a:xfrm>
            <a:off x="1554480" y="3063240"/>
            <a:ext cx="9144000" cy="640080"/>
          </a:xfrm>
          <a:prstGeom prst="rect">
            <a:avLst/>
          </a:prstGeom>
          <a:noFill/>
        </p:spPr>
        <p:txBody>
          <a:bodyPr wrap="square" anchor="t" lIns="45720" rIns="45720">
            <a:spAutoFit/>
          </a:bodyPr>
          <a:lstStyle/>
          <a:p>
            <a:pPr>
              <a:spcAft>
                <a:spcPts val="600"/>
              </a:spcAft>
            </a:pPr>
            <a:r>
              <a:rPr sz="1800" b="1" i="0">
                <a:solidFill>
                  <a:srgbClr val="0B0B0B"/>
                </a:solidFill>
                <a:latin typeface="Arial"/>
              </a:rPr>
              <a:t>Bổ sung &amp; nâng cao</a:t>
            </a:r>
            <a:r>
              <a:rPr sz="1800" b="0" i="0">
                <a:solidFill>
                  <a:srgbClr val="0B0B0B"/>
                </a:solidFill>
                <a:latin typeface="Arial"/>
              </a:rPr>
              <a:t>  —  Những gì vượt ra ngoài bài báo</a:t>
            </a:r>
          </a:p>
        </p:txBody>
      </p:sp>
      <p:sp>
        <p:nvSpPr>
          <p:cNvPr id="11" name="Oval 10"/>
          <p:cNvSpPr/>
          <p:nvPr/>
        </p:nvSpPr>
        <p:spPr>
          <a:xfrm>
            <a:off x="822960" y="3867912"/>
            <a:ext cx="502920" cy="502920"/>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4</a:t>
            </a:r>
          </a:p>
        </p:txBody>
      </p:sp>
      <p:sp>
        <p:nvSpPr>
          <p:cNvPr id="12" name="TextBox 11"/>
          <p:cNvSpPr txBox="1"/>
          <p:nvPr/>
        </p:nvSpPr>
        <p:spPr>
          <a:xfrm>
            <a:off x="1554480" y="3849624"/>
            <a:ext cx="9144000" cy="640080"/>
          </a:xfrm>
          <a:prstGeom prst="rect">
            <a:avLst/>
          </a:prstGeom>
          <a:noFill/>
        </p:spPr>
        <p:txBody>
          <a:bodyPr wrap="square" anchor="t" lIns="45720" rIns="45720">
            <a:spAutoFit/>
          </a:bodyPr>
          <a:lstStyle/>
          <a:p>
            <a:pPr>
              <a:spcAft>
                <a:spcPts val="600"/>
              </a:spcAft>
            </a:pPr>
            <a:r>
              <a:rPr sz="1800" b="1" i="0">
                <a:solidFill>
                  <a:srgbClr val="0B0B0B"/>
                </a:solidFill>
                <a:latin typeface="Arial"/>
              </a:rPr>
              <a:t>Ứng dụng: PhishLens Edu</a:t>
            </a:r>
            <a:r>
              <a:rPr sz="1800" b="0" i="0">
                <a:solidFill>
                  <a:srgbClr val="0B0B0B"/>
                </a:solidFill>
                <a:latin typeface="Arial"/>
              </a:rPr>
              <a:t>  —  Phân tích rủi ro email đa kênh, có giải thích, cho trường học</a:t>
            </a:r>
          </a:p>
        </p:txBody>
      </p:sp>
      <p:sp>
        <p:nvSpPr>
          <p:cNvPr id="13" name="Oval 12"/>
          <p:cNvSpPr/>
          <p:nvPr/>
        </p:nvSpPr>
        <p:spPr>
          <a:xfrm>
            <a:off x="822960" y="4654296"/>
            <a:ext cx="502920" cy="502920"/>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5</a:t>
            </a:r>
          </a:p>
        </p:txBody>
      </p:sp>
      <p:sp>
        <p:nvSpPr>
          <p:cNvPr id="14" name="TextBox 13"/>
          <p:cNvSpPr txBox="1"/>
          <p:nvPr/>
        </p:nvSpPr>
        <p:spPr>
          <a:xfrm>
            <a:off x="1554480" y="4636008"/>
            <a:ext cx="9144000" cy="640080"/>
          </a:xfrm>
          <a:prstGeom prst="rect">
            <a:avLst/>
          </a:prstGeom>
          <a:noFill/>
        </p:spPr>
        <p:txBody>
          <a:bodyPr wrap="square" anchor="t" lIns="45720" rIns="45720">
            <a:spAutoFit/>
          </a:bodyPr>
          <a:lstStyle/>
          <a:p>
            <a:pPr>
              <a:spcAft>
                <a:spcPts val="600"/>
              </a:spcAft>
            </a:pPr>
            <a:r>
              <a:rPr sz="1800" b="1" i="0">
                <a:solidFill>
                  <a:srgbClr val="0B0B0B"/>
                </a:solidFill>
                <a:latin typeface="Arial"/>
              </a:rPr>
              <a:t>Đánh giá độ bền</a:t>
            </a:r>
            <a:r>
              <a:rPr sz="1800" b="0" i="0">
                <a:solidFill>
                  <a:srgbClr val="0B0B0B"/>
                </a:solidFill>
                <a:latin typeface="Arial"/>
              </a:rPr>
              <a:t>  —  LLM viết lại, chuyển vào ảnh / QR / tệp đính kèm</a:t>
            </a:r>
          </a:p>
        </p:txBody>
      </p:sp>
      <p:sp>
        <p:nvSpPr>
          <p:cNvPr id="15" name="Oval 14"/>
          <p:cNvSpPr/>
          <p:nvPr/>
        </p:nvSpPr>
        <p:spPr>
          <a:xfrm>
            <a:off x="822960" y="5440679"/>
            <a:ext cx="502920" cy="502920"/>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6</a:t>
            </a:r>
          </a:p>
        </p:txBody>
      </p:sp>
      <p:sp>
        <p:nvSpPr>
          <p:cNvPr id="16" name="TextBox 15"/>
          <p:cNvSpPr txBox="1"/>
          <p:nvPr/>
        </p:nvSpPr>
        <p:spPr>
          <a:xfrm>
            <a:off x="1554480" y="5422391"/>
            <a:ext cx="9144000" cy="640080"/>
          </a:xfrm>
          <a:prstGeom prst="rect">
            <a:avLst/>
          </a:prstGeom>
          <a:noFill/>
        </p:spPr>
        <p:txBody>
          <a:bodyPr wrap="square" anchor="t" lIns="45720" rIns="45720">
            <a:spAutoFit/>
          </a:bodyPr>
          <a:lstStyle/>
          <a:p>
            <a:pPr>
              <a:spcAft>
                <a:spcPts val="600"/>
              </a:spcAft>
            </a:pPr>
            <a:r>
              <a:rPr sz="1800" b="1" i="0">
                <a:solidFill>
                  <a:srgbClr val="0B0B0B"/>
                </a:solidFill>
                <a:latin typeface="Arial"/>
              </a:rPr>
              <a:t>Hạn chế &amp; hướng tiếp theo</a:t>
            </a:r>
            <a:r>
              <a:rPr sz="1800" b="0" i="0">
                <a:solidFill>
                  <a:srgbClr val="0B0B0B"/>
                </a:solidFill>
                <a:latin typeface="Arial"/>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1 · BÀI BÁO GỐC</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Bài toán của bài báo</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3</a:t>
            </a:r>
          </a:p>
        </p:txBody>
      </p:sp>
      <p:sp>
        <p:nvSpPr>
          <p:cNvPr id="6" name="TextBox 5"/>
          <p:cNvSpPr txBox="1"/>
          <p:nvPr/>
        </p:nvSpPr>
        <p:spPr>
          <a:xfrm>
            <a:off x="548640" y="1463040"/>
            <a:ext cx="6583680" cy="4572000"/>
          </a:xfrm>
          <a:prstGeom prst="rect">
            <a:avLst/>
          </a:prstGeom>
          <a:noFill/>
        </p:spPr>
        <p:txBody>
          <a:bodyPr wrap="square" anchor="t" lIns="45720" rIns="45720">
            <a:spAutoFit/>
          </a:bodyPr>
          <a:lstStyle/>
          <a:p>
            <a:pPr>
              <a:spcAft>
                <a:spcPts val="900"/>
              </a:spcAft>
            </a:pPr>
            <a:r>
              <a:rPr sz="1700" b="0" i="0">
                <a:solidFill>
                  <a:srgbClr val="2A78D6"/>
                </a:solidFill>
                <a:latin typeface="Arial"/>
              </a:rPr>
              <a:t>•  </a:t>
            </a:r>
            <a:r>
              <a:rPr sz="1700" b="1" i="0">
                <a:solidFill>
                  <a:srgbClr val="0B0B0B"/>
                </a:solidFill>
                <a:latin typeface="Arial"/>
              </a:rPr>
              <a:t>LLM giúp viết email lừa đảo </a:t>
            </a:r>
            <a:r>
              <a:rPr sz="1700" b="0" i="0">
                <a:solidFill>
                  <a:srgbClr val="0B0B0B"/>
                </a:solidFill>
                <a:latin typeface="Arial"/>
              </a:rPr>
              <a:t>trôi chảy, lịch sự, cá nhân hóa → bộ lọc dựa trên từ khóa bị qua mặt</a:t>
            </a:r>
          </a:p>
          <a:p>
            <a:pPr>
              <a:spcAft>
                <a:spcPts val="900"/>
              </a:spcAft>
            </a:pPr>
            <a:r>
              <a:rPr sz="1700" b="0" i="0">
                <a:solidFill>
                  <a:srgbClr val="2A78D6"/>
                </a:solidFill>
                <a:latin typeface="Arial"/>
              </a:rPr>
              <a:t>•  </a:t>
            </a:r>
            <a:r>
              <a:rPr sz="1700" b="1" i="0">
                <a:solidFill>
                  <a:srgbClr val="0B0B0B"/>
                </a:solidFill>
                <a:latin typeface="Arial"/>
              </a:rPr>
              <a:t>Transformer phát hiện tốt nhưng nặng </a:t>
            </a:r>
            <a:r>
              <a:rPr sz="1700" b="0" i="0">
                <a:solidFill>
                  <a:srgbClr val="0B0B0B"/>
                </a:solidFill>
                <a:latin typeface="Arial"/>
              </a:rPr>
              <a:t>→ khó đặt ở mail gateway / thiết bị đầu cuối</a:t>
            </a:r>
          </a:p>
          <a:p>
            <a:pPr>
              <a:spcAft>
                <a:spcPts val="900"/>
              </a:spcAft>
            </a:pPr>
            <a:r>
              <a:rPr sz="1700" b="0" i="0">
                <a:solidFill>
                  <a:srgbClr val="2A78D6"/>
                </a:solidFill>
                <a:latin typeface="Arial"/>
              </a:rPr>
              <a:t>•  </a:t>
            </a:r>
            <a:r>
              <a:rPr sz="1700" b="1" i="0">
                <a:solidFill>
                  <a:srgbClr val="0B0B0B"/>
                </a:solidFill>
                <a:latin typeface="Arial"/>
              </a:rPr>
              <a:t>Mục tiêu: </a:t>
            </a:r>
            <a:r>
              <a:rPr sz="1700" b="0" i="0">
                <a:solidFill>
                  <a:srgbClr val="0B0B0B"/>
                </a:solidFill>
                <a:latin typeface="Arial"/>
              </a:rPr>
              <a:t>bộ phát hiện nhỏ, nhanh, chạy CPU, vẫn bền trước email do LLM viết lại</a:t>
            </a:r>
          </a:p>
          <a:p>
            <a:pPr>
              <a:spcAft>
                <a:spcPts val="900"/>
              </a:spcAft>
            </a:pPr>
            <a:r>
              <a:rPr sz="1700" b="0" i="0">
                <a:solidFill>
                  <a:srgbClr val="2A78D6"/>
                </a:solidFill>
                <a:latin typeface="Arial"/>
              </a:rPr>
              <a:t>•  </a:t>
            </a:r>
            <a:r>
              <a:rPr sz="1700" b="1" i="0">
                <a:solidFill>
                  <a:srgbClr val="0B0B0B"/>
                </a:solidFill>
                <a:latin typeface="Arial"/>
              </a:rPr>
              <a:t>Dữ liệu: </a:t>
            </a:r>
            <a:r>
              <a:rPr sz="1700" b="0" i="0">
                <a:solidFill>
                  <a:srgbClr val="0B0B0B"/>
                </a:solidFill>
                <a:latin typeface="Arial"/>
              </a:rPr>
              <a:t>5 bộ thật (~623K email) + email LLM sinh theo 3 hành vi né tránh:</a:t>
            </a:r>
          </a:p>
          <a:p>
            <a:pPr lvl="1">
              <a:spcAft>
                <a:spcPts val="500"/>
              </a:spcAft>
            </a:pPr>
            <a:r>
              <a:rPr sz="1500" b="0" i="0">
                <a:solidFill>
                  <a:srgbClr val="898781"/>
                </a:solidFill>
                <a:latin typeface="Arial"/>
              </a:rPr>
              <a:t>–  </a:t>
            </a:r>
            <a:r>
              <a:rPr sz="1500" b="0" i="0">
                <a:solidFill>
                  <a:srgbClr val="52514E"/>
                </a:solidFill>
                <a:latin typeface="Arial"/>
              </a:rPr>
              <a:t>Paraphrase: diễn đạt lại để né chữ ký từ khóa</a:t>
            </a:r>
          </a:p>
          <a:p>
            <a:pPr lvl="1">
              <a:spcAft>
                <a:spcPts val="500"/>
              </a:spcAft>
            </a:pPr>
            <a:r>
              <a:rPr sz="1500" b="0" i="0">
                <a:solidFill>
                  <a:srgbClr val="898781"/>
                </a:solidFill>
                <a:latin typeface="Arial"/>
              </a:rPr>
              <a:t>–  </a:t>
            </a:r>
            <a:r>
              <a:rPr sz="1500" b="0" i="0">
                <a:solidFill>
                  <a:srgbClr val="52514E"/>
                </a:solidFill>
                <a:latin typeface="Arial"/>
              </a:rPr>
              <a:t>Masking: làm mềm dấu hiệu lộ liễu thành giọng công sở</a:t>
            </a:r>
          </a:p>
          <a:p>
            <a:pPr lvl="1">
              <a:spcAft>
                <a:spcPts val="500"/>
              </a:spcAft>
            </a:pPr>
            <a:r>
              <a:rPr sz="1500" b="0" i="0">
                <a:solidFill>
                  <a:srgbClr val="898781"/>
                </a:solidFill>
                <a:latin typeface="Arial"/>
              </a:rPr>
              <a:t>–  </a:t>
            </a:r>
            <a:r>
              <a:rPr sz="1500" b="0" i="0">
                <a:solidFill>
                  <a:srgbClr val="52514E"/>
                </a:solidFill>
                <a:latin typeface="Arial"/>
              </a:rPr>
              <a:t>Personalization: chèn tên, chức danh, dự án của người nhận</a:t>
            </a:r>
          </a:p>
        </p:txBody>
      </p:sp>
      <p:sp>
        <p:nvSpPr>
          <p:cNvPr id="7" name="Rounded Rectangle 6"/>
          <p:cNvSpPr/>
          <p:nvPr/>
        </p:nvSpPr>
        <p:spPr>
          <a:xfrm>
            <a:off x="7498079" y="1554480"/>
            <a:ext cx="4114800" cy="192024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35239" y="1664208"/>
            <a:ext cx="3840480" cy="1737360"/>
          </a:xfrm>
          <a:prstGeom prst="rect">
            <a:avLst/>
          </a:prstGeom>
          <a:noFill/>
        </p:spPr>
        <p:txBody>
          <a:bodyPr wrap="square" anchor="t" lIns="45720" rIns="45720">
            <a:spAutoFit/>
          </a:bodyPr>
          <a:lstStyle/>
          <a:p>
            <a:pPr>
              <a:spcAft>
                <a:spcPts val="400"/>
              </a:spcAft>
            </a:pPr>
            <a:r>
              <a:rPr sz="1600" b="1" i="0">
                <a:solidFill>
                  <a:srgbClr val="0B0B0B"/>
                </a:solidFill>
                <a:latin typeface="Arial"/>
              </a:rPr>
              <a:t>Phát hiện của tác giả</a:t>
            </a:r>
          </a:p>
          <a:p>
            <a:pPr>
              <a:spcAft>
                <a:spcPts val="600"/>
              </a:spcAft>
            </a:pPr>
            <a:r>
              <a:rPr sz="1400" b="0" i="0">
                <a:solidFill>
                  <a:srgbClr val="52514E"/>
                </a:solidFill>
                <a:latin typeface="Arial"/>
              </a:rPr>
              <a:t>Email LLM sinh có độ tương đồng TF-IDF với email hợp lệ cao hơn email lừa đảo gốc (Fig. 2) → khó phát hiện hơn.</a:t>
            </a:r>
          </a:p>
        </p:txBody>
      </p:sp>
      <p:sp>
        <p:nvSpPr>
          <p:cNvPr id="9" name="Rounded Rectangle 8"/>
          <p:cNvSpPr/>
          <p:nvPr/>
        </p:nvSpPr>
        <p:spPr>
          <a:xfrm>
            <a:off x="7498079" y="3657600"/>
            <a:ext cx="4114800" cy="210312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35239" y="3767328"/>
            <a:ext cx="3840480" cy="1920240"/>
          </a:xfrm>
          <a:prstGeom prst="rect">
            <a:avLst/>
          </a:prstGeom>
          <a:noFill/>
        </p:spPr>
        <p:txBody>
          <a:bodyPr wrap="square" anchor="t" lIns="45720" rIns="45720">
            <a:spAutoFit/>
          </a:bodyPr>
          <a:lstStyle/>
          <a:p>
            <a:pPr>
              <a:spcAft>
                <a:spcPts val="400"/>
              </a:spcAft>
            </a:pPr>
            <a:r>
              <a:rPr sz="1600" b="1" i="0">
                <a:solidFill>
                  <a:srgbClr val="0B0B0B"/>
                </a:solidFill>
                <a:latin typeface="Arial"/>
              </a:rPr>
              <a:t>5 kịch bản đánh giá</a:t>
            </a:r>
          </a:p>
          <a:p>
            <a:pPr>
              <a:spcAft>
                <a:spcPts val="600"/>
              </a:spcAft>
            </a:pPr>
            <a:r>
              <a:rPr sz="1400" b="0" i="0">
                <a:solidFill>
                  <a:srgbClr val="52514E"/>
                </a:solidFill>
                <a:latin typeface="Arial"/>
              </a:rPr>
              <a:t>Orig-Orig, Gen-Gen, Orig-Gen, Gen-Orig, Mixture · 5-fold, chia 72/8/20. Hai kịch bản chéo đo khả năng tổng quát hóa giữa email người viết và email LLM.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1 · BÀI BÁO GỐC</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Phương pháp: từ LSTM đến KD-BiLSTM</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4</a:t>
            </a:r>
          </a:p>
        </p:txBody>
      </p:sp>
      <p:sp>
        <p:nvSpPr>
          <p:cNvPr id="6" name="Rounded Rectangle 5"/>
          <p:cNvSpPr/>
          <p:nvPr/>
        </p:nvSpPr>
        <p:spPr>
          <a:xfrm>
            <a:off x="548640" y="1554480"/>
            <a:ext cx="1920240" cy="100584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664208"/>
            <a:ext cx="1645920" cy="822960"/>
          </a:xfrm>
          <a:prstGeom prst="rect">
            <a:avLst/>
          </a:prstGeom>
          <a:noFill/>
        </p:spPr>
        <p:txBody>
          <a:bodyPr wrap="square" anchor="t" lIns="45720" rIns="45720">
            <a:spAutoFit/>
          </a:bodyPr>
          <a:lstStyle/>
          <a:p>
            <a:pPr>
              <a:spcAft>
                <a:spcPts val="400"/>
              </a:spcAft>
            </a:pPr>
            <a:r>
              <a:rPr sz="1600" b="1" i="0">
                <a:solidFill>
                  <a:srgbClr val="0B0B0B"/>
                </a:solidFill>
                <a:latin typeface="Arial"/>
              </a:rPr>
              <a:t>LSTM</a:t>
            </a:r>
          </a:p>
          <a:p>
            <a:pPr>
              <a:spcAft>
                <a:spcPts val="600"/>
              </a:spcAft>
            </a:pPr>
            <a:r>
              <a:rPr sz="1400" b="0" i="0">
                <a:solidFill>
                  <a:srgbClr val="52514E"/>
                </a:solidFill>
                <a:latin typeface="Arial"/>
              </a:rPr>
              <a:t>Word2Vec 100d</a:t>
            </a:r>
          </a:p>
        </p:txBody>
      </p:sp>
      <p:sp>
        <p:nvSpPr>
          <p:cNvPr id="8" name="Right Arrow 7"/>
          <p:cNvSpPr/>
          <p:nvPr/>
        </p:nvSpPr>
        <p:spPr>
          <a:xfrm>
            <a:off x="2487168" y="1920240"/>
            <a:ext cx="320040" cy="274320"/>
          </a:xfrm>
          <a:prstGeom prst="rightArrow">
            <a:avLst/>
          </a:prstGeom>
          <a:solidFill>
            <a:srgbClr val="8987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34640" y="1554480"/>
            <a:ext cx="1920240" cy="100584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71800" y="1664208"/>
            <a:ext cx="1645920" cy="822960"/>
          </a:xfrm>
          <a:prstGeom prst="rect">
            <a:avLst/>
          </a:prstGeom>
          <a:noFill/>
        </p:spPr>
        <p:txBody>
          <a:bodyPr wrap="square" anchor="t" lIns="45720" rIns="45720">
            <a:spAutoFit/>
          </a:bodyPr>
          <a:lstStyle/>
          <a:p>
            <a:pPr>
              <a:spcAft>
                <a:spcPts val="400"/>
              </a:spcAft>
            </a:pPr>
            <a:r>
              <a:rPr sz="1600" b="1" i="0">
                <a:solidFill>
                  <a:srgbClr val="0B0B0B"/>
                </a:solidFill>
                <a:latin typeface="Arial"/>
              </a:rPr>
              <a:t>BiLSTM</a:t>
            </a:r>
          </a:p>
          <a:p>
            <a:pPr>
              <a:spcAft>
                <a:spcPts val="600"/>
              </a:spcAft>
            </a:pPr>
            <a:r>
              <a:rPr sz="1400" b="0" i="0">
                <a:solidFill>
                  <a:srgbClr val="52514E"/>
                </a:solidFill>
                <a:latin typeface="Arial"/>
              </a:rPr>
              <a:t>ngữ cảnh 2 chiều</a:t>
            </a:r>
          </a:p>
        </p:txBody>
      </p:sp>
      <p:sp>
        <p:nvSpPr>
          <p:cNvPr id="11" name="Right Arrow 10"/>
          <p:cNvSpPr/>
          <p:nvPr/>
        </p:nvSpPr>
        <p:spPr>
          <a:xfrm>
            <a:off x="4773168" y="1920240"/>
            <a:ext cx="320040" cy="274320"/>
          </a:xfrm>
          <a:prstGeom prst="rightArrow">
            <a:avLst/>
          </a:prstGeom>
          <a:solidFill>
            <a:srgbClr val="8987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20640" y="1554480"/>
            <a:ext cx="1920240" cy="100584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57800" y="1664208"/>
            <a:ext cx="1645920" cy="822960"/>
          </a:xfrm>
          <a:prstGeom prst="rect">
            <a:avLst/>
          </a:prstGeom>
          <a:noFill/>
        </p:spPr>
        <p:txBody>
          <a:bodyPr wrap="square" anchor="t" lIns="45720" rIns="45720">
            <a:spAutoFit/>
          </a:bodyPr>
          <a:lstStyle/>
          <a:p>
            <a:pPr>
              <a:spcAft>
                <a:spcPts val="400"/>
              </a:spcAft>
            </a:pPr>
            <a:r>
              <a:rPr sz="1600" b="1" i="0">
                <a:solidFill>
                  <a:srgbClr val="0B0B0B"/>
                </a:solidFill>
                <a:latin typeface="Arial"/>
              </a:rPr>
              <a:t>+ Single-head</a:t>
            </a:r>
          </a:p>
          <a:p>
            <a:pPr>
              <a:spcAft>
                <a:spcPts val="600"/>
              </a:spcAft>
            </a:pPr>
            <a:r>
              <a:rPr sz="1400" b="0" i="0">
                <a:solidFill>
                  <a:srgbClr val="52514E"/>
                </a:solidFill>
                <a:latin typeface="Arial"/>
              </a:rPr>
              <a:t>chú ý cụm từ</a:t>
            </a:r>
          </a:p>
        </p:txBody>
      </p:sp>
      <p:sp>
        <p:nvSpPr>
          <p:cNvPr id="14" name="Right Arrow 13"/>
          <p:cNvSpPr/>
          <p:nvPr/>
        </p:nvSpPr>
        <p:spPr>
          <a:xfrm>
            <a:off x="7059168" y="1920240"/>
            <a:ext cx="320040" cy="274320"/>
          </a:xfrm>
          <a:prstGeom prst="rightArrow">
            <a:avLst/>
          </a:prstGeom>
          <a:solidFill>
            <a:srgbClr val="8987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6640" y="1554480"/>
            <a:ext cx="1920240" cy="100584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43800" y="1664208"/>
            <a:ext cx="1645920" cy="822960"/>
          </a:xfrm>
          <a:prstGeom prst="rect">
            <a:avLst/>
          </a:prstGeom>
          <a:noFill/>
        </p:spPr>
        <p:txBody>
          <a:bodyPr wrap="square" anchor="t" lIns="45720" rIns="45720">
            <a:spAutoFit/>
          </a:bodyPr>
          <a:lstStyle/>
          <a:p>
            <a:pPr>
              <a:spcAft>
                <a:spcPts val="400"/>
              </a:spcAft>
            </a:pPr>
            <a:r>
              <a:rPr sz="1600" b="1" i="0">
                <a:solidFill>
                  <a:srgbClr val="0B0B0B"/>
                </a:solidFill>
                <a:latin typeface="Arial"/>
              </a:rPr>
              <a:t>+ Multi-head</a:t>
            </a:r>
          </a:p>
          <a:p>
            <a:pPr>
              <a:spcAft>
                <a:spcPts val="600"/>
              </a:spcAft>
            </a:pPr>
            <a:r>
              <a:rPr sz="1400" b="0" i="0">
                <a:solidFill>
                  <a:srgbClr val="52514E"/>
                </a:solidFill>
                <a:latin typeface="Arial"/>
              </a:rPr>
              <a:t>H=4, D=64</a:t>
            </a:r>
          </a:p>
        </p:txBody>
      </p:sp>
      <p:sp>
        <p:nvSpPr>
          <p:cNvPr id="17" name="Right Arrow 16"/>
          <p:cNvSpPr/>
          <p:nvPr/>
        </p:nvSpPr>
        <p:spPr>
          <a:xfrm>
            <a:off x="9345168" y="1920240"/>
            <a:ext cx="320040" cy="274320"/>
          </a:xfrm>
          <a:prstGeom prst="rightArrow">
            <a:avLst/>
          </a:prstGeom>
          <a:solidFill>
            <a:srgbClr val="8987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92640" y="1554480"/>
            <a:ext cx="1920240" cy="1005840"/>
          </a:xfrm>
          <a:prstGeom prst="roundRect">
            <a:avLst>
              <a:gd name="adj" fmla="val 6000"/>
            </a:avLst>
          </a:prstGeom>
          <a:solidFill>
            <a:srgbClr val="CDE2FB"/>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29800" y="1664208"/>
            <a:ext cx="1645920" cy="822960"/>
          </a:xfrm>
          <a:prstGeom prst="rect">
            <a:avLst/>
          </a:prstGeom>
          <a:noFill/>
        </p:spPr>
        <p:txBody>
          <a:bodyPr wrap="square" anchor="t" lIns="45720" rIns="45720">
            <a:spAutoFit/>
          </a:bodyPr>
          <a:lstStyle/>
          <a:p>
            <a:pPr>
              <a:spcAft>
                <a:spcPts val="400"/>
              </a:spcAft>
            </a:pPr>
            <a:r>
              <a:rPr sz="1600" b="1" i="0">
                <a:solidFill>
                  <a:srgbClr val="2A78D6"/>
                </a:solidFill>
                <a:latin typeface="Arial"/>
              </a:rPr>
              <a:t>KD-BiLSTM</a:t>
            </a:r>
          </a:p>
          <a:p>
            <a:pPr>
              <a:spcAft>
                <a:spcPts val="600"/>
              </a:spcAft>
            </a:pPr>
            <a:r>
              <a:rPr sz="1400" b="0" i="0">
                <a:solidFill>
                  <a:srgbClr val="52514E"/>
                </a:solidFill>
                <a:latin typeface="Arial"/>
              </a:rPr>
              <a:t>học từ MobileBERT</a:t>
            </a:r>
          </a:p>
        </p:txBody>
      </p:sp>
      <p:sp>
        <p:nvSpPr>
          <p:cNvPr id="20" name="Rounded Rectangle 19"/>
          <p:cNvSpPr/>
          <p:nvPr/>
        </p:nvSpPr>
        <p:spPr>
          <a:xfrm>
            <a:off x="548640" y="2926080"/>
            <a:ext cx="5486400" cy="310896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3035808"/>
            <a:ext cx="5212080" cy="2926080"/>
          </a:xfrm>
          <a:prstGeom prst="rect">
            <a:avLst/>
          </a:prstGeom>
          <a:noFill/>
        </p:spPr>
        <p:txBody>
          <a:bodyPr wrap="square" anchor="t" lIns="45720" rIns="45720">
            <a:spAutoFit/>
          </a:bodyPr>
          <a:lstStyle/>
          <a:p>
            <a:pPr>
              <a:spcAft>
                <a:spcPts val="400"/>
              </a:spcAft>
            </a:pPr>
            <a:r>
              <a:rPr sz="1600" b="1" i="0">
                <a:solidFill>
                  <a:srgbClr val="0B0B0B"/>
                </a:solidFill>
                <a:latin typeface="Arial"/>
              </a:rPr>
              <a:t>Knowledge distillation (Algorithm 1)</a:t>
            </a:r>
          </a:p>
          <a:p>
            <a:pPr>
              <a:spcAft>
                <a:spcPts val="600"/>
              </a:spcAft>
            </a:pPr>
            <a:r>
              <a:rPr sz="1400" b="0" i="0">
                <a:solidFill>
                  <a:srgbClr val="52514E"/>
                </a:solidFill>
                <a:latin typeface="Arial"/>
              </a:rPr>
              <a:t>Teacher: MobileBERT 25,3M tham số, fine-tune trên dữ liệu hỗn hợp, sau đó đóng băng.
Student: BiLSTM + multi-head attention ~4,5M tham số; embedding khởi tạo từ teacher.
L = α·CE(y, z_S) + (1−α)·τ²·KL(σ(z_T/τ) ‖ σ(z_S/τ))
α = 0,5 · τ = 2 · Adam lr 1e-4 · 3 epoch · batch 32</a:t>
            </a:r>
          </a:p>
        </p:txBody>
      </p:sp>
      <p:sp>
        <p:nvSpPr>
          <p:cNvPr id="22" name="Rounded Rectangle 21"/>
          <p:cNvSpPr/>
          <p:nvPr/>
        </p:nvSpPr>
        <p:spPr>
          <a:xfrm>
            <a:off x="6309360" y="2926080"/>
            <a:ext cx="5303520" cy="310896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3035808"/>
            <a:ext cx="5029200" cy="2926080"/>
          </a:xfrm>
          <a:prstGeom prst="rect">
            <a:avLst/>
          </a:prstGeom>
          <a:noFill/>
        </p:spPr>
        <p:txBody>
          <a:bodyPr wrap="square" anchor="t" lIns="45720" rIns="45720">
            <a:spAutoFit/>
          </a:bodyPr>
          <a:lstStyle/>
          <a:p>
            <a:pPr>
              <a:spcAft>
                <a:spcPts val="400"/>
              </a:spcAft>
            </a:pPr>
            <a:r>
              <a:rPr sz="1600" b="1" i="0">
                <a:solidFill>
                  <a:srgbClr val="0B0B0B"/>
                </a:solidFill>
                <a:latin typeface="Arial"/>
              </a:rPr>
              <a:t>Điểm khác distillation thông thường</a:t>
            </a:r>
          </a:p>
          <a:p>
            <a:pPr>
              <a:spcAft>
                <a:spcPts val="600"/>
              </a:spcAft>
            </a:pPr>
            <a:r>
              <a:rPr sz="1400" b="0" i="0">
                <a:solidFill>
                  <a:srgbClr val="52514E"/>
                </a:solidFill>
                <a:latin typeface="Arial"/>
              </a:rPr>
              <a:t>1. Teacher được fine-tune trên dữ liệu có cả email LLM.
2. Chưng cất khác kiến trúc: transformer → mạng hồi quy.
3. Student được kiểm tra khả năng tổng quát hóa chéo phân phối (Orig↔Gen).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1 · BÀI BÁO GỐC</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Kết quả của bài báo (kịch bản Mixture)</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5</a:t>
            </a:r>
          </a:p>
        </p:txBody>
      </p:sp>
      <p:graphicFrame>
        <p:nvGraphicFramePr>
          <p:cNvPr id="6" name="Table 5"/>
          <p:cNvGraphicFramePr>
            <a:graphicFrameLocks noGrp="1"/>
          </p:cNvGraphicFramePr>
          <p:nvPr/>
        </p:nvGraphicFramePr>
        <p:xfrm>
          <a:off x="548640" y="1463040"/>
          <a:ext cx="6766558" cy="3456432"/>
        </p:xfrm>
        <a:graphic>
          <a:graphicData uri="http://schemas.openxmlformats.org/drawingml/2006/table">
            <a:tbl>
              <a:tblPr firstRow="1" bandRow="1">
                <a:tableStyleId>{5C22544A-7EE6-4342-B048-85BDC9FD1C3A}</a:tableStyleId>
              </a:tblPr>
              <a:tblGrid>
                <a:gridCol w="3138114"/>
                <a:gridCol w="1176793"/>
                <a:gridCol w="1078726"/>
                <a:gridCol w="1372925"/>
              </a:tblGrid>
              <a:tr h="384048">
                <a:tc>
                  <a:txBody>
                    <a:bodyPr wrap="square"/>
                    <a:lstStyle/>
                    <a:p>
                      <a:r>
                        <a:rPr sz="1300" b="1" i="0">
                          <a:solidFill>
                            <a:srgbClr val="0B0B0B"/>
                          </a:solidFill>
                          <a:latin typeface="Arial"/>
                        </a:rPr>
                        <a:t>Mô hình</a:t>
                      </a:r>
                    </a:p>
                  </a:txBody>
                  <a:tcPr marL="64008" marR="64008" marT="27432" marB="27432" anchor="ctr">
                    <a:solidFill>
                      <a:srgbClr val="CDE2FB"/>
                    </a:solidFill>
                  </a:tcPr>
                </a:tc>
                <a:tc>
                  <a:txBody>
                    <a:bodyPr wrap="square"/>
                    <a:lstStyle/>
                    <a:p>
                      <a:r>
                        <a:rPr sz="1300" b="1" i="0">
                          <a:solidFill>
                            <a:srgbClr val="0B0B0B"/>
                          </a:solidFill>
                          <a:latin typeface="Arial"/>
                        </a:rPr>
                        <a:t>Tham số</a:t>
                      </a:r>
                    </a:p>
                  </a:txBody>
                  <a:tcPr marL="64008" marR="64008" marT="27432" marB="27432" anchor="ctr">
                    <a:solidFill>
                      <a:srgbClr val="CDE2FB"/>
                    </a:solidFill>
                  </a:tcPr>
                </a:tc>
                <a:tc>
                  <a:txBody>
                    <a:bodyPr wrap="square"/>
                    <a:lstStyle/>
                    <a:p>
                      <a:r>
                        <a:rPr sz="1300" b="1" i="0">
                          <a:solidFill>
                            <a:srgbClr val="0B0B0B"/>
                          </a:solidFill>
                          <a:latin typeface="Arial"/>
                        </a:rPr>
                        <a:t>F1 (%)</a:t>
                      </a:r>
                    </a:p>
                  </a:txBody>
                  <a:tcPr marL="64008" marR="64008" marT="27432" marB="27432" anchor="ctr">
                    <a:solidFill>
                      <a:srgbClr val="CDE2FB"/>
                    </a:solidFill>
                  </a:tcPr>
                </a:tc>
                <a:tc>
                  <a:txBody>
                    <a:bodyPr wrap="square"/>
                    <a:lstStyle/>
                    <a:p>
                      <a:r>
                        <a:rPr sz="1300" b="1" i="0">
                          <a:solidFill>
                            <a:srgbClr val="0B0B0B"/>
                          </a:solidFill>
                          <a:latin typeface="Arial"/>
                        </a:rPr>
                        <a:t>Thời gian test</a:t>
                      </a:r>
                    </a:p>
                  </a:txBody>
                  <a:tcPr marL="64008" marR="64008" marT="27432" marB="27432" anchor="ctr">
                    <a:solidFill>
                      <a:srgbClr val="CDE2FB"/>
                    </a:solidFill>
                  </a:tcPr>
                </a:tc>
              </a:tr>
              <a:tr h="384048">
                <a:tc>
                  <a:txBody>
                    <a:bodyPr wrap="square"/>
                    <a:lstStyle/>
                    <a:p>
                      <a:r>
                        <a:rPr sz="1300" b="0" i="0">
                          <a:solidFill>
                            <a:srgbClr val="0B0B0B"/>
                          </a:solidFill>
                          <a:latin typeface="Arial"/>
                        </a:rPr>
                        <a:t>LSTM</a:t>
                      </a:r>
                    </a:p>
                  </a:txBody>
                  <a:tcPr marL="64008" marR="64008" marT="27432" marB="27432" anchor="ctr">
                    <a:solidFill>
                      <a:srgbClr val="FFFFFF"/>
                    </a:solidFill>
                  </a:tcPr>
                </a:tc>
                <a:tc>
                  <a:txBody>
                    <a:bodyPr wrap="square"/>
                    <a:lstStyle/>
                    <a:p>
                      <a:r>
                        <a:rPr sz="1300" b="0" i="0">
                          <a:solidFill>
                            <a:srgbClr val="0B0B0B"/>
                          </a:solidFill>
                          <a:latin typeface="Arial"/>
                        </a:rPr>
                        <a:t>17K</a:t>
                      </a:r>
                    </a:p>
                  </a:txBody>
                  <a:tcPr marL="64008" marR="64008" marT="27432" marB="27432" anchor="ctr">
                    <a:solidFill>
                      <a:srgbClr val="FFFFFF"/>
                    </a:solidFill>
                  </a:tcPr>
                </a:tc>
                <a:tc>
                  <a:txBody>
                    <a:bodyPr wrap="square"/>
                    <a:lstStyle/>
                    <a:p>
                      <a:r>
                        <a:rPr sz="1300" b="0" i="0">
                          <a:solidFill>
                            <a:srgbClr val="0B0B0B"/>
                          </a:solidFill>
                          <a:latin typeface="Arial"/>
                        </a:rPr>
                        <a:t>91,32</a:t>
                      </a:r>
                    </a:p>
                  </a:txBody>
                  <a:tcPr marL="64008" marR="64008" marT="27432" marB="27432" anchor="ctr">
                    <a:solidFill>
                      <a:srgbClr val="FFFFFF"/>
                    </a:solidFill>
                  </a:tcPr>
                </a:tc>
                <a:tc>
                  <a:txBody>
                    <a:bodyPr wrap="square"/>
                    <a:lstStyle/>
                    <a:p>
                      <a:r>
                        <a:rPr sz="1300" b="0" i="0">
                          <a:solidFill>
                            <a:srgbClr val="0B0B0B"/>
                          </a:solidFill>
                          <a:latin typeface="Arial"/>
                        </a:rPr>
                        <a:t>0,83 s</a:t>
                      </a:r>
                    </a:p>
                  </a:txBody>
                  <a:tcPr marL="64008" marR="64008" marT="27432" marB="27432" anchor="ctr">
                    <a:solidFill>
                      <a:srgbClr val="FFFFFF"/>
                    </a:solidFill>
                  </a:tcPr>
                </a:tc>
              </a:tr>
              <a:tr h="384048">
                <a:tc>
                  <a:txBody>
                    <a:bodyPr wrap="square"/>
                    <a:lstStyle/>
                    <a:p>
                      <a:r>
                        <a:rPr sz="1300" b="0" i="0">
                          <a:solidFill>
                            <a:srgbClr val="0B0B0B"/>
                          </a:solidFill>
                          <a:latin typeface="Arial"/>
                        </a:rPr>
                        <a:t>BiLSTM</a:t>
                      </a:r>
                    </a:p>
                  </a:txBody>
                  <a:tcPr marL="64008" marR="64008" marT="27432" marB="27432" anchor="ctr">
                    <a:solidFill>
                      <a:srgbClr val="F9F9F7"/>
                    </a:solidFill>
                  </a:tcPr>
                </a:tc>
                <a:tc>
                  <a:txBody>
                    <a:bodyPr wrap="square"/>
                    <a:lstStyle/>
                    <a:p>
                      <a:r>
                        <a:rPr sz="1300" b="0" i="0">
                          <a:solidFill>
                            <a:srgbClr val="0B0B0B"/>
                          </a:solidFill>
                          <a:latin typeface="Arial"/>
                        </a:rPr>
                        <a:t>34K</a:t>
                      </a:r>
                    </a:p>
                  </a:txBody>
                  <a:tcPr marL="64008" marR="64008" marT="27432" marB="27432" anchor="ctr">
                    <a:solidFill>
                      <a:srgbClr val="F9F9F7"/>
                    </a:solidFill>
                  </a:tcPr>
                </a:tc>
                <a:tc>
                  <a:txBody>
                    <a:bodyPr wrap="square"/>
                    <a:lstStyle/>
                    <a:p>
                      <a:r>
                        <a:rPr sz="1300" b="0" i="0">
                          <a:solidFill>
                            <a:srgbClr val="0B0B0B"/>
                          </a:solidFill>
                          <a:latin typeface="Arial"/>
                        </a:rPr>
                        <a:t>91,65</a:t>
                      </a:r>
                    </a:p>
                  </a:txBody>
                  <a:tcPr marL="64008" marR="64008" marT="27432" marB="27432" anchor="ctr">
                    <a:solidFill>
                      <a:srgbClr val="F9F9F7"/>
                    </a:solidFill>
                  </a:tcPr>
                </a:tc>
                <a:tc>
                  <a:txBody>
                    <a:bodyPr wrap="square"/>
                    <a:lstStyle/>
                    <a:p>
                      <a:r>
                        <a:rPr sz="1300" b="0" i="0">
                          <a:solidFill>
                            <a:srgbClr val="0B0B0B"/>
                          </a:solidFill>
                          <a:latin typeface="Arial"/>
                        </a:rPr>
                        <a:t>1,30 s</a:t>
                      </a:r>
                    </a:p>
                  </a:txBody>
                  <a:tcPr marL="64008" marR="64008" marT="27432" marB="27432" anchor="ctr">
                    <a:solidFill>
                      <a:srgbClr val="F9F9F7"/>
                    </a:solidFill>
                  </a:tcPr>
                </a:tc>
              </a:tr>
              <a:tr h="384048">
                <a:tc>
                  <a:txBody>
                    <a:bodyPr wrap="square"/>
                    <a:lstStyle/>
                    <a:p>
                      <a:r>
                        <a:rPr sz="1300" b="0" i="0">
                          <a:solidFill>
                            <a:srgbClr val="0B0B0B"/>
                          </a:solidFill>
                          <a:latin typeface="Arial"/>
                        </a:rPr>
                        <a:t>BiLSTM + single-head</a:t>
                      </a:r>
                    </a:p>
                  </a:txBody>
                  <a:tcPr marL="64008" marR="64008" marT="27432" marB="27432" anchor="ctr">
                    <a:solidFill>
                      <a:srgbClr val="FFFFFF"/>
                    </a:solidFill>
                  </a:tcPr>
                </a:tc>
                <a:tc>
                  <a:txBody>
                    <a:bodyPr wrap="square"/>
                    <a:lstStyle/>
                    <a:p>
                      <a:r>
                        <a:rPr sz="1300" b="0" i="0">
                          <a:solidFill>
                            <a:srgbClr val="0B0B0B"/>
                          </a:solidFill>
                          <a:latin typeface="Arial"/>
                        </a:rPr>
                        <a:t>67K</a:t>
                      </a:r>
                    </a:p>
                  </a:txBody>
                  <a:tcPr marL="64008" marR="64008" marT="27432" marB="27432" anchor="ctr">
                    <a:solidFill>
                      <a:srgbClr val="FFFFFF"/>
                    </a:solidFill>
                  </a:tcPr>
                </a:tc>
                <a:tc>
                  <a:txBody>
                    <a:bodyPr wrap="square"/>
                    <a:lstStyle/>
                    <a:p>
                      <a:r>
                        <a:rPr sz="1300" b="0" i="0">
                          <a:solidFill>
                            <a:srgbClr val="0B0B0B"/>
                          </a:solidFill>
                          <a:latin typeface="Arial"/>
                        </a:rPr>
                        <a:t>93,48</a:t>
                      </a:r>
                    </a:p>
                  </a:txBody>
                  <a:tcPr marL="64008" marR="64008" marT="27432" marB="27432" anchor="ctr">
                    <a:solidFill>
                      <a:srgbClr val="FFFFFF"/>
                    </a:solidFill>
                  </a:tcPr>
                </a:tc>
                <a:tc>
                  <a:txBody>
                    <a:bodyPr wrap="square"/>
                    <a:lstStyle/>
                    <a:p>
                      <a:r>
                        <a:rPr sz="1300" b="0" i="0">
                          <a:solidFill>
                            <a:srgbClr val="0B0B0B"/>
                          </a:solidFill>
                          <a:latin typeface="Arial"/>
                        </a:rPr>
                        <a:t>1,37 s</a:t>
                      </a:r>
                    </a:p>
                  </a:txBody>
                  <a:tcPr marL="64008" marR="64008" marT="27432" marB="27432" anchor="ctr">
                    <a:solidFill>
                      <a:srgbClr val="FFFFFF"/>
                    </a:solidFill>
                  </a:tcPr>
                </a:tc>
              </a:tr>
              <a:tr h="384048">
                <a:tc>
                  <a:txBody>
                    <a:bodyPr wrap="square"/>
                    <a:lstStyle/>
                    <a:p>
                      <a:r>
                        <a:rPr sz="1300" b="0" i="0">
                          <a:solidFill>
                            <a:srgbClr val="0B0B0B"/>
                          </a:solidFill>
                          <a:latin typeface="Arial"/>
                        </a:rPr>
                        <a:t>BiLSTM + multi-head</a:t>
                      </a:r>
                    </a:p>
                  </a:txBody>
                  <a:tcPr marL="64008" marR="64008" marT="27432" marB="27432" anchor="ctr">
                    <a:solidFill>
                      <a:srgbClr val="F9F9F7"/>
                    </a:solidFill>
                  </a:tcPr>
                </a:tc>
                <a:tc>
                  <a:txBody>
                    <a:bodyPr wrap="square"/>
                    <a:lstStyle/>
                    <a:p>
                      <a:r>
                        <a:rPr sz="1300" b="0" i="0">
                          <a:solidFill>
                            <a:srgbClr val="0B0B0B"/>
                          </a:solidFill>
                          <a:latin typeface="Arial"/>
                        </a:rPr>
                        <a:t>495K</a:t>
                      </a:r>
                    </a:p>
                  </a:txBody>
                  <a:tcPr marL="64008" marR="64008" marT="27432" marB="27432" anchor="ctr">
                    <a:solidFill>
                      <a:srgbClr val="F9F9F7"/>
                    </a:solidFill>
                  </a:tcPr>
                </a:tc>
                <a:tc>
                  <a:txBody>
                    <a:bodyPr wrap="square"/>
                    <a:lstStyle/>
                    <a:p>
                      <a:r>
                        <a:rPr sz="1300" b="0" i="0">
                          <a:solidFill>
                            <a:srgbClr val="0B0B0B"/>
                          </a:solidFill>
                          <a:latin typeface="Arial"/>
                        </a:rPr>
                        <a:t>95,25</a:t>
                      </a:r>
                    </a:p>
                  </a:txBody>
                  <a:tcPr marL="64008" marR="64008" marT="27432" marB="27432" anchor="ctr">
                    <a:solidFill>
                      <a:srgbClr val="F9F9F7"/>
                    </a:solidFill>
                  </a:tcPr>
                </a:tc>
                <a:tc>
                  <a:txBody>
                    <a:bodyPr wrap="square"/>
                    <a:lstStyle/>
                    <a:p>
                      <a:r>
                        <a:rPr sz="1300" b="0" i="0">
                          <a:solidFill>
                            <a:srgbClr val="0B0B0B"/>
                          </a:solidFill>
                          <a:latin typeface="Arial"/>
                        </a:rPr>
                        <a:t>1,51 s</a:t>
                      </a:r>
                    </a:p>
                  </a:txBody>
                  <a:tcPr marL="64008" marR="64008" marT="27432" marB="27432" anchor="ctr">
                    <a:solidFill>
                      <a:srgbClr val="F9F9F7"/>
                    </a:solidFill>
                  </a:tcPr>
                </a:tc>
              </a:tr>
              <a:tr h="384048">
                <a:tc>
                  <a:txBody>
                    <a:bodyPr wrap="square"/>
                    <a:lstStyle/>
                    <a:p>
                      <a:r>
                        <a:rPr sz="1300" b="0" i="0">
                          <a:solidFill>
                            <a:srgbClr val="2A78D6"/>
                          </a:solidFill>
                          <a:latin typeface="Arial"/>
                        </a:rPr>
                        <a:t>KD-BiLSTM (đề xuất)</a:t>
                      </a:r>
                    </a:p>
                  </a:txBody>
                  <a:tcPr marL="64008" marR="64008" marT="27432" marB="27432" anchor="ctr">
                    <a:solidFill>
                      <a:srgbClr val="FFFFFF"/>
                    </a:solidFill>
                  </a:tcPr>
                </a:tc>
                <a:tc>
                  <a:txBody>
                    <a:bodyPr wrap="square"/>
                    <a:lstStyle/>
                    <a:p>
                      <a:r>
                        <a:rPr sz="1300" b="0" i="0">
                          <a:solidFill>
                            <a:srgbClr val="0B0B0B"/>
                          </a:solidFill>
                          <a:latin typeface="Arial"/>
                        </a:rPr>
                        <a:t>4,5M</a:t>
                      </a:r>
                    </a:p>
                  </a:txBody>
                  <a:tcPr marL="64008" marR="64008" marT="27432" marB="27432" anchor="ctr">
                    <a:solidFill>
                      <a:srgbClr val="FFFFFF"/>
                    </a:solidFill>
                  </a:tcPr>
                </a:tc>
                <a:tc>
                  <a:txBody>
                    <a:bodyPr wrap="square"/>
                    <a:lstStyle/>
                    <a:p>
                      <a:r>
                        <a:rPr sz="1300" b="0" i="0">
                          <a:solidFill>
                            <a:srgbClr val="0B0B0B"/>
                          </a:solidFill>
                          <a:latin typeface="Arial"/>
                        </a:rPr>
                        <a:t>96,67</a:t>
                      </a:r>
                    </a:p>
                  </a:txBody>
                  <a:tcPr marL="64008" marR="64008" marT="27432" marB="27432" anchor="ctr">
                    <a:solidFill>
                      <a:srgbClr val="FFFFFF"/>
                    </a:solidFill>
                  </a:tcPr>
                </a:tc>
                <a:tc>
                  <a:txBody>
                    <a:bodyPr wrap="square"/>
                    <a:lstStyle/>
                    <a:p>
                      <a:r>
                        <a:rPr sz="1300" b="0" i="0">
                          <a:solidFill>
                            <a:srgbClr val="0B0B0B"/>
                          </a:solidFill>
                          <a:latin typeface="Arial"/>
                        </a:rPr>
                        <a:t>6,06 s</a:t>
                      </a:r>
                    </a:p>
                  </a:txBody>
                  <a:tcPr marL="64008" marR="64008" marT="27432" marB="27432" anchor="ctr">
                    <a:solidFill>
                      <a:srgbClr val="FFFFFF"/>
                    </a:solidFill>
                  </a:tcPr>
                </a:tc>
              </a:tr>
              <a:tr h="384048">
                <a:tc>
                  <a:txBody>
                    <a:bodyPr wrap="square"/>
                    <a:lstStyle/>
                    <a:p>
                      <a:r>
                        <a:rPr sz="1300" b="0" i="0">
                          <a:solidFill>
                            <a:srgbClr val="0B0B0B"/>
                          </a:solidFill>
                          <a:latin typeface="Arial"/>
                        </a:rPr>
                        <a:t>MobileBERT (teacher)</a:t>
                      </a:r>
                    </a:p>
                  </a:txBody>
                  <a:tcPr marL="64008" marR="64008" marT="27432" marB="27432" anchor="ctr">
                    <a:solidFill>
                      <a:srgbClr val="F9F9F7"/>
                    </a:solidFill>
                  </a:tcPr>
                </a:tc>
                <a:tc>
                  <a:txBody>
                    <a:bodyPr wrap="square"/>
                    <a:lstStyle/>
                    <a:p>
                      <a:r>
                        <a:rPr sz="1300" b="0" i="0">
                          <a:solidFill>
                            <a:srgbClr val="0B0B0B"/>
                          </a:solidFill>
                          <a:latin typeface="Arial"/>
                        </a:rPr>
                        <a:t>25,3M</a:t>
                      </a:r>
                    </a:p>
                  </a:txBody>
                  <a:tcPr marL="64008" marR="64008" marT="27432" marB="27432" anchor="ctr">
                    <a:solidFill>
                      <a:srgbClr val="F9F9F7"/>
                    </a:solidFill>
                  </a:tcPr>
                </a:tc>
                <a:tc>
                  <a:txBody>
                    <a:bodyPr wrap="square"/>
                    <a:lstStyle/>
                    <a:p>
                      <a:r>
                        <a:rPr sz="1300" b="0" i="0">
                          <a:solidFill>
                            <a:srgbClr val="0B0B0B"/>
                          </a:solidFill>
                          <a:latin typeface="Arial"/>
                        </a:rPr>
                        <a:t>98,56</a:t>
                      </a:r>
                    </a:p>
                  </a:txBody>
                  <a:tcPr marL="64008" marR="64008" marT="27432" marB="27432" anchor="ctr">
                    <a:solidFill>
                      <a:srgbClr val="F9F9F7"/>
                    </a:solidFill>
                  </a:tcPr>
                </a:tc>
                <a:tc>
                  <a:txBody>
                    <a:bodyPr wrap="square"/>
                    <a:lstStyle/>
                    <a:p>
                      <a:r>
                        <a:rPr sz="1300" b="0" i="0">
                          <a:solidFill>
                            <a:srgbClr val="0B0B0B"/>
                          </a:solidFill>
                          <a:latin typeface="Arial"/>
                        </a:rPr>
                        <a:t>42,0 s</a:t>
                      </a:r>
                    </a:p>
                  </a:txBody>
                  <a:tcPr marL="64008" marR="64008" marT="27432" marB="27432" anchor="ctr">
                    <a:solidFill>
                      <a:srgbClr val="F9F9F7"/>
                    </a:solidFill>
                  </a:tcPr>
                </a:tc>
              </a:tr>
              <a:tr h="384048">
                <a:tc>
                  <a:txBody>
                    <a:bodyPr wrap="square"/>
                    <a:lstStyle/>
                    <a:p>
                      <a:r>
                        <a:rPr sz="1300" b="0" i="0">
                          <a:solidFill>
                            <a:srgbClr val="0B0B0B"/>
                          </a:solidFill>
                          <a:latin typeface="Arial"/>
                        </a:rPr>
                        <a:t>ModernBERT-base</a:t>
                      </a:r>
                    </a:p>
                  </a:txBody>
                  <a:tcPr marL="64008" marR="64008" marT="27432" marB="27432" anchor="ctr">
                    <a:solidFill>
                      <a:srgbClr val="FFFFFF"/>
                    </a:solidFill>
                  </a:tcPr>
                </a:tc>
                <a:tc>
                  <a:txBody>
                    <a:bodyPr wrap="square"/>
                    <a:lstStyle/>
                    <a:p>
                      <a:r>
                        <a:rPr sz="1300" b="0" i="0">
                          <a:solidFill>
                            <a:srgbClr val="0B0B0B"/>
                          </a:solidFill>
                          <a:latin typeface="Arial"/>
                        </a:rPr>
                        <a:t>149M</a:t>
                      </a:r>
                    </a:p>
                  </a:txBody>
                  <a:tcPr marL="64008" marR="64008" marT="27432" marB="27432" anchor="ctr">
                    <a:solidFill>
                      <a:srgbClr val="FFFFFF"/>
                    </a:solidFill>
                  </a:tcPr>
                </a:tc>
                <a:tc>
                  <a:txBody>
                    <a:bodyPr wrap="square"/>
                    <a:lstStyle/>
                    <a:p>
                      <a:r>
                        <a:rPr sz="1300" b="0" i="0">
                          <a:solidFill>
                            <a:srgbClr val="0B0B0B"/>
                          </a:solidFill>
                          <a:latin typeface="Arial"/>
                        </a:rPr>
                        <a:t>98,98</a:t>
                      </a:r>
                    </a:p>
                  </a:txBody>
                  <a:tcPr marL="64008" marR="64008" marT="27432" marB="27432" anchor="ctr">
                    <a:solidFill>
                      <a:srgbClr val="FFFFFF"/>
                    </a:solidFill>
                  </a:tcPr>
                </a:tc>
                <a:tc>
                  <a:txBody>
                    <a:bodyPr wrap="square"/>
                    <a:lstStyle/>
                    <a:p>
                      <a:r>
                        <a:rPr sz="1300" b="0" i="0">
                          <a:solidFill>
                            <a:srgbClr val="0B0B0B"/>
                          </a:solidFill>
                          <a:latin typeface="Arial"/>
                        </a:rPr>
                        <a:t>37,26 s</a:t>
                      </a:r>
                    </a:p>
                  </a:txBody>
                  <a:tcPr marL="64008" marR="64008" marT="27432" marB="27432" anchor="ctr">
                    <a:solidFill>
                      <a:srgbClr val="FFFFFF"/>
                    </a:solidFill>
                  </a:tcPr>
                </a:tc>
              </a:tr>
              <a:tr h="384048">
                <a:tc>
                  <a:txBody>
                    <a:bodyPr wrap="square"/>
                    <a:lstStyle/>
                    <a:p>
                      <a:r>
                        <a:rPr sz="1300" b="0" i="0">
                          <a:solidFill>
                            <a:srgbClr val="0B0B0B"/>
                          </a:solidFill>
                          <a:latin typeface="Arial"/>
                        </a:rPr>
                        <a:t>DeepSeek-R1-Distill-Qwen-1.5B</a:t>
                      </a:r>
                    </a:p>
                  </a:txBody>
                  <a:tcPr marL="64008" marR="64008" marT="27432" marB="27432" anchor="ctr">
                    <a:solidFill>
                      <a:srgbClr val="F9F9F7"/>
                    </a:solidFill>
                  </a:tcPr>
                </a:tc>
                <a:tc>
                  <a:txBody>
                    <a:bodyPr wrap="square"/>
                    <a:lstStyle/>
                    <a:p>
                      <a:r>
                        <a:rPr sz="1300" b="0" i="0">
                          <a:solidFill>
                            <a:srgbClr val="0B0B0B"/>
                          </a:solidFill>
                          <a:latin typeface="Arial"/>
                        </a:rPr>
                        <a:t>1.780M</a:t>
                      </a:r>
                    </a:p>
                  </a:txBody>
                  <a:tcPr marL="64008" marR="64008" marT="27432" marB="27432" anchor="ctr">
                    <a:solidFill>
                      <a:srgbClr val="F9F9F7"/>
                    </a:solidFill>
                  </a:tcPr>
                </a:tc>
                <a:tc>
                  <a:txBody>
                    <a:bodyPr wrap="square"/>
                    <a:lstStyle/>
                    <a:p>
                      <a:r>
                        <a:rPr sz="1300" b="0" i="0">
                          <a:solidFill>
                            <a:srgbClr val="0B0B0B"/>
                          </a:solidFill>
                          <a:latin typeface="Arial"/>
                        </a:rPr>
                        <a:t>98,83</a:t>
                      </a:r>
                    </a:p>
                  </a:txBody>
                  <a:tcPr marL="64008" marR="64008" marT="27432" marB="27432" anchor="ctr">
                    <a:solidFill>
                      <a:srgbClr val="F9F9F7"/>
                    </a:solidFill>
                  </a:tcPr>
                </a:tc>
                <a:tc>
                  <a:txBody>
                    <a:bodyPr wrap="square"/>
                    <a:lstStyle/>
                    <a:p>
                      <a:r>
                        <a:rPr sz="1300" b="0" i="0">
                          <a:solidFill>
                            <a:srgbClr val="0B0B0B"/>
                          </a:solidFill>
                          <a:latin typeface="Arial"/>
                        </a:rPr>
                        <a:t>56,40 s</a:t>
                      </a:r>
                    </a:p>
                  </a:txBody>
                  <a:tcPr marL="64008" marR="64008" marT="27432" marB="27432" anchor="ctr">
                    <a:solidFill>
                      <a:srgbClr val="F9F9F7"/>
                    </a:solidFill>
                  </a:tcPr>
                </a:tc>
              </a:tr>
            </a:tbl>
          </a:graphicData>
        </a:graphic>
      </p:graphicFrame>
      <p:sp>
        <p:nvSpPr>
          <p:cNvPr id="7" name="TextBox 6"/>
          <p:cNvSpPr txBox="1"/>
          <p:nvPr/>
        </p:nvSpPr>
        <p:spPr>
          <a:xfrm>
            <a:off x="7680960" y="1463040"/>
            <a:ext cx="4023360" cy="4572000"/>
          </a:xfrm>
          <a:prstGeom prst="rect">
            <a:avLst/>
          </a:prstGeom>
          <a:noFill/>
        </p:spPr>
        <p:txBody>
          <a:bodyPr wrap="square" anchor="t" lIns="45720" rIns="45720">
            <a:spAutoFit/>
          </a:bodyPr>
          <a:lstStyle/>
          <a:p>
            <a:pPr>
              <a:spcAft>
                <a:spcPts val="900"/>
              </a:spcAft>
            </a:pPr>
            <a:r>
              <a:rPr sz="1600" b="0" i="0">
                <a:solidFill>
                  <a:srgbClr val="2A78D6"/>
                </a:solidFill>
                <a:latin typeface="Arial"/>
              </a:rPr>
              <a:t>•  </a:t>
            </a:r>
            <a:r>
              <a:rPr sz="1600" b="1" i="0">
                <a:solidFill>
                  <a:srgbClr val="0B0B0B"/>
                </a:solidFill>
                <a:latin typeface="Arial"/>
              </a:rPr>
              <a:t>KD-BiLSTM kém transformer tốt nhất </a:t>
            </a:r>
            <a:r>
              <a:rPr sz="1600" b="0" i="0">
                <a:solidFill>
                  <a:srgbClr val="0B0B0B"/>
                </a:solidFill>
                <a:latin typeface="Arial"/>
              </a:rPr>
              <a:t>~1–2,5 điểm F1</a:t>
            </a:r>
          </a:p>
          <a:p>
            <a:pPr>
              <a:spcAft>
                <a:spcPts val="900"/>
              </a:spcAft>
            </a:pPr>
            <a:r>
              <a:rPr sz="1600" b="0" i="0">
                <a:solidFill>
                  <a:srgbClr val="2A78D6"/>
                </a:solidFill>
                <a:latin typeface="Arial"/>
              </a:rPr>
              <a:t>•  </a:t>
            </a:r>
            <a:r>
              <a:rPr sz="1600" b="1" i="0">
                <a:solidFill>
                  <a:srgbClr val="0B0B0B"/>
                </a:solidFill>
                <a:latin typeface="Arial"/>
              </a:rPr>
              <a:t>Đổi lại: </a:t>
            </a:r>
            <a:r>
              <a:rPr sz="1600" b="0" i="0">
                <a:solidFill>
                  <a:srgbClr val="0B0B0B"/>
                </a:solidFill>
                <a:latin typeface="Arial"/>
              </a:rPr>
              <a:t>nhanh hơn 5–19 lần, nhỏ hơn 20–800 lần</a:t>
            </a:r>
          </a:p>
          <a:p>
            <a:pPr>
              <a:spcAft>
                <a:spcPts val="900"/>
              </a:spcAft>
            </a:pPr>
            <a:r>
              <a:rPr sz="1600" b="0" i="0">
                <a:solidFill>
                  <a:srgbClr val="2A78D6"/>
                </a:solidFill>
                <a:latin typeface="Arial"/>
              </a:rPr>
              <a:t>•  </a:t>
            </a:r>
            <a:r>
              <a:rPr sz="1600" b="1" i="0">
                <a:solidFill>
                  <a:srgbClr val="0B0B0B"/>
                </a:solidFill>
                <a:latin typeface="Arial"/>
              </a:rPr>
              <a:t>Chỉ học email LLM rồi test email thật (Gen-Orig): </a:t>
            </a:r>
            <a:r>
              <a:rPr sz="1600" b="0" i="0">
                <a:solidFill>
                  <a:srgbClr val="0B0B0B"/>
                </a:solidFill>
                <a:latin typeface="Arial"/>
              </a:rPr>
              <a:t>recall BiLSTM chỉ 51%</a:t>
            </a:r>
          </a:p>
          <a:p>
            <a:pPr>
              <a:spcAft>
                <a:spcPts val="900"/>
              </a:spcAft>
            </a:pPr>
            <a:r>
              <a:rPr sz="1600" b="0" i="0">
                <a:solidFill>
                  <a:srgbClr val="2A78D6"/>
                </a:solidFill>
                <a:latin typeface="Arial"/>
              </a:rPr>
              <a:t>•  </a:t>
            </a:r>
            <a:r>
              <a:rPr sz="1600" b="1" i="0">
                <a:solidFill>
                  <a:srgbClr val="0B0B0B"/>
                </a:solidFill>
                <a:latin typeface="Arial"/>
              </a:rPr>
              <a:t>Multi-head attention </a:t>
            </a:r>
            <a:r>
              <a:rPr sz="1600" b="0" i="0">
                <a:solidFill>
                  <a:srgbClr val="0B0B0B"/>
                </a:solidFill>
                <a:latin typeface="Arial"/>
              </a:rPr>
              <a:t>cải thiện rõ khả năng tổng quát hóa chéo</a:t>
            </a:r>
          </a:p>
          <a:p>
            <a:pPr>
              <a:spcAft>
                <a:spcPts val="900"/>
              </a:spcAft>
            </a:pPr>
            <a:r>
              <a:rPr sz="1600" b="0" i="0">
                <a:solidFill>
                  <a:srgbClr val="2A78D6"/>
                </a:solidFill>
                <a:latin typeface="Arial"/>
              </a:rPr>
              <a:t>•  </a:t>
            </a:r>
            <a:r>
              <a:rPr sz="1600" b="1" i="0">
                <a:solidFill>
                  <a:srgbClr val="0B0B0B"/>
                </a:solidFill>
                <a:latin typeface="Arial"/>
              </a:rPr>
              <a:t>Lưu ý: </a:t>
            </a:r>
            <a:r>
              <a:rPr sz="1600" b="0" i="0">
                <a:solidFill>
                  <a:srgbClr val="0B0B0B"/>
                </a:solidFill>
                <a:latin typeface="Arial"/>
              </a:rPr>
              <a:t>dữ liệu &amp; code chưa công bố; nhiều chi tiết kiến trúc không mô tả đủ</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2 · TÁI HIỆN</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Đã tái hiện bài báo đến mức nào?</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6</a:t>
            </a:r>
          </a:p>
        </p:txBody>
      </p:sp>
      <p:graphicFrame>
        <p:nvGraphicFramePr>
          <p:cNvPr id="6" name="Table 5"/>
          <p:cNvGraphicFramePr>
            <a:graphicFrameLocks noGrp="1"/>
          </p:cNvGraphicFramePr>
          <p:nvPr/>
        </p:nvGraphicFramePr>
        <p:xfrm>
          <a:off x="548640" y="1371600"/>
          <a:ext cx="11155679" cy="4718304"/>
        </p:xfrm>
        <a:graphic>
          <a:graphicData uri="http://schemas.openxmlformats.org/drawingml/2006/table">
            <a:tbl>
              <a:tblPr firstRow="1" bandRow="1">
                <a:tableStyleId>{5C22544A-7EE6-4342-B048-85BDC9FD1C3A}</a:tableStyleId>
              </a:tblPr>
              <a:tblGrid>
                <a:gridCol w="2788920"/>
                <a:gridCol w="3067812"/>
                <a:gridCol w="4276343"/>
                <a:gridCol w="1022604"/>
              </a:tblGrid>
              <a:tr h="393192">
                <a:tc>
                  <a:txBody>
                    <a:bodyPr wrap="square"/>
                    <a:lstStyle/>
                    <a:p>
                      <a:r>
                        <a:rPr sz="1100" b="1" i="0">
                          <a:solidFill>
                            <a:srgbClr val="0B0B0B"/>
                          </a:solidFill>
                          <a:latin typeface="Arial"/>
                        </a:rPr>
                        <a:t>Thành phần</a:t>
                      </a:r>
                    </a:p>
                  </a:txBody>
                  <a:tcPr marL="64008" marR="64008" marT="27432" marB="27432" anchor="ctr">
                    <a:solidFill>
                      <a:srgbClr val="CDE2FB"/>
                    </a:solidFill>
                  </a:tcPr>
                </a:tc>
                <a:tc>
                  <a:txBody>
                    <a:bodyPr wrap="square"/>
                    <a:lstStyle/>
                    <a:p>
                      <a:r>
                        <a:rPr sz="1100" b="1" i="0">
                          <a:solidFill>
                            <a:srgbClr val="0B0B0B"/>
                          </a:solidFill>
                          <a:latin typeface="Arial"/>
                        </a:rPr>
                        <a:t>Bài báo</a:t>
                      </a:r>
                    </a:p>
                  </a:txBody>
                  <a:tcPr marL="64008" marR="64008" marT="27432" marB="27432" anchor="ctr">
                    <a:solidFill>
                      <a:srgbClr val="CDE2FB"/>
                    </a:solidFill>
                  </a:tcPr>
                </a:tc>
                <a:tc>
                  <a:txBody>
                    <a:bodyPr wrap="square"/>
                    <a:lstStyle/>
                    <a:p>
                      <a:r>
                        <a:rPr sz="1100" b="1" i="0">
                          <a:solidFill>
                            <a:srgbClr val="0B0B0B"/>
                          </a:solidFill>
                          <a:latin typeface="Arial"/>
                        </a:rPr>
                        <a:t>Bản tái hiện</a:t>
                      </a:r>
                    </a:p>
                  </a:txBody>
                  <a:tcPr marL="64008" marR="64008" marT="27432" marB="27432" anchor="ctr">
                    <a:solidFill>
                      <a:srgbClr val="CDE2FB"/>
                    </a:solidFill>
                  </a:tcPr>
                </a:tc>
                <a:tc>
                  <a:txBody>
                    <a:bodyPr wrap="square"/>
                    <a:lstStyle/>
                    <a:p>
                      <a:r>
                        <a:rPr sz="1100" b="1" i="0">
                          <a:solidFill>
                            <a:srgbClr val="0B0B0B"/>
                          </a:solidFill>
                          <a:latin typeface="Arial"/>
                        </a:rPr>
                        <a:t>Trạng thái</a:t>
                      </a:r>
                    </a:p>
                  </a:txBody>
                  <a:tcPr marL="64008" marR="64008" marT="27432" marB="27432" anchor="ctr">
                    <a:solidFill>
                      <a:srgbClr val="CDE2FB"/>
                    </a:solidFill>
                  </a:tcPr>
                </a:tc>
              </a:tr>
              <a:tr h="393192">
                <a:tc>
                  <a:txBody>
                    <a:bodyPr wrap="square"/>
                    <a:lstStyle/>
                    <a:p>
                      <a:r>
                        <a:rPr sz="1100" b="0" i="0">
                          <a:solidFill>
                            <a:srgbClr val="0B0B0B"/>
                          </a:solidFill>
                          <a:latin typeface="Arial"/>
                        </a:rPr>
                        <a:t>Dữ liệu thật (5 bộ, ~623K email)</a:t>
                      </a:r>
                    </a:p>
                  </a:txBody>
                  <a:tcPr marL="64008" marR="64008" marT="27432" marB="27432" anchor="ctr">
                    <a:solidFill>
                      <a:srgbClr val="FFFFFF"/>
                    </a:solidFill>
                  </a:tcPr>
                </a:tc>
                <a:tc>
                  <a:txBody>
                    <a:bodyPr wrap="square"/>
                    <a:lstStyle/>
                    <a:p>
                      <a:r>
                        <a:rPr sz="1100" b="0" i="0">
                          <a:solidFill>
                            <a:srgbClr val="0B0B0B"/>
                          </a:solidFill>
                          <a:latin typeface="Arial"/>
                        </a:rPr>
                        <a:t>Cambridge, Nazario, Chakraborty, Phishing Pot, Enron</a:t>
                      </a:r>
                    </a:p>
                  </a:txBody>
                  <a:tcPr marL="64008" marR="64008" marT="27432" marB="27432" anchor="ctr">
                    <a:solidFill>
                      <a:srgbClr val="FFFFFF"/>
                    </a:solidFill>
                  </a:tcPr>
                </a:tc>
                <a:tc>
                  <a:txBody>
                    <a:bodyPr wrap="square"/>
                    <a:lstStyle/>
                    <a:p>
                      <a:r>
                        <a:rPr sz="1100" b="0" i="0">
                          <a:solidFill>
                            <a:srgbClr val="0B0B0B"/>
                          </a:solidFill>
                          <a:latin typeface="Arial"/>
                        </a:rPr>
                        <a:t>Corpus toy sinh từ template (không có dữ liệu gốc)</a:t>
                      </a:r>
                    </a:p>
                  </a:txBody>
                  <a:tcPr marL="64008" marR="64008" marT="27432" marB="27432" anchor="ctr">
                    <a:solidFill>
                      <a:srgbClr val="FFFFFF"/>
                    </a:solidFill>
                  </a:tcPr>
                </a:tc>
                <a:tc>
                  <a:txBody>
                    <a:bodyPr wrap="square"/>
                    <a:lstStyle/>
                    <a:p>
                      <a:r>
                        <a:rPr sz="1100" b="0" i="0">
                          <a:solidFill>
                            <a:srgbClr val="B07A00"/>
                          </a:solidFill>
                          <a:latin typeface="Arial"/>
                        </a:rPr>
                        <a:t>Thay thế</a:t>
                      </a:r>
                    </a:p>
                  </a:txBody>
                  <a:tcPr marL="64008" marR="64008" marT="27432" marB="27432" anchor="ctr">
                    <a:solidFill>
                      <a:srgbClr val="FFFFFF"/>
                    </a:solidFill>
                  </a:tcPr>
                </a:tc>
              </a:tr>
              <a:tr h="393192">
                <a:tc>
                  <a:txBody>
                    <a:bodyPr wrap="square"/>
                    <a:lstStyle/>
                    <a:p>
                      <a:r>
                        <a:rPr sz="1100" b="0" i="0">
                          <a:solidFill>
                            <a:srgbClr val="0B0B0B"/>
                          </a:solidFill>
                          <a:latin typeface="Arial"/>
                        </a:rPr>
                        <a:t>Sinh email bằng LLM</a:t>
                      </a:r>
                    </a:p>
                  </a:txBody>
                  <a:tcPr marL="64008" marR="64008" marT="27432" marB="27432" anchor="ctr">
                    <a:solidFill>
                      <a:srgbClr val="F9F9F7"/>
                    </a:solidFill>
                  </a:tcPr>
                </a:tc>
                <a:tc>
                  <a:txBody>
                    <a:bodyPr wrap="square"/>
                    <a:lstStyle/>
                    <a:p>
                      <a:r>
                        <a:rPr sz="1100" b="0" i="0">
                          <a:solidFill>
                            <a:srgbClr val="0B0B0B"/>
                          </a:solidFill>
                          <a:latin typeface="Arial"/>
                        </a:rPr>
                        <a:t>OpenAI / DeepSeek: paraphrase, masking, personalization</a:t>
                      </a:r>
                    </a:p>
                  </a:txBody>
                  <a:tcPr marL="64008" marR="64008" marT="27432" marB="27432" anchor="ctr">
                    <a:solidFill>
                      <a:srgbClr val="F9F9F7"/>
                    </a:solidFill>
                  </a:tcPr>
                </a:tc>
                <a:tc>
                  <a:txBody>
                    <a:bodyPr wrap="square"/>
                    <a:lstStyle/>
                    <a:p>
                      <a:r>
                        <a:rPr sz="1100" b="0" i="0">
                          <a:solidFill>
                            <a:srgbClr val="0B0B0B"/>
                          </a:solidFill>
                          <a:latin typeface="Arial"/>
                        </a:rPr>
                        <a:t>Prompt sẵn sàng + bộ luật mô phỏng 3 hành vi; có chỗ cắm LLM cục bộ (Ollama)</a:t>
                      </a:r>
                    </a:p>
                  </a:txBody>
                  <a:tcPr marL="64008" marR="64008" marT="27432" marB="27432" anchor="ctr">
                    <a:solidFill>
                      <a:srgbClr val="F9F9F7"/>
                    </a:solidFill>
                  </a:tcPr>
                </a:tc>
                <a:tc>
                  <a:txBody>
                    <a:bodyPr wrap="square"/>
                    <a:lstStyle/>
                    <a:p>
                      <a:r>
                        <a:rPr sz="1100" b="0" i="0">
                          <a:solidFill>
                            <a:srgbClr val="B07A00"/>
                          </a:solidFill>
                          <a:latin typeface="Arial"/>
                        </a:rPr>
                        <a:t>Mô phỏng</a:t>
                      </a:r>
                    </a:p>
                  </a:txBody>
                  <a:tcPr marL="64008" marR="64008" marT="27432" marB="27432" anchor="ctr">
                    <a:solidFill>
                      <a:srgbClr val="F9F9F7"/>
                    </a:solidFill>
                  </a:tcPr>
                </a:tc>
              </a:tr>
              <a:tr h="393192">
                <a:tc>
                  <a:txBody>
                    <a:bodyPr wrap="square"/>
                    <a:lstStyle/>
                    <a:p>
                      <a:r>
                        <a:rPr sz="1100" b="0" i="0">
                          <a:solidFill>
                            <a:srgbClr val="0B0B0B"/>
                          </a:solidFill>
                          <a:latin typeface="Arial"/>
                        </a:rPr>
                        <a:t>Phân tích tương đồng TF-IDF (Fig. 2)</a:t>
                      </a:r>
                    </a:p>
                  </a:txBody>
                  <a:tcPr marL="64008" marR="64008" marT="27432" marB="27432" anchor="ctr">
                    <a:solidFill>
                      <a:srgbClr val="FFFFFF"/>
                    </a:solidFill>
                  </a:tcPr>
                </a:tc>
                <a:tc>
                  <a:txBody>
                    <a:bodyPr wrap="square"/>
                    <a:lstStyle/>
                    <a:p>
                      <a:r>
                        <a:rPr sz="1100" b="0" i="0">
                          <a:solidFill>
                            <a:srgbClr val="0B0B0B"/>
                          </a:solidFill>
                          <a:latin typeface="Arial"/>
                        </a:rPr>
                        <a:t>Có</a:t>
                      </a:r>
                    </a:p>
                  </a:txBody>
                  <a:tcPr marL="64008" marR="64008" marT="27432" marB="27432" anchor="ctr">
                    <a:solidFill>
                      <a:srgbClr val="FFFFFF"/>
                    </a:solidFill>
                  </a:tcPr>
                </a:tc>
                <a:tc>
                  <a:txBody>
                    <a:bodyPr wrap="square"/>
                    <a:lstStyle/>
                    <a:p>
                      <a:r>
                        <a:rPr sz="1100" b="0" i="0">
                          <a:solidFill>
                            <a:srgbClr val="0B0B0B"/>
                          </a:solidFill>
                          <a:latin typeface="Arial"/>
                        </a:rPr>
                        <a:t>Có - cùng xu hướng (0,026 so với 0,002)</a:t>
                      </a:r>
                    </a:p>
                  </a:txBody>
                  <a:tcPr marL="64008" marR="64008" marT="27432" marB="27432" anchor="ctr">
                    <a:solidFill>
                      <a:srgbClr val="FFFFFF"/>
                    </a:solidFill>
                  </a:tcPr>
                </a:tc>
                <a:tc>
                  <a:txBody>
                    <a:bodyPr wrap="square"/>
                    <a:lstStyle/>
                    <a:p>
                      <a:r>
                        <a:rPr sz="1100" b="0" i="0">
                          <a:solidFill>
                            <a:srgbClr val="0CA30C"/>
                          </a:solidFill>
                          <a:latin typeface="Arial"/>
                        </a:rPr>
                        <a:t>Đạt</a:t>
                      </a:r>
                    </a:p>
                  </a:txBody>
                  <a:tcPr marL="64008" marR="64008" marT="27432" marB="27432" anchor="ctr">
                    <a:solidFill>
                      <a:srgbClr val="FFFFFF"/>
                    </a:solidFill>
                  </a:tcPr>
                </a:tc>
              </a:tr>
              <a:tr h="393192">
                <a:tc>
                  <a:txBody>
                    <a:bodyPr wrap="square"/>
                    <a:lstStyle/>
                    <a:p>
                      <a:r>
                        <a:rPr sz="1100" b="0" i="0">
                          <a:solidFill>
                            <a:srgbClr val="0B0B0B"/>
                          </a:solidFill>
                          <a:latin typeface="Arial"/>
                        </a:rPr>
                        <a:t>Chấm điểm mức phishing bằng câu hỏi</a:t>
                      </a:r>
                    </a:p>
                  </a:txBody>
                  <a:tcPr marL="64008" marR="64008" marT="27432" marB="27432" anchor="ctr">
                    <a:solidFill>
                      <a:srgbClr val="F9F9F7"/>
                    </a:solidFill>
                  </a:tcPr>
                </a:tc>
                <a:tc>
                  <a:txBody>
                    <a:bodyPr wrap="square"/>
                    <a:lstStyle/>
                    <a:p>
                      <a:r>
                        <a:rPr sz="1100" b="0" i="0">
                          <a:solidFill>
                            <a:srgbClr val="0B0B0B"/>
                          </a:solidFill>
                          <a:latin typeface="Arial"/>
                        </a:rPr>
                        <a:t>Hỏi LLM</a:t>
                      </a:r>
                    </a:p>
                  </a:txBody>
                  <a:tcPr marL="64008" marR="64008" marT="27432" marB="27432" anchor="ctr">
                    <a:solidFill>
                      <a:srgbClr val="F9F9F7"/>
                    </a:solidFill>
                  </a:tcPr>
                </a:tc>
                <a:tc>
                  <a:txBody>
                    <a:bodyPr wrap="square"/>
                    <a:lstStyle/>
                    <a:p>
                      <a:r>
                        <a:rPr sz="1100" b="0" i="0">
                          <a:solidFill>
                            <a:srgbClr val="0B0B0B"/>
                          </a:solidFill>
                          <a:latin typeface="Arial"/>
                        </a:rPr>
                        <a:t>Cùng 9 câu hỏi, trả lời bằng từ khóa; trọng số theo AUC</a:t>
                      </a:r>
                    </a:p>
                  </a:txBody>
                  <a:tcPr marL="64008" marR="64008" marT="27432" marB="27432" anchor="ctr">
                    <a:solidFill>
                      <a:srgbClr val="F9F9F7"/>
                    </a:solidFill>
                  </a:tcPr>
                </a:tc>
                <a:tc>
                  <a:txBody>
                    <a:bodyPr wrap="square"/>
                    <a:lstStyle/>
                    <a:p>
                      <a:r>
                        <a:rPr sz="1100" b="0" i="0">
                          <a:solidFill>
                            <a:srgbClr val="B07A00"/>
                          </a:solidFill>
                          <a:latin typeface="Arial"/>
                        </a:rPr>
                        <a:t>Mô phỏng</a:t>
                      </a:r>
                    </a:p>
                  </a:txBody>
                  <a:tcPr marL="64008" marR="64008" marT="27432" marB="27432" anchor="ctr">
                    <a:solidFill>
                      <a:srgbClr val="F9F9F7"/>
                    </a:solidFill>
                  </a:tcPr>
                </a:tc>
              </a:tr>
              <a:tr h="393192">
                <a:tc>
                  <a:txBody>
                    <a:bodyPr wrap="square"/>
                    <a:lstStyle/>
                    <a:p>
                      <a:r>
                        <a:rPr sz="1100" b="0" i="0">
                          <a:solidFill>
                            <a:srgbClr val="0B0B0B"/>
                          </a:solidFill>
                          <a:latin typeface="Arial"/>
                        </a:rPr>
                        <a:t>Khử trùng lặp</a:t>
                      </a:r>
                    </a:p>
                  </a:txBody>
                  <a:tcPr marL="64008" marR="64008" marT="27432" marB="27432" anchor="ctr">
                    <a:solidFill>
                      <a:srgbClr val="FFFFFF"/>
                    </a:solidFill>
                  </a:tcPr>
                </a:tc>
                <a:tc>
                  <a:txBody>
                    <a:bodyPr wrap="square"/>
                    <a:lstStyle/>
                    <a:p>
                      <a:r>
                        <a:rPr sz="1100" b="0" i="0">
                          <a:solidFill>
                            <a:srgbClr val="0B0B0B"/>
                          </a:solidFill>
                          <a:latin typeface="Arial"/>
                        </a:rPr>
                        <a:t>Có</a:t>
                      </a:r>
                    </a:p>
                  </a:txBody>
                  <a:tcPr marL="64008" marR="64008" marT="27432" marB="27432" anchor="ctr">
                    <a:solidFill>
                      <a:srgbClr val="FFFFFF"/>
                    </a:solidFill>
                  </a:tcPr>
                </a:tc>
                <a:tc>
                  <a:txBody>
                    <a:bodyPr wrap="square"/>
                    <a:lstStyle/>
                    <a:p>
                      <a:r>
                        <a:rPr sz="1100" b="0" i="0">
                          <a:solidFill>
                            <a:srgbClr val="0B0B0B"/>
                          </a:solidFill>
                          <a:latin typeface="Arial"/>
                        </a:rPr>
                        <a:t>Có (cosine TF-IDF)</a:t>
                      </a:r>
                    </a:p>
                  </a:txBody>
                  <a:tcPr marL="64008" marR="64008" marT="27432" marB="27432" anchor="ctr">
                    <a:solidFill>
                      <a:srgbClr val="FFFFFF"/>
                    </a:solidFill>
                  </a:tcPr>
                </a:tc>
                <a:tc>
                  <a:txBody>
                    <a:bodyPr wrap="square"/>
                    <a:lstStyle/>
                    <a:p>
                      <a:r>
                        <a:rPr sz="1100" b="0" i="0">
                          <a:solidFill>
                            <a:srgbClr val="0CA30C"/>
                          </a:solidFill>
                          <a:latin typeface="Arial"/>
                        </a:rPr>
                        <a:t>Đạt</a:t>
                      </a:r>
                    </a:p>
                  </a:txBody>
                  <a:tcPr marL="64008" marR="64008" marT="27432" marB="27432" anchor="ctr">
                    <a:solidFill>
                      <a:srgbClr val="FFFFFF"/>
                    </a:solidFill>
                  </a:tcPr>
                </a:tc>
              </a:tr>
              <a:tr h="393192">
                <a:tc>
                  <a:txBody>
                    <a:bodyPr wrap="square"/>
                    <a:lstStyle/>
                    <a:p>
                      <a:r>
                        <a:rPr sz="1100" b="0" i="0">
                          <a:solidFill>
                            <a:srgbClr val="0B0B0B"/>
                          </a:solidFill>
                          <a:latin typeface="Arial"/>
                        </a:rPr>
                        <a:t>LSTM / BiLSTM / +SH / +MH</a:t>
                      </a:r>
                    </a:p>
                  </a:txBody>
                  <a:tcPr marL="64008" marR="64008" marT="27432" marB="27432" anchor="ctr">
                    <a:solidFill>
                      <a:srgbClr val="F9F9F7"/>
                    </a:solidFill>
                  </a:tcPr>
                </a:tc>
                <a:tc>
                  <a:txBody>
                    <a:bodyPr wrap="square"/>
                    <a:lstStyle/>
                    <a:p>
                      <a:r>
                        <a:rPr sz="1100" b="0" i="0">
                          <a:solidFill>
                            <a:srgbClr val="0B0B0B"/>
                          </a:solidFill>
                          <a:latin typeface="Arial"/>
                        </a:rPr>
                        <a:t>Word2Vec 100d, H=4, D=64</a:t>
                      </a:r>
                    </a:p>
                  </a:txBody>
                  <a:tcPr marL="64008" marR="64008" marT="27432" marB="27432" anchor="ctr">
                    <a:solidFill>
                      <a:srgbClr val="F9F9F7"/>
                    </a:solidFill>
                  </a:tcPr>
                </a:tc>
                <a:tc>
                  <a:txBody>
                    <a:bodyPr wrap="square"/>
                    <a:lstStyle/>
                    <a:p>
                      <a:r>
                        <a:rPr sz="1100" b="0" i="0">
                          <a:solidFill>
                            <a:srgbClr val="0B0B0B"/>
                          </a:solidFill>
                          <a:latin typeface="Arial"/>
                        </a:rPr>
                        <a:t>Đủ 4 mô hình, đúng siêu tham số Table 2</a:t>
                      </a:r>
                    </a:p>
                  </a:txBody>
                  <a:tcPr marL="64008" marR="64008" marT="27432" marB="27432" anchor="ctr">
                    <a:solidFill>
                      <a:srgbClr val="F9F9F7"/>
                    </a:solidFill>
                  </a:tcPr>
                </a:tc>
                <a:tc>
                  <a:txBody>
                    <a:bodyPr wrap="square"/>
                    <a:lstStyle/>
                    <a:p>
                      <a:r>
                        <a:rPr sz="1100" b="0" i="0">
                          <a:solidFill>
                            <a:srgbClr val="0CA30C"/>
                          </a:solidFill>
                          <a:latin typeface="Arial"/>
                        </a:rPr>
                        <a:t>Đạt</a:t>
                      </a:r>
                    </a:p>
                  </a:txBody>
                  <a:tcPr marL="64008" marR="64008" marT="27432" marB="27432" anchor="ctr">
                    <a:solidFill>
                      <a:srgbClr val="F9F9F7"/>
                    </a:solidFill>
                  </a:tcPr>
                </a:tc>
              </a:tr>
              <a:tr h="393192">
                <a:tc>
                  <a:txBody>
                    <a:bodyPr wrap="square"/>
                    <a:lstStyle/>
                    <a:p>
                      <a:r>
                        <a:rPr sz="1100" b="0" i="0">
                          <a:solidFill>
                            <a:srgbClr val="0B0B0B"/>
                          </a:solidFill>
                          <a:latin typeface="Arial"/>
                        </a:rPr>
                        <a:t>Teacher MobileBERT</a:t>
                      </a:r>
                    </a:p>
                  </a:txBody>
                  <a:tcPr marL="64008" marR="64008" marT="27432" marB="27432" anchor="ctr">
                    <a:solidFill>
                      <a:srgbClr val="FFFFFF"/>
                    </a:solidFill>
                  </a:tcPr>
                </a:tc>
                <a:tc>
                  <a:txBody>
                    <a:bodyPr wrap="square"/>
                    <a:lstStyle/>
                    <a:p>
                      <a:r>
                        <a:rPr sz="1100" b="0" i="0">
                          <a:solidFill>
                            <a:srgbClr val="0B0B0B"/>
                          </a:solidFill>
                          <a:latin typeface="Arial"/>
                        </a:rPr>
                        <a:t>25,3M tham số</a:t>
                      </a:r>
                    </a:p>
                  </a:txBody>
                  <a:tcPr marL="64008" marR="64008" marT="27432" marB="27432" anchor="ctr">
                    <a:solidFill>
                      <a:srgbClr val="FFFFFF"/>
                    </a:solidFill>
                  </a:tcPr>
                </a:tc>
                <a:tc>
                  <a:txBody>
                    <a:bodyPr wrap="square"/>
                    <a:lstStyle/>
                    <a:p>
                      <a:r>
                        <a:rPr sz="1100" b="0" i="0">
                          <a:solidFill>
                            <a:srgbClr val="0B0B0B"/>
                          </a:solidFill>
                          <a:latin typeface="Arial"/>
                        </a:rPr>
                        <a:t>24,6M; thêm gradient clipping để huấn luyện ổn định</a:t>
                      </a:r>
                    </a:p>
                  </a:txBody>
                  <a:tcPr marL="64008" marR="64008" marT="27432" marB="27432" anchor="ctr">
                    <a:solidFill>
                      <a:srgbClr val="FFFFFF"/>
                    </a:solidFill>
                  </a:tcPr>
                </a:tc>
                <a:tc>
                  <a:txBody>
                    <a:bodyPr wrap="square"/>
                    <a:lstStyle/>
                    <a:p>
                      <a:r>
                        <a:rPr sz="1100" b="0" i="0">
                          <a:solidFill>
                            <a:srgbClr val="0CA30C"/>
                          </a:solidFill>
                          <a:latin typeface="Arial"/>
                        </a:rPr>
                        <a:t>Đạt</a:t>
                      </a:r>
                    </a:p>
                  </a:txBody>
                  <a:tcPr marL="64008" marR="64008" marT="27432" marB="27432" anchor="ctr">
                    <a:solidFill>
                      <a:srgbClr val="FFFFFF"/>
                    </a:solidFill>
                  </a:tcPr>
                </a:tc>
              </a:tr>
              <a:tr h="393192">
                <a:tc>
                  <a:txBody>
                    <a:bodyPr wrap="square"/>
                    <a:lstStyle/>
                    <a:p>
                      <a:r>
                        <a:rPr sz="1100" b="0" i="0">
                          <a:solidFill>
                            <a:srgbClr val="0B0B0B"/>
                          </a:solidFill>
                          <a:latin typeface="Arial"/>
                        </a:rPr>
                        <a:t>KD-BiLSTM (Algorithm 1)</a:t>
                      </a:r>
                    </a:p>
                  </a:txBody>
                  <a:tcPr marL="64008" marR="64008" marT="27432" marB="27432" anchor="ctr">
                    <a:solidFill>
                      <a:srgbClr val="F9F9F7"/>
                    </a:solidFill>
                  </a:tcPr>
                </a:tc>
                <a:tc>
                  <a:txBody>
                    <a:bodyPr wrap="square"/>
                    <a:lstStyle/>
                    <a:p>
                      <a:r>
                        <a:rPr sz="1100" b="0" i="0">
                          <a:solidFill>
                            <a:srgbClr val="0B0B0B"/>
                          </a:solidFill>
                          <a:latin typeface="Arial"/>
                        </a:rPr>
                        <a:t>α=0,5, τ=2, lr 1e-4, 3 epoch</a:t>
                      </a:r>
                    </a:p>
                  </a:txBody>
                  <a:tcPr marL="64008" marR="64008" marT="27432" marB="27432" anchor="ctr">
                    <a:solidFill>
                      <a:srgbClr val="F9F9F7"/>
                    </a:solidFill>
                  </a:tcPr>
                </a:tc>
                <a:tc>
                  <a:txBody>
                    <a:bodyPr wrap="square"/>
                    <a:lstStyle/>
                    <a:p>
                      <a:r>
                        <a:rPr sz="1100" b="0" i="0">
                          <a:solidFill>
                            <a:srgbClr val="0B0B0B"/>
                          </a:solidFill>
                          <a:latin typeface="Arial"/>
                        </a:rPr>
                        <a:t>Đúng công thức loss &amp; Algorithm 1; 4,4M tham số</a:t>
                      </a:r>
                    </a:p>
                  </a:txBody>
                  <a:tcPr marL="64008" marR="64008" marT="27432" marB="27432" anchor="ctr">
                    <a:solidFill>
                      <a:srgbClr val="F9F9F7"/>
                    </a:solidFill>
                  </a:tcPr>
                </a:tc>
                <a:tc>
                  <a:txBody>
                    <a:bodyPr wrap="square"/>
                    <a:lstStyle/>
                    <a:p>
                      <a:r>
                        <a:rPr sz="1100" b="0" i="0">
                          <a:solidFill>
                            <a:srgbClr val="0CA30C"/>
                          </a:solidFill>
                          <a:latin typeface="Arial"/>
                        </a:rPr>
                        <a:t>Đạt</a:t>
                      </a:r>
                    </a:p>
                  </a:txBody>
                  <a:tcPr marL="64008" marR="64008" marT="27432" marB="27432" anchor="ctr">
                    <a:solidFill>
                      <a:srgbClr val="F9F9F7"/>
                    </a:solidFill>
                  </a:tcPr>
                </a:tc>
              </a:tr>
              <a:tr h="393192">
                <a:tc>
                  <a:txBody>
                    <a:bodyPr wrap="square"/>
                    <a:lstStyle/>
                    <a:p>
                      <a:r>
                        <a:rPr sz="1100" b="0" i="0">
                          <a:solidFill>
                            <a:srgbClr val="0B0B0B"/>
                          </a:solidFill>
                          <a:latin typeface="Arial"/>
                        </a:rPr>
                        <a:t>5 kịch bản × 5-fold, 72/8/20</a:t>
                      </a:r>
                    </a:p>
                  </a:txBody>
                  <a:tcPr marL="64008" marR="64008" marT="27432" marB="27432" anchor="ctr">
                    <a:solidFill>
                      <a:srgbClr val="FFFFFF"/>
                    </a:solidFill>
                  </a:tcPr>
                </a:tc>
                <a:tc>
                  <a:txBody>
                    <a:bodyPr wrap="square"/>
                    <a:lstStyle/>
                    <a:p>
                      <a:r>
                        <a:rPr sz="1100" b="0" i="0">
                          <a:solidFill>
                            <a:srgbClr val="0B0B0B"/>
                          </a:solidFill>
                          <a:latin typeface="Arial"/>
                        </a:rPr>
                        <a:t>Có</a:t>
                      </a:r>
                    </a:p>
                  </a:txBody>
                  <a:tcPr marL="64008" marR="64008" marT="27432" marB="27432" anchor="ctr">
                    <a:solidFill>
                      <a:srgbClr val="FFFFFF"/>
                    </a:solidFill>
                  </a:tcPr>
                </a:tc>
                <a:tc>
                  <a:txBody>
                    <a:bodyPr wrap="square"/>
                    <a:lstStyle/>
                    <a:p>
                      <a:r>
                        <a:rPr sz="1100" b="0" i="0">
                          <a:solidFill>
                            <a:srgbClr val="0B0B0B"/>
                          </a:solidFill>
                          <a:latin typeface="Arial"/>
                        </a:rPr>
                        <a:t>Có (cách chia fold chéo miền tự đề xuất)</a:t>
                      </a:r>
                    </a:p>
                  </a:txBody>
                  <a:tcPr marL="64008" marR="64008" marT="27432" marB="27432" anchor="ctr">
                    <a:solidFill>
                      <a:srgbClr val="FFFFFF"/>
                    </a:solidFill>
                  </a:tcPr>
                </a:tc>
                <a:tc>
                  <a:txBody>
                    <a:bodyPr wrap="square"/>
                    <a:lstStyle/>
                    <a:p>
                      <a:r>
                        <a:rPr sz="1100" b="0" i="0">
                          <a:solidFill>
                            <a:srgbClr val="0CA30C"/>
                          </a:solidFill>
                          <a:latin typeface="Arial"/>
                        </a:rPr>
                        <a:t>Đạt</a:t>
                      </a:r>
                    </a:p>
                  </a:txBody>
                  <a:tcPr marL="64008" marR="64008" marT="27432" marB="27432" anchor="ctr">
                    <a:solidFill>
                      <a:srgbClr val="FFFFFF"/>
                    </a:solidFill>
                  </a:tcPr>
                </a:tc>
              </a:tr>
              <a:tr h="393192">
                <a:tc>
                  <a:txBody>
                    <a:bodyPr wrap="square"/>
                    <a:lstStyle/>
                    <a:p>
                      <a:r>
                        <a:rPr sz="1100" b="0" i="0">
                          <a:solidFill>
                            <a:srgbClr val="0B0B0B"/>
                          </a:solidFill>
                          <a:latin typeface="Arial"/>
                        </a:rPr>
                        <a:t>So sánh ModernBERT, DeBERTa, T5, Qwen, Phi-4</a:t>
                      </a:r>
                    </a:p>
                  </a:txBody>
                  <a:tcPr marL="64008" marR="64008" marT="27432" marB="27432" anchor="ctr">
                    <a:solidFill>
                      <a:srgbClr val="F9F9F7"/>
                    </a:solidFill>
                  </a:tcPr>
                </a:tc>
                <a:tc>
                  <a:txBody>
                    <a:bodyPr wrap="square"/>
                    <a:lstStyle/>
                    <a:p>
                      <a:r>
                        <a:rPr sz="1100" b="0" i="0">
                          <a:solidFill>
                            <a:srgbClr val="0B0B0B"/>
                          </a:solidFill>
                          <a:latin typeface="Arial"/>
                        </a:rPr>
                        <a:t>Có (Table 7)</a:t>
                      </a:r>
                    </a:p>
                  </a:txBody>
                  <a:tcPr marL="64008" marR="64008" marT="27432" marB="27432" anchor="ctr">
                    <a:solidFill>
                      <a:srgbClr val="F9F9F7"/>
                    </a:solidFill>
                  </a:tcPr>
                </a:tc>
                <a:tc>
                  <a:txBody>
                    <a:bodyPr wrap="square"/>
                    <a:lstStyle/>
                    <a:p>
                      <a:r>
                        <a:rPr sz="1100" b="0" i="0">
                          <a:solidFill>
                            <a:srgbClr val="0B0B0B"/>
                          </a:solidFill>
                          <a:latin typeface="Arial"/>
                        </a:rPr>
                        <a:t>Chưa làm</a:t>
                      </a:r>
                    </a:p>
                  </a:txBody>
                  <a:tcPr marL="64008" marR="64008" marT="27432" marB="27432" anchor="ctr">
                    <a:solidFill>
                      <a:srgbClr val="F9F9F7"/>
                    </a:solidFill>
                  </a:tcPr>
                </a:tc>
                <a:tc>
                  <a:txBody>
                    <a:bodyPr wrap="square"/>
                    <a:lstStyle/>
                    <a:p>
                      <a:r>
                        <a:rPr sz="1100" b="0" i="0">
                          <a:solidFill>
                            <a:srgbClr val="D03B3B"/>
                          </a:solidFill>
                          <a:latin typeface="Arial"/>
                        </a:rPr>
                        <a:t>Chưa</a:t>
                      </a:r>
                    </a:p>
                  </a:txBody>
                  <a:tcPr marL="64008" marR="64008" marT="27432" marB="27432" anchor="ctr">
                    <a:solidFill>
                      <a:srgbClr val="F9F9F7"/>
                    </a:solidFill>
                  </a:tcPr>
                </a:tc>
              </a:tr>
              <a:tr h="393192">
                <a:tc>
                  <a:txBody>
                    <a:bodyPr wrap="square"/>
                    <a:lstStyle/>
                    <a:p>
                      <a:r>
                        <a:rPr sz="1100" b="0" i="0">
                          <a:solidFill>
                            <a:srgbClr val="0B0B0B"/>
                          </a:solidFill>
                          <a:latin typeface="Arial"/>
                        </a:rPr>
                        <a:t>Baseline LR, XGBoost, fastText, TinyBERT, DistilBERT</a:t>
                      </a:r>
                    </a:p>
                  </a:txBody>
                  <a:tcPr marL="64008" marR="64008" marT="27432" marB="27432" anchor="ctr">
                    <a:solidFill>
                      <a:srgbClr val="FFFFFF"/>
                    </a:solidFill>
                  </a:tcPr>
                </a:tc>
                <a:tc>
                  <a:txBody>
                    <a:bodyPr wrap="square"/>
                    <a:lstStyle/>
                    <a:p>
                      <a:r>
                        <a:rPr sz="1100" b="0" i="0">
                          <a:solidFill>
                            <a:srgbClr val="0B0B0B"/>
                          </a:solidFill>
                          <a:latin typeface="Arial"/>
                        </a:rPr>
                        <a:t>Có (Table 8)</a:t>
                      </a:r>
                    </a:p>
                  </a:txBody>
                  <a:tcPr marL="64008" marR="64008" marT="27432" marB="27432" anchor="ctr">
                    <a:solidFill>
                      <a:srgbClr val="FFFFFF"/>
                    </a:solidFill>
                  </a:tcPr>
                </a:tc>
                <a:tc>
                  <a:txBody>
                    <a:bodyPr wrap="square"/>
                    <a:lstStyle/>
                    <a:p>
                      <a:r>
                        <a:rPr sz="1100" b="0" i="0">
                          <a:solidFill>
                            <a:srgbClr val="0B0B0B"/>
                          </a:solidFill>
                          <a:latin typeface="Arial"/>
                        </a:rPr>
                        <a:t>Chưa làm</a:t>
                      </a:r>
                    </a:p>
                  </a:txBody>
                  <a:tcPr marL="64008" marR="64008" marT="27432" marB="27432" anchor="ctr">
                    <a:solidFill>
                      <a:srgbClr val="FFFFFF"/>
                    </a:solidFill>
                  </a:tcPr>
                </a:tc>
                <a:tc>
                  <a:txBody>
                    <a:bodyPr wrap="square"/>
                    <a:lstStyle/>
                    <a:p>
                      <a:r>
                        <a:rPr sz="1100" b="0" i="0">
                          <a:solidFill>
                            <a:srgbClr val="D03B3B"/>
                          </a:solidFill>
                          <a:latin typeface="Arial"/>
                        </a:rPr>
                        <a:t>Chưa</a:t>
                      </a:r>
                    </a:p>
                  </a:txBody>
                  <a:tcPr marL="64008" marR="64008" marT="27432" marB="27432"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2 · TÁI HIỆN</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Tái hiện: số liệu đo được</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7</a:t>
            </a:r>
          </a:p>
        </p:txBody>
      </p:sp>
      <p:sp>
        <p:nvSpPr>
          <p:cNvPr id="6" name="TextBox 5"/>
          <p:cNvSpPr txBox="1"/>
          <p:nvPr/>
        </p:nvSpPr>
        <p:spPr>
          <a:xfrm>
            <a:off x="548640" y="1325880"/>
            <a:ext cx="5486400" cy="365760"/>
          </a:xfrm>
          <a:prstGeom prst="rect">
            <a:avLst/>
          </a:prstGeom>
          <a:noFill/>
        </p:spPr>
        <p:txBody>
          <a:bodyPr wrap="square" anchor="t" lIns="45720" rIns="45720">
            <a:spAutoFit/>
          </a:bodyPr>
          <a:lstStyle/>
          <a:p>
            <a:pPr>
              <a:spcAft>
                <a:spcPts val="600"/>
              </a:spcAft>
            </a:pPr>
            <a:r>
              <a:rPr sz="1600" b="1" i="0">
                <a:solidFill>
                  <a:srgbClr val="0B0B0B"/>
                </a:solidFill>
                <a:latin typeface="Arial"/>
              </a:rPr>
              <a:t>Số tham số</a:t>
            </a:r>
          </a:p>
        </p:txBody>
      </p:sp>
      <p:graphicFrame>
        <p:nvGraphicFramePr>
          <p:cNvPr id="7" name="Table 6"/>
          <p:cNvGraphicFramePr>
            <a:graphicFrameLocks noGrp="1"/>
          </p:cNvGraphicFramePr>
          <p:nvPr/>
        </p:nvGraphicFramePr>
        <p:xfrm>
          <a:off x="548640" y="1737360"/>
          <a:ext cx="5394960" cy="2432304"/>
        </p:xfrm>
        <a:graphic>
          <a:graphicData uri="http://schemas.openxmlformats.org/drawingml/2006/table">
            <a:tbl>
              <a:tblPr firstRow="1" bandRow="1">
                <a:tableStyleId>{5C22544A-7EE6-4342-B048-85BDC9FD1C3A}</a:tableStyleId>
              </a:tblPr>
              <a:tblGrid>
                <a:gridCol w="2697480"/>
                <a:gridCol w="1348740"/>
                <a:gridCol w="1348740"/>
              </a:tblGrid>
              <a:tr h="347472">
                <a:tc>
                  <a:txBody>
                    <a:bodyPr wrap="square"/>
                    <a:lstStyle/>
                    <a:p>
                      <a:r>
                        <a:rPr sz="1200" b="1" i="0">
                          <a:solidFill>
                            <a:srgbClr val="0B0B0B"/>
                          </a:solidFill>
                          <a:latin typeface="Arial"/>
                        </a:rPr>
                        <a:t>Mô hình</a:t>
                      </a:r>
                    </a:p>
                  </a:txBody>
                  <a:tcPr marL="64008" marR="64008" marT="27432" marB="27432" anchor="ctr">
                    <a:solidFill>
                      <a:srgbClr val="CDE2FB"/>
                    </a:solidFill>
                  </a:tcPr>
                </a:tc>
                <a:tc>
                  <a:txBody>
                    <a:bodyPr wrap="square"/>
                    <a:lstStyle/>
                    <a:p>
                      <a:r>
                        <a:rPr sz="1200" b="1" i="0">
                          <a:solidFill>
                            <a:srgbClr val="0B0B0B"/>
                          </a:solidFill>
                          <a:latin typeface="Arial"/>
                        </a:rPr>
                        <a:t>Bài báo</a:t>
                      </a:r>
                    </a:p>
                  </a:txBody>
                  <a:tcPr marL="64008" marR="64008" marT="27432" marB="27432" anchor="ctr">
                    <a:solidFill>
                      <a:srgbClr val="CDE2FB"/>
                    </a:solidFill>
                  </a:tcPr>
                </a:tc>
                <a:tc>
                  <a:txBody>
                    <a:bodyPr wrap="square"/>
                    <a:lstStyle/>
                    <a:p>
                      <a:r>
                        <a:rPr sz="1200" b="1" i="0">
                          <a:solidFill>
                            <a:srgbClr val="0B0B0B"/>
                          </a:solidFill>
                          <a:latin typeface="Arial"/>
                        </a:rPr>
                        <a:t>Tái hiện</a:t>
                      </a:r>
                    </a:p>
                  </a:txBody>
                  <a:tcPr marL="64008" marR="64008" marT="27432" marB="27432" anchor="ctr">
                    <a:solidFill>
                      <a:srgbClr val="CDE2FB"/>
                    </a:solidFill>
                  </a:tcPr>
                </a:tc>
              </a:tr>
              <a:tr h="347472">
                <a:tc>
                  <a:txBody>
                    <a:bodyPr wrap="square"/>
                    <a:lstStyle/>
                    <a:p>
                      <a:r>
                        <a:rPr sz="1200" b="0" i="0">
                          <a:solidFill>
                            <a:srgbClr val="0B0B0B"/>
                          </a:solidFill>
                          <a:latin typeface="Arial"/>
                        </a:rPr>
                        <a:t>LSTM</a:t>
                      </a:r>
                    </a:p>
                  </a:txBody>
                  <a:tcPr marL="64008" marR="64008" marT="27432" marB="27432" anchor="ctr">
                    <a:solidFill>
                      <a:srgbClr val="FFFFFF"/>
                    </a:solidFill>
                  </a:tcPr>
                </a:tc>
                <a:tc>
                  <a:txBody>
                    <a:bodyPr wrap="square"/>
                    <a:lstStyle/>
                    <a:p>
                      <a:r>
                        <a:rPr sz="1200" b="0" i="0">
                          <a:solidFill>
                            <a:srgbClr val="0B0B0B"/>
                          </a:solidFill>
                          <a:latin typeface="Arial"/>
                        </a:rPr>
                        <a:t>16.961</a:t>
                      </a:r>
                    </a:p>
                  </a:txBody>
                  <a:tcPr marL="64008" marR="64008" marT="27432" marB="27432" anchor="ctr">
                    <a:solidFill>
                      <a:srgbClr val="FFFFFF"/>
                    </a:solidFill>
                  </a:tcPr>
                </a:tc>
                <a:tc>
                  <a:txBody>
                    <a:bodyPr wrap="square"/>
                    <a:lstStyle/>
                    <a:p>
                      <a:r>
                        <a:rPr sz="1200" b="0" i="0">
                          <a:solidFill>
                            <a:srgbClr val="0B0B0B"/>
                          </a:solidFill>
                          <a:latin typeface="Arial"/>
                        </a:rPr>
                        <a:t>17.185</a:t>
                      </a:r>
                    </a:p>
                  </a:txBody>
                  <a:tcPr marL="64008" marR="64008" marT="27432" marB="27432" anchor="ctr">
                    <a:solidFill>
                      <a:srgbClr val="FFFFFF"/>
                    </a:solidFill>
                  </a:tcPr>
                </a:tc>
              </a:tr>
              <a:tr h="347472">
                <a:tc>
                  <a:txBody>
                    <a:bodyPr wrap="square"/>
                    <a:lstStyle/>
                    <a:p>
                      <a:r>
                        <a:rPr sz="1200" b="0" i="0">
                          <a:solidFill>
                            <a:srgbClr val="0B0B0B"/>
                          </a:solidFill>
                          <a:latin typeface="Arial"/>
                        </a:rPr>
                        <a:t>BiLSTM</a:t>
                      </a:r>
                    </a:p>
                  </a:txBody>
                  <a:tcPr marL="64008" marR="64008" marT="27432" marB="27432" anchor="ctr">
                    <a:solidFill>
                      <a:srgbClr val="F9F9F7"/>
                    </a:solidFill>
                  </a:tcPr>
                </a:tc>
                <a:tc>
                  <a:txBody>
                    <a:bodyPr wrap="square"/>
                    <a:lstStyle/>
                    <a:p>
                      <a:r>
                        <a:rPr sz="1200" b="0" i="0">
                          <a:solidFill>
                            <a:srgbClr val="0B0B0B"/>
                          </a:solidFill>
                          <a:latin typeface="Arial"/>
                        </a:rPr>
                        <a:t>33.921</a:t>
                      </a:r>
                    </a:p>
                  </a:txBody>
                  <a:tcPr marL="64008" marR="64008" marT="27432" marB="27432" anchor="ctr">
                    <a:solidFill>
                      <a:srgbClr val="F9F9F7"/>
                    </a:solidFill>
                  </a:tcPr>
                </a:tc>
                <a:tc>
                  <a:txBody>
                    <a:bodyPr wrap="square"/>
                    <a:lstStyle/>
                    <a:p>
                      <a:r>
                        <a:rPr sz="1200" b="0" i="0">
                          <a:solidFill>
                            <a:srgbClr val="0B0B0B"/>
                          </a:solidFill>
                          <a:latin typeface="Arial"/>
                        </a:rPr>
                        <a:t>34.369</a:t>
                      </a:r>
                    </a:p>
                  </a:txBody>
                  <a:tcPr marL="64008" marR="64008" marT="27432" marB="27432" anchor="ctr">
                    <a:solidFill>
                      <a:srgbClr val="F9F9F7"/>
                    </a:solidFill>
                  </a:tcPr>
                </a:tc>
              </a:tr>
              <a:tr h="347472">
                <a:tc>
                  <a:txBody>
                    <a:bodyPr wrap="square"/>
                    <a:lstStyle/>
                    <a:p>
                      <a:r>
                        <a:rPr sz="1200" b="0" i="0">
                          <a:solidFill>
                            <a:srgbClr val="0B0B0B"/>
                          </a:solidFill>
                          <a:latin typeface="Arial"/>
                        </a:rPr>
                        <a:t>BiLSTM + single-head</a:t>
                      </a:r>
                    </a:p>
                  </a:txBody>
                  <a:tcPr marL="64008" marR="64008" marT="27432" marB="27432" anchor="ctr">
                    <a:solidFill>
                      <a:srgbClr val="FFFFFF"/>
                    </a:solidFill>
                  </a:tcPr>
                </a:tc>
                <a:tc>
                  <a:txBody>
                    <a:bodyPr wrap="square"/>
                    <a:lstStyle/>
                    <a:p>
                      <a:r>
                        <a:rPr sz="1200" b="0" i="0">
                          <a:solidFill>
                            <a:srgbClr val="0B0B0B"/>
                          </a:solidFill>
                          <a:latin typeface="Arial"/>
                        </a:rPr>
                        <a:t>66.561</a:t>
                      </a:r>
                    </a:p>
                  </a:txBody>
                  <a:tcPr marL="64008" marR="64008" marT="27432" marB="27432" anchor="ctr">
                    <a:solidFill>
                      <a:srgbClr val="FFFFFF"/>
                    </a:solidFill>
                  </a:tcPr>
                </a:tc>
                <a:tc>
                  <a:txBody>
                    <a:bodyPr wrap="square"/>
                    <a:lstStyle/>
                    <a:p>
                      <a:r>
                        <a:rPr sz="1200" b="0" i="0">
                          <a:solidFill>
                            <a:srgbClr val="0B0B0B"/>
                          </a:solidFill>
                          <a:latin typeface="Arial"/>
                        </a:rPr>
                        <a:t>151.169</a:t>
                      </a:r>
                    </a:p>
                  </a:txBody>
                  <a:tcPr marL="64008" marR="64008" marT="27432" marB="27432" anchor="ctr">
                    <a:solidFill>
                      <a:srgbClr val="FFFFFF"/>
                    </a:solidFill>
                  </a:tcPr>
                </a:tc>
              </a:tr>
              <a:tr h="347472">
                <a:tc>
                  <a:txBody>
                    <a:bodyPr wrap="square"/>
                    <a:lstStyle/>
                    <a:p>
                      <a:r>
                        <a:rPr sz="1200" b="0" i="0">
                          <a:solidFill>
                            <a:srgbClr val="0B0B0B"/>
                          </a:solidFill>
                          <a:latin typeface="Arial"/>
                        </a:rPr>
                        <a:t>BiLSTM + multi-head</a:t>
                      </a:r>
                    </a:p>
                  </a:txBody>
                  <a:tcPr marL="64008" marR="64008" marT="27432" marB="27432" anchor="ctr">
                    <a:solidFill>
                      <a:srgbClr val="F9F9F7"/>
                    </a:solidFill>
                  </a:tcPr>
                </a:tc>
                <a:tc>
                  <a:txBody>
                    <a:bodyPr wrap="square"/>
                    <a:lstStyle/>
                    <a:p>
                      <a:r>
                        <a:rPr sz="1200" b="0" i="0">
                          <a:solidFill>
                            <a:srgbClr val="0B0B0B"/>
                          </a:solidFill>
                          <a:latin typeface="Arial"/>
                        </a:rPr>
                        <a:t>494.977</a:t>
                      </a:r>
                    </a:p>
                  </a:txBody>
                  <a:tcPr marL="64008" marR="64008" marT="27432" marB="27432" anchor="ctr">
                    <a:solidFill>
                      <a:srgbClr val="F9F9F7"/>
                    </a:solidFill>
                  </a:tcPr>
                </a:tc>
                <a:tc>
                  <a:txBody>
                    <a:bodyPr wrap="square"/>
                    <a:lstStyle/>
                    <a:p>
                      <a:r>
                        <a:rPr sz="1200" b="0" i="0">
                          <a:solidFill>
                            <a:srgbClr val="0B0B0B"/>
                          </a:solidFill>
                          <a:latin typeface="Arial"/>
                        </a:rPr>
                        <a:t>217.089</a:t>
                      </a:r>
                    </a:p>
                  </a:txBody>
                  <a:tcPr marL="64008" marR="64008" marT="27432" marB="27432" anchor="ctr">
                    <a:solidFill>
                      <a:srgbClr val="F9F9F7"/>
                    </a:solidFill>
                  </a:tcPr>
                </a:tc>
              </a:tr>
              <a:tr h="347472">
                <a:tc>
                  <a:txBody>
                    <a:bodyPr wrap="square"/>
                    <a:lstStyle/>
                    <a:p>
                      <a:r>
                        <a:rPr sz="1200" b="0" i="0">
                          <a:solidFill>
                            <a:srgbClr val="0B0B0B"/>
                          </a:solidFill>
                          <a:latin typeface="Arial"/>
                        </a:rPr>
                        <a:t>MobileBERT (teacher)</a:t>
                      </a:r>
                    </a:p>
                  </a:txBody>
                  <a:tcPr marL="64008" marR="64008" marT="27432" marB="27432" anchor="ctr">
                    <a:solidFill>
                      <a:srgbClr val="FFFFFF"/>
                    </a:solidFill>
                  </a:tcPr>
                </a:tc>
                <a:tc>
                  <a:txBody>
                    <a:bodyPr wrap="square"/>
                    <a:lstStyle/>
                    <a:p>
                      <a:r>
                        <a:rPr sz="1200" b="0" i="0">
                          <a:solidFill>
                            <a:srgbClr val="0B0B0B"/>
                          </a:solidFill>
                          <a:latin typeface="Arial"/>
                        </a:rPr>
                        <a:t>25,3M</a:t>
                      </a:r>
                    </a:p>
                  </a:txBody>
                  <a:tcPr marL="64008" marR="64008" marT="27432" marB="27432" anchor="ctr">
                    <a:solidFill>
                      <a:srgbClr val="FFFFFF"/>
                    </a:solidFill>
                  </a:tcPr>
                </a:tc>
                <a:tc>
                  <a:txBody>
                    <a:bodyPr wrap="square"/>
                    <a:lstStyle/>
                    <a:p>
                      <a:r>
                        <a:rPr sz="1200" b="0" i="0">
                          <a:solidFill>
                            <a:srgbClr val="0B0B0B"/>
                          </a:solidFill>
                          <a:latin typeface="Arial"/>
                        </a:rPr>
                        <a:t>24,58M</a:t>
                      </a:r>
                    </a:p>
                  </a:txBody>
                  <a:tcPr marL="64008" marR="64008" marT="27432" marB="27432" anchor="ctr">
                    <a:solidFill>
                      <a:srgbClr val="FFFFFF"/>
                    </a:solidFill>
                  </a:tcPr>
                </a:tc>
              </a:tr>
              <a:tr h="347472">
                <a:tc>
                  <a:txBody>
                    <a:bodyPr wrap="square"/>
                    <a:lstStyle/>
                    <a:p>
                      <a:r>
                        <a:rPr sz="1200" b="0" i="0">
                          <a:solidFill>
                            <a:srgbClr val="0B0B0B"/>
                          </a:solidFill>
                          <a:latin typeface="Arial"/>
                        </a:rPr>
                        <a:t>KD-BiLSTM (student)</a:t>
                      </a:r>
                    </a:p>
                  </a:txBody>
                  <a:tcPr marL="64008" marR="64008" marT="27432" marB="27432" anchor="ctr">
                    <a:solidFill>
                      <a:srgbClr val="F9F9F7"/>
                    </a:solidFill>
                  </a:tcPr>
                </a:tc>
                <a:tc>
                  <a:txBody>
                    <a:bodyPr wrap="square"/>
                    <a:lstStyle/>
                    <a:p>
                      <a:r>
                        <a:rPr sz="1200" b="0" i="0">
                          <a:solidFill>
                            <a:srgbClr val="0B0B0B"/>
                          </a:solidFill>
                          <a:latin typeface="Arial"/>
                        </a:rPr>
                        <a:t>4,5M</a:t>
                      </a:r>
                    </a:p>
                  </a:txBody>
                  <a:tcPr marL="64008" marR="64008" marT="27432" marB="27432" anchor="ctr">
                    <a:solidFill>
                      <a:srgbClr val="F9F9F7"/>
                    </a:solidFill>
                  </a:tcPr>
                </a:tc>
                <a:tc>
                  <a:txBody>
                    <a:bodyPr wrap="square"/>
                    <a:lstStyle/>
                    <a:p>
                      <a:r>
                        <a:rPr sz="1200" b="0" i="0">
                          <a:solidFill>
                            <a:srgbClr val="0B0B0B"/>
                          </a:solidFill>
                          <a:latin typeface="Arial"/>
                        </a:rPr>
                        <a:t>4,44M</a:t>
                      </a:r>
                    </a:p>
                  </a:txBody>
                  <a:tcPr marL="64008" marR="64008" marT="27432" marB="27432" anchor="ctr">
                    <a:solidFill>
                      <a:srgbClr val="F9F9F7"/>
                    </a:solidFill>
                  </a:tcPr>
                </a:tc>
              </a:tr>
            </a:tbl>
          </a:graphicData>
        </a:graphic>
      </p:graphicFrame>
      <p:sp>
        <p:nvSpPr>
          <p:cNvPr id="8" name="TextBox 7"/>
          <p:cNvSpPr txBox="1"/>
          <p:nvPr/>
        </p:nvSpPr>
        <p:spPr>
          <a:xfrm>
            <a:off x="6309360" y="1325880"/>
            <a:ext cx="5486400" cy="365760"/>
          </a:xfrm>
          <a:prstGeom prst="rect">
            <a:avLst/>
          </a:prstGeom>
          <a:noFill/>
        </p:spPr>
        <p:txBody>
          <a:bodyPr wrap="square" anchor="t" lIns="45720" rIns="45720">
            <a:spAutoFit/>
          </a:bodyPr>
          <a:lstStyle/>
          <a:p>
            <a:pPr>
              <a:spcAft>
                <a:spcPts val="600"/>
              </a:spcAft>
            </a:pPr>
            <a:r>
              <a:rPr sz="1600" b="1" i="0">
                <a:solidFill>
                  <a:srgbClr val="0B0B0B"/>
                </a:solidFill>
                <a:latin typeface="Arial"/>
              </a:rPr>
              <a:t>F1 kịch bản Orig→Gen (người viết → LLM)</a:t>
            </a:r>
          </a:p>
        </p:txBody>
      </p:sp>
      <p:graphicFrame>
        <p:nvGraphicFramePr>
          <p:cNvPr id="9" name="Table 8"/>
          <p:cNvGraphicFramePr>
            <a:graphicFrameLocks noGrp="1"/>
          </p:cNvGraphicFramePr>
          <p:nvPr/>
        </p:nvGraphicFramePr>
        <p:xfrm>
          <a:off x="6309360" y="1737360"/>
          <a:ext cx="5394960" cy="2432304"/>
        </p:xfrm>
        <a:graphic>
          <a:graphicData uri="http://schemas.openxmlformats.org/drawingml/2006/table">
            <a:tbl>
              <a:tblPr firstRow="1" bandRow="1">
                <a:tableStyleId>{5C22544A-7EE6-4342-B048-85BDC9FD1C3A}</a:tableStyleId>
              </a:tblPr>
              <a:tblGrid>
                <a:gridCol w="2697480"/>
                <a:gridCol w="1348740"/>
                <a:gridCol w="1348740"/>
              </a:tblGrid>
              <a:tr h="347472">
                <a:tc>
                  <a:txBody>
                    <a:bodyPr wrap="square"/>
                    <a:lstStyle/>
                    <a:p>
                      <a:r>
                        <a:rPr sz="1200" b="1" i="0">
                          <a:solidFill>
                            <a:srgbClr val="0B0B0B"/>
                          </a:solidFill>
                          <a:latin typeface="Arial"/>
                        </a:rPr>
                        <a:t>Mô hình</a:t>
                      </a:r>
                    </a:p>
                  </a:txBody>
                  <a:tcPr marL="64008" marR="64008" marT="27432" marB="27432" anchor="ctr">
                    <a:solidFill>
                      <a:srgbClr val="CDE2FB"/>
                    </a:solidFill>
                  </a:tcPr>
                </a:tc>
                <a:tc>
                  <a:txBody>
                    <a:bodyPr wrap="square"/>
                    <a:lstStyle/>
                    <a:p>
                      <a:r>
                        <a:rPr sz="1200" b="1" i="0">
                          <a:solidFill>
                            <a:srgbClr val="0B0B0B"/>
                          </a:solidFill>
                          <a:latin typeface="Arial"/>
                        </a:rPr>
                        <a:t>Bài báo</a:t>
                      </a:r>
                    </a:p>
                  </a:txBody>
                  <a:tcPr marL="64008" marR="64008" marT="27432" marB="27432" anchor="ctr">
                    <a:solidFill>
                      <a:srgbClr val="CDE2FB"/>
                    </a:solidFill>
                  </a:tcPr>
                </a:tc>
                <a:tc>
                  <a:txBody>
                    <a:bodyPr wrap="square"/>
                    <a:lstStyle/>
                    <a:p>
                      <a:r>
                        <a:rPr sz="1200" b="1" i="0">
                          <a:solidFill>
                            <a:srgbClr val="0B0B0B"/>
                          </a:solidFill>
                          <a:latin typeface="Arial"/>
                        </a:rPr>
                        <a:t>Tái hiện*</a:t>
                      </a:r>
                    </a:p>
                  </a:txBody>
                  <a:tcPr marL="64008" marR="64008" marT="27432" marB="27432" anchor="ctr">
                    <a:solidFill>
                      <a:srgbClr val="CDE2FB"/>
                    </a:solidFill>
                  </a:tcPr>
                </a:tc>
              </a:tr>
              <a:tr h="347472">
                <a:tc>
                  <a:txBody>
                    <a:bodyPr wrap="square"/>
                    <a:lstStyle/>
                    <a:p>
                      <a:r>
                        <a:rPr sz="1200" b="0" i="0">
                          <a:solidFill>
                            <a:srgbClr val="0B0B0B"/>
                          </a:solidFill>
                          <a:latin typeface="Arial"/>
                        </a:rPr>
                        <a:t>LSTM</a:t>
                      </a:r>
                    </a:p>
                  </a:txBody>
                  <a:tcPr marL="64008" marR="64008" marT="27432" marB="27432" anchor="ctr">
                    <a:solidFill>
                      <a:srgbClr val="FFFFFF"/>
                    </a:solidFill>
                  </a:tcPr>
                </a:tc>
                <a:tc>
                  <a:txBody>
                    <a:bodyPr wrap="square"/>
                    <a:lstStyle/>
                    <a:p>
                      <a:r>
                        <a:rPr sz="1200" b="0" i="0">
                          <a:solidFill>
                            <a:srgbClr val="0B0B0B"/>
                          </a:solidFill>
                          <a:latin typeface="Arial"/>
                        </a:rPr>
                        <a:t>82,17</a:t>
                      </a:r>
                    </a:p>
                  </a:txBody>
                  <a:tcPr marL="64008" marR="64008" marT="27432" marB="27432" anchor="ctr">
                    <a:solidFill>
                      <a:srgbClr val="FFFFFF"/>
                    </a:solidFill>
                  </a:tcPr>
                </a:tc>
                <a:tc>
                  <a:txBody>
                    <a:bodyPr wrap="square"/>
                    <a:lstStyle/>
                    <a:p>
                      <a:r>
                        <a:rPr sz="1200" b="0" i="0">
                          <a:solidFill>
                            <a:srgbClr val="0B0B0B"/>
                          </a:solidFill>
                          <a:latin typeface="Arial"/>
                        </a:rPr>
                        <a:t>81,75</a:t>
                      </a:r>
                    </a:p>
                  </a:txBody>
                  <a:tcPr marL="64008" marR="64008" marT="27432" marB="27432" anchor="ctr">
                    <a:solidFill>
                      <a:srgbClr val="FFFFFF"/>
                    </a:solidFill>
                  </a:tcPr>
                </a:tc>
              </a:tr>
              <a:tr h="347472">
                <a:tc>
                  <a:txBody>
                    <a:bodyPr wrap="square"/>
                    <a:lstStyle/>
                    <a:p>
                      <a:r>
                        <a:rPr sz="1200" b="0" i="0">
                          <a:solidFill>
                            <a:srgbClr val="0B0B0B"/>
                          </a:solidFill>
                          <a:latin typeface="Arial"/>
                        </a:rPr>
                        <a:t>BiLSTM</a:t>
                      </a:r>
                    </a:p>
                  </a:txBody>
                  <a:tcPr marL="64008" marR="64008" marT="27432" marB="27432" anchor="ctr">
                    <a:solidFill>
                      <a:srgbClr val="F9F9F7"/>
                    </a:solidFill>
                  </a:tcPr>
                </a:tc>
                <a:tc>
                  <a:txBody>
                    <a:bodyPr wrap="square"/>
                    <a:lstStyle/>
                    <a:p>
                      <a:r>
                        <a:rPr sz="1200" b="0" i="0">
                          <a:solidFill>
                            <a:srgbClr val="0B0B0B"/>
                          </a:solidFill>
                          <a:latin typeface="Arial"/>
                        </a:rPr>
                        <a:t>79,93</a:t>
                      </a:r>
                    </a:p>
                  </a:txBody>
                  <a:tcPr marL="64008" marR="64008" marT="27432" marB="27432" anchor="ctr">
                    <a:solidFill>
                      <a:srgbClr val="F9F9F7"/>
                    </a:solidFill>
                  </a:tcPr>
                </a:tc>
                <a:tc>
                  <a:txBody>
                    <a:bodyPr wrap="square"/>
                    <a:lstStyle/>
                    <a:p>
                      <a:r>
                        <a:rPr sz="1200" b="0" i="0">
                          <a:solidFill>
                            <a:srgbClr val="0B0B0B"/>
                          </a:solidFill>
                          <a:latin typeface="Arial"/>
                        </a:rPr>
                        <a:t>88,81</a:t>
                      </a:r>
                    </a:p>
                  </a:txBody>
                  <a:tcPr marL="64008" marR="64008" marT="27432" marB="27432" anchor="ctr">
                    <a:solidFill>
                      <a:srgbClr val="F9F9F7"/>
                    </a:solidFill>
                  </a:tcPr>
                </a:tc>
              </a:tr>
              <a:tr h="347472">
                <a:tc>
                  <a:txBody>
                    <a:bodyPr wrap="square"/>
                    <a:lstStyle/>
                    <a:p>
                      <a:r>
                        <a:rPr sz="1200" b="0" i="0">
                          <a:solidFill>
                            <a:srgbClr val="0B0B0B"/>
                          </a:solidFill>
                          <a:latin typeface="Arial"/>
                        </a:rPr>
                        <a:t>BiLSTM + single-head</a:t>
                      </a:r>
                    </a:p>
                  </a:txBody>
                  <a:tcPr marL="64008" marR="64008" marT="27432" marB="27432" anchor="ctr">
                    <a:solidFill>
                      <a:srgbClr val="FFFFFF"/>
                    </a:solidFill>
                  </a:tcPr>
                </a:tc>
                <a:tc>
                  <a:txBody>
                    <a:bodyPr wrap="square"/>
                    <a:lstStyle/>
                    <a:p>
                      <a:r>
                        <a:rPr sz="1200" b="0" i="0">
                          <a:solidFill>
                            <a:srgbClr val="0B0B0B"/>
                          </a:solidFill>
                          <a:latin typeface="Arial"/>
                        </a:rPr>
                        <a:t>85,03</a:t>
                      </a:r>
                    </a:p>
                  </a:txBody>
                  <a:tcPr marL="64008" marR="64008" marT="27432" marB="27432" anchor="ctr">
                    <a:solidFill>
                      <a:srgbClr val="FFFFFF"/>
                    </a:solidFill>
                  </a:tcPr>
                </a:tc>
                <a:tc>
                  <a:txBody>
                    <a:bodyPr wrap="square"/>
                    <a:lstStyle/>
                    <a:p>
                      <a:r>
                        <a:rPr sz="1200" b="0" i="0">
                          <a:solidFill>
                            <a:srgbClr val="0B0B0B"/>
                          </a:solidFill>
                          <a:latin typeface="Arial"/>
                        </a:rPr>
                        <a:t>80,04</a:t>
                      </a:r>
                    </a:p>
                  </a:txBody>
                  <a:tcPr marL="64008" marR="64008" marT="27432" marB="27432" anchor="ctr">
                    <a:solidFill>
                      <a:srgbClr val="FFFFFF"/>
                    </a:solidFill>
                  </a:tcPr>
                </a:tc>
              </a:tr>
              <a:tr h="347472">
                <a:tc>
                  <a:txBody>
                    <a:bodyPr wrap="square"/>
                    <a:lstStyle/>
                    <a:p>
                      <a:r>
                        <a:rPr sz="1200" b="0" i="0">
                          <a:solidFill>
                            <a:srgbClr val="0B0B0B"/>
                          </a:solidFill>
                          <a:latin typeface="Arial"/>
                        </a:rPr>
                        <a:t>BiLSTM + multi-head</a:t>
                      </a:r>
                    </a:p>
                  </a:txBody>
                  <a:tcPr marL="64008" marR="64008" marT="27432" marB="27432" anchor="ctr">
                    <a:solidFill>
                      <a:srgbClr val="F9F9F7"/>
                    </a:solidFill>
                  </a:tcPr>
                </a:tc>
                <a:tc>
                  <a:txBody>
                    <a:bodyPr wrap="square"/>
                    <a:lstStyle/>
                    <a:p>
                      <a:r>
                        <a:rPr sz="1200" b="0" i="0">
                          <a:solidFill>
                            <a:srgbClr val="0B0B0B"/>
                          </a:solidFill>
                          <a:latin typeface="Arial"/>
                        </a:rPr>
                        <a:t>92,40</a:t>
                      </a:r>
                    </a:p>
                  </a:txBody>
                  <a:tcPr marL="64008" marR="64008" marT="27432" marB="27432" anchor="ctr">
                    <a:solidFill>
                      <a:srgbClr val="F9F9F7"/>
                    </a:solidFill>
                  </a:tcPr>
                </a:tc>
                <a:tc>
                  <a:txBody>
                    <a:bodyPr wrap="square"/>
                    <a:lstStyle/>
                    <a:p>
                      <a:r>
                        <a:rPr sz="1200" b="0" i="0">
                          <a:solidFill>
                            <a:srgbClr val="0B0B0B"/>
                          </a:solidFill>
                          <a:latin typeface="Arial"/>
                        </a:rPr>
                        <a:t>90,90</a:t>
                      </a:r>
                    </a:p>
                  </a:txBody>
                  <a:tcPr marL="64008" marR="64008" marT="27432" marB="27432" anchor="ctr">
                    <a:solidFill>
                      <a:srgbClr val="F9F9F7"/>
                    </a:solidFill>
                  </a:tcPr>
                </a:tc>
              </a:tr>
              <a:tr h="347472">
                <a:tc>
                  <a:txBody>
                    <a:bodyPr wrap="square"/>
                    <a:lstStyle/>
                    <a:p>
                      <a:r>
                        <a:rPr sz="1200" b="0" i="0">
                          <a:solidFill>
                            <a:srgbClr val="0B0B0B"/>
                          </a:solidFill>
                          <a:latin typeface="Arial"/>
                        </a:rPr>
                        <a:t>MobileBERT (teacher)</a:t>
                      </a:r>
                    </a:p>
                  </a:txBody>
                  <a:tcPr marL="64008" marR="64008" marT="27432" marB="27432" anchor="ctr">
                    <a:solidFill>
                      <a:srgbClr val="FFFFFF"/>
                    </a:solidFill>
                  </a:tcPr>
                </a:tc>
                <a:tc>
                  <a:txBody>
                    <a:bodyPr wrap="square"/>
                    <a:lstStyle/>
                    <a:p>
                      <a:r>
                        <a:rPr sz="1200" b="0" i="0">
                          <a:solidFill>
                            <a:srgbClr val="0B0B0B"/>
                          </a:solidFill>
                          <a:latin typeface="Arial"/>
                        </a:rPr>
                        <a:t>91,80</a:t>
                      </a:r>
                    </a:p>
                  </a:txBody>
                  <a:tcPr marL="64008" marR="64008" marT="27432" marB="27432" anchor="ctr">
                    <a:solidFill>
                      <a:srgbClr val="FFFFFF"/>
                    </a:solidFill>
                  </a:tcPr>
                </a:tc>
                <a:tc>
                  <a:txBody>
                    <a:bodyPr wrap="square"/>
                    <a:lstStyle/>
                    <a:p>
                      <a:r>
                        <a:rPr sz="1200" b="0" i="0">
                          <a:solidFill>
                            <a:srgbClr val="0B0B0B"/>
                          </a:solidFill>
                          <a:latin typeface="Arial"/>
                        </a:rPr>
                        <a:t>51,66</a:t>
                      </a:r>
                    </a:p>
                  </a:txBody>
                  <a:tcPr marL="64008" marR="64008" marT="27432" marB="27432" anchor="ctr">
                    <a:solidFill>
                      <a:srgbClr val="FFFFFF"/>
                    </a:solidFill>
                  </a:tcPr>
                </a:tc>
              </a:tr>
              <a:tr h="347472">
                <a:tc>
                  <a:txBody>
                    <a:bodyPr wrap="square"/>
                    <a:lstStyle/>
                    <a:p>
                      <a:r>
                        <a:rPr sz="1200" b="0" i="0">
                          <a:solidFill>
                            <a:srgbClr val="0B0B0B"/>
                          </a:solidFill>
                          <a:latin typeface="Arial"/>
                        </a:rPr>
                        <a:t>KD-BiLSTM</a:t>
                      </a:r>
                    </a:p>
                  </a:txBody>
                  <a:tcPr marL="64008" marR="64008" marT="27432" marB="27432" anchor="ctr">
                    <a:solidFill>
                      <a:srgbClr val="F9F9F7"/>
                    </a:solidFill>
                  </a:tcPr>
                </a:tc>
                <a:tc>
                  <a:txBody>
                    <a:bodyPr wrap="square"/>
                    <a:lstStyle/>
                    <a:p>
                      <a:r>
                        <a:rPr sz="1200" b="0" i="0">
                          <a:solidFill>
                            <a:srgbClr val="0B0B0B"/>
                          </a:solidFill>
                          <a:latin typeface="Arial"/>
                        </a:rPr>
                        <a:t>89,60</a:t>
                      </a:r>
                    </a:p>
                  </a:txBody>
                  <a:tcPr marL="64008" marR="64008" marT="27432" marB="27432" anchor="ctr">
                    <a:solidFill>
                      <a:srgbClr val="F9F9F7"/>
                    </a:solidFill>
                  </a:tcPr>
                </a:tc>
                <a:tc>
                  <a:txBody>
                    <a:bodyPr wrap="square"/>
                    <a:lstStyle/>
                    <a:p>
                      <a:r>
                        <a:rPr sz="1200" b="0" i="0">
                          <a:solidFill>
                            <a:srgbClr val="0B0B0B"/>
                          </a:solidFill>
                          <a:latin typeface="Arial"/>
                        </a:rPr>
                        <a:t>92,55</a:t>
                      </a:r>
                    </a:p>
                  </a:txBody>
                  <a:tcPr marL="64008" marR="64008" marT="27432" marB="27432" anchor="ctr">
                    <a:solidFill>
                      <a:srgbClr val="F9F9F7"/>
                    </a:solidFill>
                  </a:tcPr>
                </a:tc>
              </a:tr>
            </a:tbl>
          </a:graphicData>
        </a:graphic>
      </p:graphicFrame>
      <p:sp>
        <p:nvSpPr>
          <p:cNvPr id="10" name="Rounded Rectangle 9"/>
          <p:cNvSpPr/>
          <p:nvPr/>
        </p:nvSpPr>
        <p:spPr>
          <a:xfrm>
            <a:off x="548640" y="4434840"/>
            <a:ext cx="5394960" cy="160020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544568"/>
            <a:ext cx="5120640" cy="1417320"/>
          </a:xfrm>
          <a:prstGeom prst="rect">
            <a:avLst/>
          </a:prstGeom>
          <a:noFill/>
        </p:spPr>
        <p:txBody>
          <a:bodyPr wrap="square" anchor="t" lIns="45720" rIns="45720">
            <a:spAutoFit/>
          </a:bodyPr>
          <a:lstStyle/>
          <a:p>
            <a:pPr>
              <a:spcAft>
                <a:spcPts val="400"/>
              </a:spcAft>
            </a:pPr>
            <a:r>
              <a:rPr sz="1500" b="1" i="0">
                <a:solidFill>
                  <a:srgbClr val="0B0B0B"/>
                </a:solidFill>
                <a:latin typeface="Arial"/>
              </a:rPr>
              <a:t>Tốc độ suy luận: student vs teacher</a:t>
            </a:r>
          </a:p>
          <a:p>
            <a:pPr>
              <a:spcAft>
                <a:spcPts val="600"/>
              </a:spcAft>
            </a:pPr>
            <a:r>
              <a:rPr sz="1300" b="0" i="0">
                <a:solidFill>
                  <a:srgbClr val="52514E"/>
                </a:solidFill>
                <a:latin typeface="Arial"/>
              </a:rPr>
              <a:t>Bài báo: 6,06 s so với 42 s (≈ 7× nhanh hơn, GPU)
Tái hiện: 0,35 s so với 11,83 s (≈ 34× nhanh hơn, CPU)</a:t>
            </a:r>
          </a:p>
        </p:txBody>
      </p:sp>
      <p:sp>
        <p:nvSpPr>
          <p:cNvPr id="12" name="Rounded Rectangle 11"/>
          <p:cNvSpPr/>
          <p:nvPr/>
        </p:nvSpPr>
        <p:spPr>
          <a:xfrm>
            <a:off x="6309360" y="4434840"/>
            <a:ext cx="5394960" cy="160020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4544568"/>
            <a:ext cx="5120640" cy="1417320"/>
          </a:xfrm>
          <a:prstGeom prst="rect">
            <a:avLst/>
          </a:prstGeom>
          <a:noFill/>
        </p:spPr>
        <p:txBody>
          <a:bodyPr wrap="square" anchor="t" lIns="45720" rIns="45720">
            <a:spAutoFit/>
          </a:bodyPr>
          <a:lstStyle/>
          <a:p>
            <a:pPr>
              <a:spcAft>
                <a:spcPts val="400"/>
              </a:spcAft>
            </a:pPr>
            <a:r>
              <a:rPr sz="1500" b="1" i="0">
                <a:solidFill>
                  <a:srgbClr val="0B0B0B"/>
                </a:solidFill>
                <a:latin typeface="Arial"/>
              </a:rPr>
              <a:t>* Đọc số liệu thế nào</a:t>
            </a:r>
          </a:p>
          <a:p>
            <a:pPr>
              <a:spcAft>
                <a:spcPts val="600"/>
              </a:spcAft>
            </a:pPr>
            <a:r>
              <a:rPr sz="1300" b="0" i="0">
                <a:solidFill>
                  <a:srgbClr val="52514E"/>
                </a:solidFill>
                <a:latin typeface="Arial"/>
              </a:rPr>
              <a:t>Dữ liệu toy, 1 fold → chỉ để kiểm tra pipeline. Xu hướng khớp bài báo: chéo phân phối làm giảm điểm, multi-head và KD giúp tổng quát hóa tốt hơn.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2 · TÁI HIỆN</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Vấn đề gặp phải khi tái hiện &amp; cách khắc phục</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8</a:t>
            </a:r>
          </a:p>
        </p:txBody>
      </p:sp>
      <p:graphicFrame>
        <p:nvGraphicFramePr>
          <p:cNvPr id="6" name="Table 5"/>
          <p:cNvGraphicFramePr>
            <a:graphicFrameLocks noGrp="1"/>
          </p:cNvGraphicFramePr>
          <p:nvPr/>
        </p:nvGraphicFramePr>
        <p:xfrm>
          <a:off x="548640" y="1371600"/>
          <a:ext cx="11155678" cy="3429000"/>
        </p:xfrm>
        <a:graphic>
          <a:graphicData uri="http://schemas.openxmlformats.org/drawingml/2006/table">
            <a:tbl>
              <a:tblPr firstRow="1" bandRow="1">
                <a:tableStyleId>{5C22544A-7EE6-4342-B048-85BDC9FD1C3A}</a:tableStyleId>
              </a:tblPr>
              <a:tblGrid>
                <a:gridCol w="3077428"/>
                <a:gridCol w="4039125"/>
                <a:gridCol w="4039125"/>
              </a:tblGrid>
              <a:tr h="685800">
                <a:tc>
                  <a:txBody>
                    <a:bodyPr wrap="square"/>
                    <a:lstStyle/>
                    <a:p>
                      <a:r>
                        <a:rPr sz="1300" b="1" i="0">
                          <a:solidFill>
                            <a:srgbClr val="0B0B0B"/>
                          </a:solidFill>
                          <a:latin typeface="Arial"/>
                        </a:rPr>
                        <a:t>Hiện tượng</a:t>
                      </a:r>
                    </a:p>
                  </a:txBody>
                  <a:tcPr marL="64008" marR="64008" marT="27432" marB="27432" anchor="ctr">
                    <a:solidFill>
                      <a:srgbClr val="CDE2FB"/>
                    </a:solidFill>
                  </a:tcPr>
                </a:tc>
                <a:tc>
                  <a:txBody>
                    <a:bodyPr wrap="square"/>
                    <a:lstStyle/>
                    <a:p>
                      <a:r>
                        <a:rPr sz="1300" b="1" i="0">
                          <a:solidFill>
                            <a:srgbClr val="0B0B0B"/>
                          </a:solidFill>
                          <a:latin typeface="Arial"/>
                        </a:rPr>
                        <a:t>Nguyên nhân</a:t>
                      </a:r>
                    </a:p>
                  </a:txBody>
                  <a:tcPr marL="64008" marR="64008" marT="27432" marB="27432" anchor="ctr">
                    <a:solidFill>
                      <a:srgbClr val="CDE2FB"/>
                    </a:solidFill>
                  </a:tcPr>
                </a:tc>
                <a:tc>
                  <a:txBody>
                    <a:bodyPr wrap="square"/>
                    <a:lstStyle/>
                    <a:p>
                      <a:r>
                        <a:rPr sz="1300" b="1" i="0">
                          <a:solidFill>
                            <a:srgbClr val="0B0B0B"/>
                          </a:solidFill>
                          <a:latin typeface="Arial"/>
                        </a:rPr>
                        <a:t>Khắc phục</a:t>
                      </a:r>
                    </a:p>
                  </a:txBody>
                  <a:tcPr marL="64008" marR="64008" marT="27432" marB="27432" anchor="ctr">
                    <a:solidFill>
                      <a:srgbClr val="CDE2FB"/>
                    </a:solidFill>
                  </a:tcPr>
                </a:tc>
              </a:tr>
              <a:tr h="685800">
                <a:tc>
                  <a:txBody>
                    <a:bodyPr wrap="square"/>
                    <a:lstStyle/>
                    <a:p>
                      <a:r>
                        <a:rPr sz="1300" b="0" i="0">
                          <a:solidFill>
                            <a:srgbClr val="0B0B0B"/>
                          </a:solidFill>
                          <a:latin typeface="Arial"/>
                        </a:rPr>
                        <a:t>Teacher MobileBERT bị sụp (luôn đoán 1 lớp)</a:t>
                      </a:r>
                    </a:p>
                  </a:txBody>
                  <a:tcPr marL="64008" marR="64008" marT="27432" marB="27432" anchor="ctr">
                    <a:solidFill>
                      <a:srgbClr val="FFFFFF"/>
                    </a:solidFill>
                  </a:tcPr>
                </a:tc>
                <a:tc>
                  <a:txBody>
                    <a:bodyPr wrap="square"/>
                    <a:lstStyle/>
                    <a:p>
                      <a:r>
                        <a:rPr sz="1300" b="0" i="0">
                          <a:solidFill>
                            <a:srgbClr val="0B0B0B"/>
                          </a:solidFill>
                          <a:latin typeface="Arial"/>
                        </a:rPr>
                        <a:t>Pooler lấy thẳng [CLS] chưa qua tanh → loss ban đầu ~10⁷</a:t>
                      </a:r>
                    </a:p>
                  </a:txBody>
                  <a:tcPr marL="64008" marR="64008" marT="27432" marB="27432" anchor="ctr">
                    <a:solidFill>
                      <a:srgbClr val="FFFFFF"/>
                    </a:solidFill>
                  </a:tcPr>
                </a:tc>
                <a:tc>
                  <a:txBody>
                    <a:bodyPr wrap="square"/>
                    <a:lstStyle/>
                    <a:p>
                      <a:r>
                        <a:rPr sz="1300" b="0" i="0">
                          <a:solidFill>
                            <a:srgbClr val="0B0B0B"/>
                          </a:solidFill>
                          <a:latin typeface="Arial"/>
                        </a:rPr>
                        <a:t>Gradient clipping (max_grad_norm = 1) + số bước tối thiểu 120</a:t>
                      </a:r>
                    </a:p>
                  </a:txBody>
                  <a:tcPr marL="64008" marR="64008" marT="27432" marB="27432" anchor="ctr">
                    <a:solidFill>
                      <a:srgbClr val="FFFFFF"/>
                    </a:solidFill>
                  </a:tcPr>
                </a:tc>
              </a:tr>
              <a:tr h="685800">
                <a:tc>
                  <a:txBody>
                    <a:bodyPr wrap="square"/>
                    <a:lstStyle/>
                    <a:p>
                      <a:r>
                        <a:rPr sz="1300" b="0" i="0">
                          <a:solidFill>
                            <a:srgbClr val="0B0B0B"/>
                          </a:solidFill>
                          <a:latin typeface="Arial"/>
                        </a:rPr>
                        <a:t>Mô hình văn bản 'học đường tắt' theo tên miền</a:t>
                      </a:r>
                    </a:p>
                  </a:txBody>
                  <a:tcPr marL="64008" marR="64008" marT="27432" marB="27432" anchor="ctr">
                    <a:solidFill>
                      <a:srgbClr val="F9F9F7"/>
                    </a:solidFill>
                  </a:tcPr>
                </a:tc>
                <a:tc>
                  <a:txBody>
                    <a:bodyPr wrap="square"/>
                    <a:lstStyle/>
                    <a:p>
                      <a:r>
                        <a:rPr sz="1300" b="0" i="0">
                          <a:solidFill>
                            <a:srgbClr val="0B0B0B"/>
                          </a:solidFill>
                          <a:latin typeface="Arial"/>
                        </a:rPr>
                        <a:t>Dữ liệu tổng hợp: chỉ email lừa đảo mới chứa URL → báo nhầm email thật có link</a:t>
                      </a:r>
                    </a:p>
                  </a:txBody>
                  <a:tcPr marL="64008" marR="64008" marT="27432" marB="27432" anchor="ctr">
                    <a:solidFill>
                      <a:srgbClr val="F9F9F7"/>
                    </a:solidFill>
                  </a:tcPr>
                </a:tc>
                <a:tc>
                  <a:txBody>
                    <a:bodyPr wrap="square"/>
                    <a:lstStyle/>
                    <a:p>
                      <a:r>
                        <a:rPr sz="1300" b="0" i="0">
                          <a:solidFill>
                            <a:srgbClr val="0B0B0B"/>
                          </a:solidFill>
                          <a:latin typeface="Arial"/>
                        </a:rPr>
                        <a:t>Che URL/địa chỉ email trước mô hình văn bản + bổ sung email hợp lệ 'khó'</a:t>
                      </a:r>
                    </a:p>
                  </a:txBody>
                  <a:tcPr marL="64008" marR="64008" marT="27432" marB="27432" anchor="ctr">
                    <a:solidFill>
                      <a:srgbClr val="F9F9F7"/>
                    </a:solidFill>
                  </a:tcPr>
                </a:tc>
              </a:tr>
              <a:tr h="685800">
                <a:tc>
                  <a:txBody>
                    <a:bodyPr wrap="square"/>
                    <a:lstStyle/>
                    <a:p>
                      <a:r>
                        <a:rPr sz="1300" b="0" i="0">
                          <a:solidFill>
                            <a:srgbClr val="0B0B0B"/>
                          </a:solidFill>
                          <a:latin typeface="Arial"/>
                        </a:rPr>
                        <a:t>Giải thích attention ra từ mất dấu ('khoan', 'đinh')</a:t>
                      </a:r>
                    </a:p>
                  </a:txBody>
                  <a:tcPr marL="64008" marR="64008" marT="27432" marB="27432" anchor="ctr">
                    <a:solidFill>
                      <a:srgbClr val="FFFFFF"/>
                    </a:solidFill>
                  </a:tcPr>
                </a:tc>
                <a:tc>
                  <a:txBody>
                    <a:bodyPr wrap="square"/>
                    <a:lstStyle/>
                    <a:p>
                      <a:r>
                        <a:rPr sz="1300" b="0" i="0">
                          <a:solidFill>
                            <a:srgbClr val="0B0B0B"/>
                          </a:solidFill>
                          <a:latin typeface="Arial"/>
                        </a:rPr>
                        <a:t>Tokenizer MobileBERT uncased xóa dấu tiếng Việt</a:t>
                      </a:r>
                    </a:p>
                  </a:txBody>
                  <a:tcPr marL="64008" marR="64008" marT="27432" marB="27432" anchor="ctr">
                    <a:solidFill>
                      <a:srgbClr val="FFFFFF"/>
                    </a:solidFill>
                  </a:tcPr>
                </a:tc>
                <a:tc>
                  <a:txBody>
                    <a:bodyPr wrap="square"/>
                    <a:lstStyle/>
                    <a:p>
                      <a:r>
                        <a:rPr sz="1300" b="0" i="0">
                          <a:solidFill>
                            <a:srgbClr val="0B0B0B"/>
                          </a:solidFill>
                          <a:latin typeface="Arial"/>
                        </a:rPr>
                        <a:t>Ánh xạ attention về chữ gốc qua offset mapping</a:t>
                      </a:r>
                    </a:p>
                  </a:txBody>
                  <a:tcPr marL="64008" marR="64008" marT="27432" marB="27432" anchor="ctr">
                    <a:solidFill>
                      <a:srgbClr val="FFFFFF"/>
                    </a:solidFill>
                  </a:tcPr>
                </a:tc>
              </a:tr>
              <a:tr h="685800">
                <a:tc>
                  <a:txBody>
                    <a:bodyPr wrap="square"/>
                    <a:lstStyle/>
                    <a:p>
                      <a:r>
                        <a:rPr sz="1300" b="0" i="0">
                          <a:solidFill>
                            <a:srgbClr val="0B0B0B"/>
                          </a:solidFill>
                          <a:latin typeface="Arial"/>
                        </a:rPr>
                        <a:t>Tiêu đề tiếng Việt bị dính chữ khi ghi .eml</a:t>
                      </a:r>
                    </a:p>
                  </a:txBody>
                  <a:tcPr marL="64008" marR="64008" marT="27432" marB="27432" anchor="ctr">
                    <a:solidFill>
                      <a:srgbClr val="F9F9F7"/>
                    </a:solidFill>
                  </a:tcPr>
                </a:tc>
                <a:tc>
                  <a:txBody>
                    <a:bodyPr wrap="square"/>
                    <a:lstStyle/>
                    <a:p>
                      <a:r>
                        <a:rPr sz="1300" b="0" i="0">
                          <a:solidFill>
                            <a:srgbClr val="0B0B0B"/>
                          </a:solidFill>
                          <a:latin typeface="Arial"/>
                        </a:rPr>
                        <a:t>Lỗi gập header (encoded-word) của thư viện email Python</a:t>
                      </a:r>
                    </a:p>
                  </a:txBody>
                  <a:tcPr marL="64008" marR="64008" marT="27432" marB="27432" anchor="ctr">
                    <a:solidFill>
                      <a:srgbClr val="F9F9F7"/>
                    </a:solidFill>
                  </a:tcPr>
                </a:tc>
                <a:tc>
                  <a:txBody>
                    <a:bodyPr wrap="square"/>
                    <a:lstStyle/>
                    <a:p>
                      <a:r>
                        <a:rPr sz="1300" b="0" i="0">
                          <a:solidFill>
                            <a:srgbClr val="0B0B0B"/>
                          </a:solidFill>
                          <a:latin typeface="Arial"/>
                        </a:rPr>
                        <a:t>Tăng max_line_length để không gập header</a:t>
                      </a:r>
                    </a:p>
                  </a:txBody>
                  <a:tcPr marL="64008" marR="64008" marT="27432" marB="27432" anchor="ctr">
                    <a:solidFill>
                      <a:srgbClr val="F9F9F7"/>
                    </a:solidFill>
                  </a:tcPr>
                </a:tc>
              </a:tr>
            </a:tbl>
          </a:graphicData>
        </a:graphic>
      </p:graphicFrame>
      <p:sp>
        <p:nvSpPr>
          <p:cNvPr id="7" name="TextBox 6"/>
          <p:cNvSpPr txBox="1"/>
          <p:nvPr/>
        </p:nvSpPr>
        <p:spPr>
          <a:xfrm>
            <a:off x="548640" y="5120640"/>
            <a:ext cx="11155680" cy="914400"/>
          </a:xfrm>
          <a:prstGeom prst="rect">
            <a:avLst/>
          </a:prstGeom>
          <a:noFill/>
        </p:spPr>
        <p:txBody>
          <a:bodyPr wrap="square" anchor="t" lIns="45720" rIns="45720">
            <a:spAutoFit/>
          </a:bodyPr>
          <a:lstStyle/>
          <a:p>
            <a:pPr>
              <a:spcAft>
                <a:spcPts val="600"/>
              </a:spcAft>
            </a:pPr>
            <a:r>
              <a:rPr sz="1400" b="0" i="1">
                <a:solidFill>
                  <a:srgbClr val="52514E"/>
                </a:solidFill>
                <a:latin typeface="Arial"/>
              </a:rPr>
              <a:t>Các chỗ bài báo không mô tả rõ (pooling sau attention, cách chia fold chéo miền, ngưỡng lọc/khử trùng lặp, prompt sinh dữ liệu) được tự quyết định và ghi lại trong README.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3 · BỔ SUNG</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Bổ sung &amp; nâng cao so với bài báo</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9</a:t>
            </a:r>
          </a:p>
        </p:txBody>
      </p:sp>
      <p:sp>
        <p:nvSpPr>
          <p:cNvPr id="6" name="TextBox 5"/>
          <p:cNvSpPr txBox="1"/>
          <p:nvPr/>
        </p:nvSpPr>
        <p:spPr>
          <a:xfrm>
            <a:off x="548640" y="1463040"/>
            <a:ext cx="6766560" cy="4754880"/>
          </a:xfrm>
          <a:prstGeom prst="rect">
            <a:avLst/>
          </a:prstGeom>
          <a:noFill/>
        </p:spPr>
        <p:txBody>
          <a:bodyPr wrap="square" anchor="t" lIns="45720" rIns="45720">
            <a:spAutoFit/>
          </a:bodyPr>
          <a:lstStyle/>
          <a:p>
            <a:pPr>
              <a:spcAft>
                <a:spcPts val="900"/>
              </a:spcAft>
            </a:pPr>
            <a:r>
              <a:rPr sz="1600" b="0" i="0">
                <a:solidFill>
                  <a:srgbClr val="2A78D6"/>
                </a:solidFill>
                <a:latin typeface="Arial"/>
              </a:rPr>
              <a:t>•  </a:t>
            </a:r>
            <a:r>
              <a:rPr sz="1600" b="0" i="0">
                <a:solidFill>
                  <a:srgbClr val="0B0B0B"/>
                </a:solidFill>
                <a:latin typeface="Arial"/>
              </a:rPr>
              <a:t>Notebook Colab tự chứa (phishing_kd_bilstm.ipynb) chạy toàn bộ pipeline tái hiện</a:t>
            </a:r>
          </a:p>
          <a:p>
            <a:pPr>
              <a:spcAft>
                <a:spcPts val="900"/>
              </a:spcAft>
            </a:pPr>
            <a:r>
              <a:rPr sz="1600" b="0" i="0">
                <a:solidFill>
                  <a:srgbClr val="2A78D6"/>
                </a:solidFill>
                <a:latin typeface="Arial"/>
              </a:rPr>
              <a:t>•  </a:t>
            </a:r>
            <a:r>
              <a:rPr sz="1600" b="0" i="0">
                <a:solidFill>
                  <a:srgbClr val="0B0B0B"/>
                </a:solidFill>
                <a:latin typeface="Arial"/>
              </a:rPr>
              <a:t>Corpus email trường học tiếng Việt: 15 dạng tấn công, 21 dạng email hợp lệ (kể cả email 'khó')</a:t>
            </a:r>
          </a:p>
          <a:p>
            <a:pPr>
              <a:spcAft>
                <a:spcPts val="900"/>
              </a:spcAft>
            </a:pPr>
            <a:r>
              <a:rPr sz="1600" b="0" i="0">
                <a:solidFill>
                  <a:srgbClr val="2A78D6"/>
                </a:solidFill>
                <a:latin typeface="Arial"/>
              </a:rPr>
              <a:t>•  </a:t>
            </a:r>
            <a:r>
              <a:rPr sz="1600" b="0" i="0">
                <a:solidFill>
                  <a:srgbClr val="0B0B0B"/>
                </a:solidFill>
                <a:latin typeface="Arial"/>
              </a:rPr>
              <a:t>Chia template train / held-out → đo khả năng tổng quát hóa sang cách viết chưa từng thấy</a:t>
            </a:r>
          </a:p>
          <a:p>
            <a:pPr>
              <a:spcAft>
                <a:spcPts val="900"/>
              </a:spcAft>
            </a:pPr>
            <a:r>
              <a:rPr sz="1600" b="0" i="0">
                <a:solidFill>
                  <a:srgbClr val="2A78D6"/>
                </a:solidFill>
                <a:latin typeface="Arial"/>
              </a:rPr>
              <a:t>•  </a:t>
            </a:r>
            <a:r>
              <a:rPr sz="1600" b="0" i="0">
                <a:solidFill>
                  <a:srgbClr val="0B0B0B"/>
                </a:solidFill>
                <a:latin typeface="Arial"/>
              </a:rPr>
              <a:t>Phép biến đổi kiểu LLM bằng tiếng Việt (paraphrase / masking / personalization)</a:t>
            </a:r>
          </a:p>
          <a:p>
            <a:pPr>
              <a:spcAft>
                <a:spcPts val="900"/>
              </a:spcAft>
            </a:pPr>
            <a:r>
              <a:rPr sz="1600" b="0" i="0">
                <a:solidFill>
                  <a:srgbClr val="2A78D6"/>
                </a:solidFill>
                <a:latin typeface="Arial"/>
              </a:rPr>
              <a:t>•  </a:t>
            </a:r>
            <a:r>
              <a:rPr sz="1600" b="0" i="0">
                <a:solidFill>
                  <a:srgbClr val="0B0B0B"/>
                </a:solidFill>
                <a:latin typeface="Arial"/>
              </a:rPr>
              <a:t>Che URL trước mô hình văn bản để tránh học đường tắt; tách bạch trách nhiệm từng kênh</a:t>
            </a:r>
          </a:p>
          <a:p>
            <a:pPr>
              <a:spcAft>
                <a:spcPts val="900"/>
              </a:spcAft>
            </a:pPr>
            <a:r>
              <a:rPr sz="1600" b="0" i="0">
                <a:solidFill>
                  <a:srgbClr val="2A78D6"/>
                </a:solidFill>
                <a:latin typeface="Arial"/>
              </a:rPr>
              <a:t>•  </a:t>
            </a:r>
            <a:r>
              <a:rPr sz="1600" b="0" i="0">
                <a:solidFill>
                  <a:srgbClr val="0B0B0B"/>
                </a:solidFill>
                <a:latin typeface="Arial"/>
              </a:rPr>
              <a:t>Giải thích bằng attention ánh xạ về từ gốc có dấu</a:t>
            </a:r>
          </a:p>
        </p:txBody>
      </p:sp>
      <p:sp>
        <p:nvSpPr>
          <p:cNvPr id="7" name="Rounded Rectangle 6"/>
          <p:cNvSpPr/>
          <p:nvPr/>
        </p:nvSpPr>
        <p:spPr>
          <a:xfrm>
            <a:off x="7680960" y="1554480"/>
            <a:ext cx="4023360" cy="210312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18120" y="1664208"/>
            <a:ext cx="3749040" cy="1920240"/>
          </a:xfrm>
          <a:prstGeom prst="rect">
            <a:avLst/>
          </a:prstGeom>
          <a:noFill/>
        </p:spPr>
        <p:txBody>
          <a:bodyPr wrap="square" anchor="t" lIns="45720" rIns="45720">
            <a:spAutoFit/>
          </a:bodyPr>
          <a:lstStyle/>
          <a:p>
            <a:pPr>
              <a:spcAft>
                <a:spcPts val="400"/>
              </a:spcAft>
            </a:pPr>
            <a:r>
              <a:rPr sz="1500" b="1" i="0">
                <a:solidFill>
                  <a:srgbClr val="0B0B0B"/>
                </a:solidFill>
                <a:latin typeface="Arial"/>
              </a:rPr>
              <a:t>Tại sao chia template held-out?</a:t>
            </a:r>
          </a:p>
          <a:p>
            <a:pPr>
              <a:spcAft>
                <a:spcPts val="600"/>
              </a:spcAft>
            </a:pPr>
            <a:r>
              <a:rPr sz="1300" b="0" i="0">
                <a:solidFill>
                  <a:srgbClr val="52514E"/>
                </a:solidFill>
                <a:latin typeface="Arial"/>
              </a:rPr>
              <a:t>Nếu train và test dùng chung cách viết, mô hình đạt ~100% một cách giả tạo. Giữ lại 1/3 dạng email chưa từng thấy mới đo được khả năng tổng quát hóa thật.</a:t>
            </a:r>
          </a:p>
        </p:txBody>
      </p:sp>
      <p:sp>
        <p:nvSpPr>
          <p:cNvPr id="9" name="Rounded Rectangle 8"/>
          <p:cNvSpPr/>
          <p:nvPr/>
        </p:nvSpPr>
        <p:spPr>
          <a:xfrm>
            <a:off x="7680960" y="3840480"/>
            <a:ext cx="4023360" cy="210312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18120" y="3950208"/>
            <a:ext cx="3749040" cy="1920240"/>
          </a:xfrm>
          <a:prstGeom prst="rect">
            <a:avLst/>
          </a:prstGeom>
          <a:noFill/>
        </p:spPr>
        <p:txBody>
          <a:bodyPr wrap="square" anchor="t" lIns="45720" rIns="45720">
            <a:spAutoFit/>
          </a:bodyPr>
          <a:lstStyle/>
          <a:p>
            <a:pPr>
              <a:spcAft>
                <a:spcPts val="400"/>
              </a:spcAft>
            </a:pPr>
            <a:r>
              <a:rPr sz="1500" b="1" i="0">
                <a:solidFill>
                  <a:srgbClr val="0B0B0B"/>
                </a:solidFill>
                <a:latin typeface="Arial"/>
              </a:rPr>
              <a:t>Tại sao che URL?</a:t>
            </a:r>
          </a:p>
          <a:p>
            <a:pPr>
              <a:spcAft>
                <a:spcPts val="600"/>
              </a:spcAft>
            </a:pPr>
            <a:r>
              <a:rPr sz="1300" b="0" i="0">
                <a:solidFill>
                  <a:srgbClr val="52514E"/>
                </a:solidFill>
                <a:latin typeface="Arial"/>
              </a:rPr>
              <a:t>Liên kết đã có bộ phân tích riêng. Che URL buộc mô hình văn bản học ngôn ngữ thay vì học 'có tên miền = lừa đảo'.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4 · ỨNG DỤNG</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Từ bài báo đến ứng dụng: vì sao cần hướng khác?</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10</a:t>
            </a:r>
          </a:p>
        </p:txBody>
      </p:sp>
      <p:sp>
        <p:nvSpPr>
          <p:cNvPr id="6" name="Rounded Rectangle 5"/>
          <p:cNvSpPr/>
          <p:nvPr/>
        </p:nvSpPr>
        <p:spPr>
          <a:xfrm>
            <a:off x="548640" y="1463040"/>
            <a:ext cx="3566160" cy="192024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72768"/>
            <a:ext cx="3291840" cy="1737360"/>
          </a:xfrm>
          <a:prstGeom prst="rect">
            <a:avLst/>
          </a:prstGeom>
          <a:noFill/>
        </p:spPr>
        <p:txBody>
          <a:bodyPr wrap="square" anchor="t" lIns="45720" rIns="45720">
            <a:spAutoFit/>
          </a:bodyPr>
          <a:lstStyle/>
          <a:p>
            <a:pPr>
              <a:spcAft>
                <a:spcPts val="400"/>
              </a:spcAft>
            </a:pPr>
            <a:r>
              <a:rPr sz="1600" b="1" i="0">
                <a:solidFill>
                  <a:srgbClr val="0B0B0B"/>
                </a:solidFill>
                <a:latin typeface="Arial"/>
              </a:rPr>
              <a:t>Trường đã có bộ lọc</a:t>
            </a:r>
          </a:p>
          <a:p>
            <a:pPr>
              <a:spcAft>
                <a:spcPts val="600"/>
              </a:spcAft>
            </a:pPr>
            <a:r>
              <a:rPr sz="1400" b="0" i="0">
                <a:solidFill>
                  <a:srgbClr val="52514E"/>
                </a:solidFill>
                <a:latin typeface="Arial"/>
              </a:rPr>
              <a:t>Gmail / Microsoft 365 Defender đã chặn phần lớn lừa đảo phổ biến. Thêm một bộ phân loại văn bản nữa ít giá trị.</a:t>
            </a:r>
          </a:p>
        </p:txBody>
      </p:sp>
      <p:sp>
        <p:nvSpPr>
          <p:cNvPr id="8" name="Rounded Rectangle 7"/>
          <p:cNvSpPr/>
          <p:nvPr/>
        </p:nvSpPr>
        <p:spPr>
          <a:xfrm>
            <a:off x="4343400" y="1463040"/>
            <a:ext cx="3566160" cy="192024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1572768"/>
            <a:ext cx="3291840" cy="1737360"/>
          </a:xfrm>
          <a:prstGeom prst="rect">
            <a:avLst/>
          </a:prstGeom>
          <a:noFill/>
        </p:spPr>
        <p:txBody>
          <a:bodyPr wrap="square" anchor="t" lIns="45720" rIns="45720">
            <a:spAutoFit/>
          </a:bodyPr>
          <a:lstStyle/>
          <a:p>
            <a:pPr>
              <a:spcAft>
                <a:spcPts val="400"/>
              </a:spcAft>
            </a:pPr>
            <a:r>
              <a:rPr sz="1600" b="1" i="0">
                <a:solidFill>
                  <a:srgbClr val="0B0B0B"/>
                </a:solidFill>
                <a:latin typeface="Arial"/>
              </a:rPr>
              <a:t>Email có ảnh và tệp</a:t>
            </a:r>
          </a:p>
          <a:p>
            <a:pPr>
              <a:spcAft>
                <a:spcPts val="600"/>
              </a:spcAft>
            </a:pPr>
            <a:r>
              <a:rPr sz="1400" b="0" i="0">
                <a:solidFill>
                  <a:srgbClr val="52514E"/>
                </a:solidFill>
                <a:latin typeface="Arial"/>
              </a:rPr>
              <a:t>Kẻ tấn công giấu thông điệp vào ảnh, mã QR, PDF, HTML, ZIP có mật khẩu. Mô hình chỉ đọc thân thư không thấy.</a:t>
            </a:r>
          </a:p>
        </p:txBody>
      </p:sp>
      <p:sp>
        <p:nvSpPr>
          <p:cNvPr id="10" name="Rounded Rectangle 9"/>
          <p:cNvSpPr/>
          <p:nvPr/>
        </p:nvSpPr>
        <p:spPr>
          <a:xfrm>
            <a:off x="8138160" y="1463040"/>
            <a:ext cx="3566160" cy="192024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20" y="1572768"/>
            <a:ext cx="3291840" cy="1737360"/>
          </a:xfrm>
          <a:prstGeom prst="rect">
            <a:avLst/>
          </a:prstGeom>
          <a:noFill/>
        </p:spPr>
        <p:txBody>
          <a:bodyPr wrap="square" anchor="t" lIns="45720" rIns="45720">
            <a:spAutoFit/>
          </a:bodyPr>
          <a:lstStyle/>
          <a:p>
            <a:pPr>
              <a:spcAft>
                <a:spcPts val="400"/>
              </a:spcAft>
            </a:pPr>
            <a:r>
              <a:rPr sz="1600" b="1" i="0">
                <a:solidFill>
                  <a:srgbClr val="0B0B0B"/>
                </a:solidFill>
                <a:latin typeface="Arial"/>
              </a:rPr>
              <a:t>Chỉ trả lời có/không</a:t>
            </a:r>
          </a:p>
          <a:p>
            <a:pPr>
              <a:spcAft>
                <a:spcPts val="600"/>
              </a:spcAft>
            </a:pPr>
            <a:r>
              <a:rPr sz="1400" b="0" i="0">
                <a:solidFill>
                  <a:srgbClr val="52514E"/>
                </a:solidFill>
                <a:latin typeface="Arial"/>
              </a:rPr>
              <a:t>Người dùng không biết vì sao email nguy hiểm → lần sau vẫn bị lừa.</a:t>
            </a:r>
          </a:p>
        </p:txBody>
      </p:sp>
      <p:sp>
        <p:nvSpPr>
          <p:cNvPr id="12" name="Rounded Rectangle 11"/>
          <p:cNvSpPr/>
          <p:nvPr/>
        </p:nvSpPr>
        <p:spPr>
          <a:xfrm>
            <a:off x="548640" y="3749039"/>
            <a:ext cx="11155680" cy="2286000"/>
          </a:xfrm>
          <a:prstGeom prst="roundRect">
            <a:avLst>
              <a:gd name="adj" fmla="val 6000"/>
            </a:avLst>
          </a:prstGeom>
          <a:solidFill>
            <a:srgbClr val="CDE2FB"/>
          </a:solidFill>
          <a:ln w="9525">
            <a:solidFill>
              <a:srgbClr val="CDE2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886200"/>
            <a:ext cx="10698480" cy="2103120"/>
          </a:xfrm>
          <a:prstGeom prst="rect">
            <a:avLst/>
          </a:prstGeom>
          <a:noFill/>
        </p:spPr>
        <p:txBody>
          <a:bodyPr wrap="square" anchor="t" lIns="45720" rIns="45720">
            <a:spAutoFit/>
          </a:bodyPr>
          <a:lstStyle/>
          <a:p>
            <a:pPr>
              <a:spcAft>
                <a:spcPts val="600"/>
              </a:spcAft>
            </a:pPr>
            <a:r>
              <a:rPr sz="2000" b="1" i="0">
                <a:solidFill>
                  <a:srgbClr val="2A78D6"/>
                </a:solidFill>
                <a:latin typeface="Arial"/>
              </a:rPr>
              <a:t>Ý tưởng: PhishLens Edu</a:t>
            </a:r>
          </a:p>
          <a:p>
            <a:pPr>
              <a:spcAft>
                <a:spcPts val="600"/>
              </a:spcAft>
            </a:pPr>
            <a:r>
              <a:rPr sz="1600" b="0" i="0">
                <a:solidFill>
                  <a:srgbClr val="0B0B0B"/>
                </a:solidFill>
                <a:latin typeface="Arial"/>
              </a:rPr>
              <a:t>Không thay thế Gmail/Defender. Là lớp “ý kiến thứ hai có giải thích” cho email đã lọt vào hộp thư:</a:t>
            </a:r>
          </a:p>
          <a:p>
            <a:pPr>
              <a:spcAft>
                <a:spcPts val="600"/>
              </a:spcAft>
            </a:pPr>
            <a:r>
              <a:rPr sz="1500" b="0" i="0">
                <a:solidFill>
                  <a:srgbClr val="2A78D6"/>
                </a:solidFill>
                <a:latin typeface="Arial"/>
              </a:rPr>
              <a:t>•  </a:t>
            </a:r>
            <a:r>
              <a:rPr sz="1500" b="1" i="0">
                <a:solidFill>
                  <a:srgbClr val="0B0B0B"/>
                </a:solidFill>
                <a:latin typeface="Arial"/>
              </a:rPr>
              <a:t>phân tích đa kênh </a:t>
            </a:r>
            <a:r>
              <a:rPr sz="1500" b="0" i="0">
                <a:solidFill>
                  <a:srgbClr val="0B0B0B"/>
                </a:solidFill>
                <a:latin typeface="Arial"/>
              </a:rPr>
              <a:t>(người gửi, liên kết, nội dung, ảnh/QR, tệp)</a:t>
            </a:r>
          </a:p>
          <a:p>
            <a:pPr>
              <a:spcAft>
                <a:spcPts val="600"/>
              </a:spcAft>
            </a:pPr>
            <a:r>
              <a:rPr sz="1500" b="0" i="0">
                <a:solidFill>
                  <a:srgbClr val="2A78D6"/>
                </a:solidFill>
                <a:latin typeface="Arial"/>
              </a:rPr>
              <a:t>•  </a:t>
            </a:r>
            <a:r>
              <a:rPr sz="1500" b="1" i="0">
                <a:solidFill>
                  <a:srgbClr val="0B0B0B"/>
                </a:solidFill>
                <a:latin typeface="Arial"/>
              </a:rPr>
              <a:t>mức độ rủi ro 0–100 </a:t>
            </a:r>
            <a:r>
              <a:rPr sz="1500" b="0" i="0">
                <a:solidFill>
                  <a:srgbClr val="0B0B0B"/>
                </a:solidFill>
                <a:latin typeface="Arial"/>
              </a:rPr>
              <a:t>+ loại tấn công + kỹ thuật né tránh</a:t>
            </a:r>
          </a:p>
          <a:p>
            <a:pPr>
              <a:spcAft>
                <a:spcPts val="600"/>
              </a:spcAft>
            </a:pPr>
            <a:r>
              <a:rPr sz="1500" b="0" i="0">
                <a:solidFill>
                  <a:srgbClr val="2A78D6"/>
                </a:solidFill>
                <a:latin typeface="Arial"/>
              </a:rPr>
              <a:t>•  </a:t>
            </a:r>
            <a:r>
              <a:rPr sz="1500" b="1" i="0">
                <a:solidFill>
                  <a:srgbClr val="0B0B0B"/>
                </a:solidFill>
                <a:latin typeface="Arial"/>
              </a:rPr>
              <a:t>giải thích bằng tiếng Việt + chế độ luyện tập </a:t>
            </a:r>
            <a:r>
              <a:rPr sz="1500" b="0" i="0">
                <a:solidFill>
                  <a:srgbClr val="0B0B0B"/>
                </a:solidFill>
                <a:latin typeface="Arial"/>
              </a:rPr>
              <a:t>cho sinh viên, cán bộ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4 · ỨNG DỤNG</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Kiến trúc PhishLens Edu</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11</a:t>
            </a:r>
          </a:p>
        </p:txBody>
      </p:sp>
      <p:sp>
        <p:nvSpPr>
          <p:cNvPr id="6" name="Rounded Rectangle 5"/>
          <p:cNvSpPr/>
          <p:nvPr/>
        </p:nvSpPr>
        <p:spPr>
          <a:xfrm>
            <a:off x="548640" y="1417320"/>
            <a:ext cx="2514600" cy="132588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27048"/>
            <a:ext cx="2240280" cy="1143000"/>
          </a:xfrm>
          <a:prstGeom prst="rect">
            <a:avLst/>
          </a:prstGeom>
          <a:noFill/>
        </p:spPr>
        <p:txBody>
          <a:bodyPr wrap="square" anchor="t" lIns="45720" rIns="45720">
            <a:spAutoFit/>
          </a:bodyPr>
          <a:lstStyle/>
          <a:p>
            <a:pPr>
              <a:spcAft>
                <a:spcPts val="400"/>
              </a:spcAft>
            </a:pPr>
            <a:r>
              <a:rPr sz="1400" b="1" i="0">
                <a:solidFill>
                  <a:srgbClr val="0B0B0B"/>
                </a:solidFill>
                <a:latin typeface="Arial"/>
              </a:rPr>
              <a:t>1. Tách email</a:t>
            </a:r>
          </a:p>
          <a:p>
            <a:pPr>
              <a:spcAft>
                <a:spcPts val="600"/>
              </a:spcAft>
            </a:pPr>
            <a:r>
              <a:rPr sz="1200" b="0" i="0">
                <a:solidFill>
                  <a:srgbClr val="52514E"/>
                </a:solidFill>
                <a:latin typeface="Arial"/>
              </a:rPr>
              <a:t>.eml (MIME): header, văn bản/HTML, liên kết, ảnh, tệp</a:t>
            </a:r>
          </a:p>
        </p:txBody>
      </p:sp>
      <p:sp>
        <p:nvSpPr>
          <p:cNvPr id="8" name="Right Arrow 7"/>
          <p:cNvSpPr/>
          <p:nvPr/>
        </p:nvSpPr>
        <p:spPr>
          <a:xfrm>
            <a:off x="3081528" y="1920240"/>
            <a:ext cx="274320" cy="274320"/>
          </a:xfrm>
          <a:prstGeom prst="rightArrow">
            <a:avLst/>
          </a:prstGeom>
          <a:solidFill>
            <a:srgbClr val="8987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383280" y="1417320"/>
            <a:ext cx="2514600" cy="132588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0440" y="1527048"/>
            <a:ext cx="2240280" cy="1143000"/>
          </a:xfrm>
          <a:prstGeom prst="rect">
            <a:avLst/>
          </a:prstGeom>
          <a:noFill/>
        </p:spPr>
        <p:txBody>
          <a:bodyPr wrap="square" anchor="t" lIns="45720" rIns="45720">
            <a:spAutoFit/>
          </a:bodyPr>
          <a:lstStyle/>
          <a:p>
            <a:pPr>
              <a:spcAft>
                <a:spcPts val="400"/>
              </a:spcAft>
            </a:pPr>
            <a:r>
              <a:rPr sz="1400" b="1" i="0">
                <a:solidFill>
                  <a:srgbClr val="0B0B0B"/>
                </a:solidFill>
                <a:latin typeface="Arial"/>
              </a:rPr>
              <a:t>2. Phân tích đa kênh</a:t>
            </a:r>
          </a:p>
          <a:p>
            <a:pPr>
              <a:spcAft>
                <a:spcPts val="600"/>
              </a:spcAft>
            </a:pPr>
            <a:r>
              <a:rPr sz="1200" b="0" i="0">
                <a:solidFill>
                  <a:srgbClr val="52514E"/>
                </a:solidFill>
                <a:latin typeface="Arial"/>
              </a:rPr>
              <a:t>5 bộ phân tích độc lập, mỗi dấu hiệu có độ mạnh + lời giải thích</a:t>
            </a:r>
          </a:p>
        </p:txBody>
      </p:sp>
      <p:sp>
        <p:nvSpPr>
          <p:cNvPr id="11" name="Right Arrow 10"/>
          <p:cNvSpPr/>
          <p:nvPr/>
        </p:nvSpPr>
        <p:spPr>
          <a:xfrm>
            <a:off x="5916168" y="1920240"/>
            <a:ext cx="274320" cy="274320"/>
          </a:xfrm>
          <a:prstGeom prst="rightArrow">
            <a:avLst/>
          </a:prstGeom>
          <a:solidFill>
            <a:srgbClr val="8987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17920" y="1417320"/>
            <a:ext cx="2514600" cy="132588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527048"/>
            <a:ext cx="2240280" cy="1143000"/>
          </a:xfrm>
          <a:prstGeom prst="rect">
            <a:avLst/>
          </a:prstGeom>
          <a:noFill/>
        </p:spPr>
        <p:txBody>
          <a:bodyPr wrap="square" anchor="t" lIns="45720" rIns="45720">
            <a:spAutoFit/>
          </a:bodyPr>
          <a:lstStyle/>
          <a:p>
            <a:pPr>
              <a:spcAft>
                <a:spcPts val="400"/>
              </a:spcAft>
            </a:pPr>
            <a:r>
              <a:rPr sz="1400" b="1" i="0">
                <a:solidFill>
                  <a:srgbClr val="0B0B0B"/>
                </a:solidFill>
                <a:latin typeface="Arial"/>
              </a:rPr>
              <a:t>3. Kết hợp bằng chứng</a:t>
            </a:r>
          </a:p>
          <a:p>
            <a:pPr>
              <a:spcAft>
                <a:spcPts val="600"/>
              </a:spcAft>
            </a:pPr>
            <a:r>
              <a:rPr sz="1200" b="0" i="0">
                <a:solidFill>
                  <a:srgbClr val="52514E"/>
                </a:solidFill>
                <a:latin typeface="Arial"/>
              </a:rPr>
              <a:t>Noisy-OR → điểm từng kênh + điểm tổng 0–100, loại tấn công</a:t>
            </a:r>
          </a:p>
        </p:txBody>
      </p:sp>
      <p:sp>
        <p:nvSpPr>
          <p:cNvPr id="14" name="Right Arrow 13"/>
          <p:cNvSpPr/>
          <p:nvPr/>
        </p:nvSpPr>
        <p:spPr>
          <a:xfrm>
            <a:off x="8750808" y="1920240"/>
            <a:ext cx="274320" cy="274320"/>
          </a:xfrm>
          <a:prstGeom prst="rightArrow">
            <a:avLst/>
          </a:prstGeom>
          <a:solidFill>
            <a:srgbClr val="8987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052560" y="1417320"/>
            <a:ext cx="2514600" cy="132588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89720" y="1527048"/>
            <a:ext cx="2240280" cy="1143000"/>
          </a:xfrm>
          <a:prstGeom prst="rect">
            <a:avLst/>
          </a:prstGeom>
          <a:noFill/>
        </p:spPr>
        <p:txBody>
          <a:bodyPr wrap="square" anchor="t" lIns="45720" rIns="45720">
            <a:spAutoFit/>
          </a:bodyPr>
          <a:lstStyle/>
          <a:p>
            <a:pPr>
              <a:spcAft>
                <a:spcPts val="400"/>
              </a:spcAft>
            </a:pPr>
            <a:r>
              <a:rPr sz="1400" b="1" i="0">
                <a:solidFill>
                  <a:srgbClr val="0B0B0B"/>
                </a:solidFill>
                <a:latin typeface="Arial"/>
              </a:rPr>
              <a:t>4. Giải thích &amp; hướng dẫn</a:t>
            </a:r>
          </a:p>
          <a:p>
            <a:pPr>
              <a:spcAft>
                <a:spcPts val="600"/>
              </a:spcAft>
            </a:pPr>
            <a:r>
              <a:rPr sz="1200" b="0" i="0">
                <a:solidFill>
                  <a:srgbClr val="52514E"/>
                </a:solidFill>
                <a:latin typeface="Arial"/>
              </a:rPr>
              <a:t>Lý do, bài học, tô sáng cụm từ, việc cần làm</a:t>
            </a:r>
          </a:p>
        </p:txBody>
      </p:sp>
      <p:graphicFrame>
        <p:nvGraphicFramePr>
          <p:cNvPr id="17" name="Table 16"/>
          <p:cNvGraphicFramePr>
            <a:graphicFrameLocks noGrp="1"/>
          </p:cNvGraphicFramePr>
          <p:nvPr/>
        </p:nvGraphicFramePr>
        <p:xfrm>
          <a:off x="548640" y="3017520"/>
          <a:ext cx="11155680" cy="3017520"/>
        </p:xfrm>
        <a:graphic>
          <a:graphicData uri="http://schemas.openxmlformats.org/drawingml/2006/table">
            <a:tbl>
              <a:tblPr firstRow="1" bandRow="1">
                <a:tableStyleId>{5C22544A-7EE6-4342-B048-85BDC9FD1C3A}</a:tableStyleId>
              </a:tblPr>
              <a:tblGrid>
                <a:gridCol w="1463040"/>
                <a:gridCol w="9692640"/>
              </a:tblGrid>
              <a:tr h="502920">
                <a:tc>
                  <a:txBody>
                    <a:bodyPr wrap="square"/>
                    <a:lstStyle/>
                    <a:p>
                      <a:r>
                        <a:rPr sz="1300" b="1" i="0">
                          <a:solidFill>
                            <a:srgbClr val="0B0B0B"/>
                          </a:solidFill>
                          <a:latin typeface="Arial"/>
                        </a:rPr>
                        <a:t>Kênh</a:t>
                      </a:r>
                    </a:p>
                  </a:txBody>
                  <a:tcPr marL="64008" marR="64008" marT="27432" marB="27432" anchor="ctr">
                    <a:solidFill>
                      <a:srgbClr val="CDE2FB"/>
                    </a:solidFill>
                  </a:tcPr>
                </a:tc>
                <a:tc>
                  <a:txBody>
                    <a:bodyPr wrap="square"/>
                    <a:lstStyle/>
                    <a:p>
                      <a:r>
                        <a:rPr sz="1300" b="1" i="0">
                          <a:solidFill>
                            <a:srgbClr val="0B0B0B"/>
                          </a:solidFill>
                          <a:latin typeface="Arial"/>
                        </a:rPr>
                        <a:t>Phân tích</a:t>
                      </a:r>
                    </a:p>
                  </a:txBody>
                  <a:tcPr marL="64008" marR="64008" marT="27432" marB="27432" anchor="ctr">
                    <a:solidFill>
                      <a:srgbClr val="CDE2FB"/>
                    </a:solidFill>
                  </a:tcPr>
                </a:tc>
              </a:tr>
              <a:tr h="502920">
                <a:tc>
                  <a:txBody>
                    <a:bodyPr wrap="square"/>
                    <a:lstStyle/>
                    <a:p>
                      <a:r>
                        <a:rPr sz="1300" b="1" i="0">
                          <a:solidFill>
                            <a:srgbClr val="0B0B0B"/>
                          </a:solidFill>
                          <a:latin typeface="Arial"/>
                        </a:rPr>
                        <a:t>Người gửi</a:t>
                      </a:r>
                    </a:p>
                  </a:txBody>
                  <a:tcPr marL="64008" marR="64008" marT="27432" marB="27432" anchor="ctr">
                    <a:solidFill>
                      <a:srgbClr val="FFFFFF"/>
                    </a:solidFill>
                  </a:tcPr>
                </a:tc>
                <a:tc>
                  <a:txBody>
                    <a:bodyPr wrap="square"/>
                    <a:lstStyle/>
                    <a:p>
                      <a:r>
                        <a:rPr sz="1300" b="0" i="0">
                          <a:solidFill>
                            <a:srgbClr val="0B0B0B"/>
                          </a:solidFill>
                          <a:latin typeface="Arial"/>
                        </a:rPr>
                        <a:t>SPF/DKIM/DMARC, tên hiển thị mạo danh (Gmail giả 'Phòng Đào tạo'), Reply-To khác, tên miền nhái (typo, homoglyph, chèn tên trường)</a:t>
                      </a:r>
                    </a:p>
                  </a:txBody>
                  <a:tcPr marL="64008" marR="64008" marT="27432" marB="27432" anchor="ctr">
                    <a:solidFill>
                      <a:srgbClr val="FFFFFF"/>
                    </a:solidFill>
                  </a:tcPr>
                </a:tc>
              </a:tr>
              <a:tr h="502920">
                <a:tc>
                  <a:txBody>
                    <a:bodyPr wrap="square"/>
                    <a:lstStyle/>
                    <a:p>
                      <a:r>
                        <a:rPr sz="1300" b="1" i="0">
                          <a:solidFill>
                            <a:srgbClr val="0B0B0B"/>
                          </a:solidFill>
                          <a:latin typeface="Arial"/>
                        </a:rPr>
                        <a:t>Liên kết</a:t>
                      </a:r>
                    </a:p>
                  </a:txBody>
                  <a:tcPr marL="64008" marR="64008" marT="27432" marB="27432" anchor="ctr">
                    <a:solidFill>
                      <a:srgbClr val="F9F9F7"/>
                    </a:solidFill>
                  </a:tcPr>
                </a:tc>
                <a:tc>
                  <a:txBody>
                    <a:bodyPr wrap="square"/>
                    <a:lstStyle/>
                    <a:p>
                      <a:r>
                        <a:rPr sz="1300" b="0" i="0">
                          <a:solidFill>
                            <a:srgbClr val="0B0B0B"/>
                          </a:solidFill>
                          <a:latin typeface="Arial"/>
                        </a:rPr>
                        <a:t>Chữ hiển thị ≠ địa chỉ thật, link rút gọn, IP, đuôi .top/.click/.xyz, đường dẫn đăng nhập</a:t>
                      </a:r>
                    </a:p>
                  </a:txBody>
                  <a:tcPr marL="64008" marR="64008" marT="27432" marB="27432" anchor="ctr">
                    <a:solidFill>
                      <a:srgbClr val="F9F9F7"/>
                    </a:solidFill>
                  </a:tcPr>
                </a:tc>
              </a:tr>
              <a:tr h="502920">
                <a:tc>
                  <a:txBody>
                    <a:bodyPr wrap="square"/>
                    <a:lstStyle/>
                    <a:p>
                      <a:r>
                        <a:rPr sz="1300" b="1" i="0">
                          <a:solidFill>
                            <a:srgbClr val="0B0B0B"/>
                          </a:solidFill>
                          <a:latin typeface="Arial"/>
                        </a:rPr>
                        <a:t>Nội dung</a:t>
                      </a:r>
                    </a:p>
                  </a:txBody>
                  <a:tcPr marL="64008" marR="64008" marT="27432" marB="27432" anchor="ctr">
                    <a:solidFill>
                      <a:srgbClr val="FFFFFF"/>
                    </a:solidFill>
                  </a:tcPr>
                </a:tc>
                <a:tc>
                  <a:txBody>
                    <a:bodyPr wrap="square"/>
                    <a:lstStyle/>
                    <a:p>
                      <a:r>
                        <a:rPr sz="1300" b="0" i="0">
                          <a:solidFill>
                            <a:srgbClr val="0B0B0B"/>
                          </a:solidFill>
                          <a:latin typeface="Arial"/>
                        </a:rPr>
                        <a:t>KD-BiLSTM của bài báo (giải thích bằng attention) + 8 nhóm thủ đoạn tâm lý (vi/en)</a:t>
                      </a:r>
                    </a:p>
                  </a:txBody>
                  <a:tcPr marL="64008" marR="64008" marT="27432" marB="27432" anchor="ctr">
                    <a:solidFill>
                      <a:srgbClr val="FFFFFF"/>
                    </a:solidFill>
                  </a:tcPr>
                </a:tc>
              </a:tr>
              <a:tr h="502920">
                <a:tc>
                  <a:txBody>
                    <a:bodyPr wrap="square"/>
                    <a:lstStyle/>
                    <a:p>
                      <a:r>
                        <a:rPr sz="1300" b="1" i="0">
                          <a:solidFill>
                            <a:srgbClr val="0B0B0B"/>
                          </a:solidFill>
                          <a:latin typeface="Arial"/>
                        </a:rPr>
                        <a:t>Ảnh &amp; QR</a:t>
                      </a:r>
                    </a:p>
                  </a:txBody>
                  <a:tcPr marL="64008" marR="64008" marT="27432" marB="27432" anchor="ctr">
                    <a:solidFill>
                      <a:srgbClr val="F9F9F7"/>
                    </a:solidFill>
                  </a:tcPr>
                </a:tc>
                <a:tc>
                  <a:txBody>
                    <a:bodyPr wrap="square"/>
                    <a:lstStyle/>
                    <a:p>
                      <a:r>
                        <a:rPr sz="1300" b="0" i="0">
                          <a:solidFill>
                            <a:srgbClr val="0B0B0B"/>
                          </a:solidFill>
                          <a:latin typeface="Arial"/>
                        </a:rPr>
                        <a:t>OCR tiếng Việt (EasyOCR), giải mã QR (OpenCV); chữ trong ảnh được phân tích như nội dung</a:t>
                      </a:r>
                    </a:p>
                  </a:txBody>
                  <a:tcPr marL="64008" marR="64008" marT="27432" marB="27432" anchor="ctr">
                    <a:solidFill>
                      <a:srgbClr val="F9F9F7"/>
                    </a:solidFill>
                  </a:tcPr>
                </a:tc>
              </a:tr>
              <a:tr h="502920">
                <a:tc>
                  <a:txBody>
                    <a:bodyPr wrap="square"/>
                    <a:lstStyle/>
                    <a:p>
                      <a:r>
                        <a:rPr sz="1300" b="1" i="0">
                          <a:solidFill>
                            <a:srgbClr val="0B0B0B"/>
                          </a:solidFill>
                          <a:latin typeface="Arial"/>
                        </a:rPr>
                        <a:t>Tệp đính kèm</a:t>
                      </a:r>
                    </a:p>
                  </a:txBody>
                  <a:tcPr marL="64008" marR="64008" marT="27432" marB="27432" anchor="ctr">
                    <a:solidFill>
                      <a:srgbClr val="FFFFFF"/>
                    </a:solidFill>
                  </a:tcPr>
                </a:tc>
                <a:tc>
                  <a:txBody>
                    <a:bodyPr wrap="square"/>
                    <a:lstStyle/>
                    <a:p>
                      <a:r>
                        <a:rPr sz="1300" b="0" i="0">
                          <a:solidFill>
                            <a:srgbClr val="0B0B0B"/>
                          </a:solidFill>
                          <a:latin typeface="Arial"/>
                        </a:rPr>
                        <a:t>Phân tích tĩnh: magic bytes, đuôi kép .pdf.exe, macro Office, PDF JavaScript, HTML đăng nhập giả / smuggling, ZIP có mật khẩu</a:t>
                      </a:r>
                    </a:p>
                  </a:txBody>
                  <a:tcPr marL="64008" marR="64008" marT="27432" marB="27432" anchor="ct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4 · ỨNG DỤNG</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Kế thừa bài báo trong PhishLens</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12</a:t>
            </a:r>
          </a:p>
        </p:txBody>
      </p:sp>
      <p:sp>
        <p:nvSpPr>
          <p:cNvPr id="6" name="TextBox 5"/>
          <p:cNvSpPr txBox="1"/>
          <p:nvPr/>
        </p:nvSpPr>
        <p:spPr>
          <a:xfrm>
            <a:off x="548640" y="1463040"/>
            <a:ext cx="5852160" cy="4572000"/>
          </a:xfrm>
          <a:prstGeom prst="rect">
            <a:avLst/>
          </a:prstGeom>
          <a:noFill/>
        </p:spPr>
        <p:txBody>
          <a:bodyPr wrap="square" anchor="t" lIns="45720" rIns="45720">
            <a:spAutoFit/>
          </a:bodyPr>
          <a:lstStyle/>
          <a:p>
            <a:pPr>
              <a:spcAft>
                <a:spcPts val="900"/>
              </a:spcAft>
            </a:pPr>
            <a:r>
              <a:rPr sz="1600" b="0" i="0">
                <a:solidFill>
                  <a:srgbClr val="2A78D6"/>
                </a:solidFill>
                <a:latin typeface="Arial"/>
              </a:rPr>
              <a:t>•  </a:t>
            </a:r>
            <a:r>
              <a:rPr sz="1600" b="1" i="0">
                <a:solidFill>
                  <a:srgbClr val="0B0B0B"/>
                </a:solidFill>
                <a:latin typeface="Arial"/>
              </a:rPr>
              <a:t>Mô hình nội dung = KD-BiLSTM của bài báo </a:t>
            </a:r>
            <a:r>
              <a:rPr sz="1600" b="0" i="0">
                <a:solidFill>
                  <a:srgbClr val="0B0B0B"/>
                </a:solidFill>
                <a:latin typeface="Arial"/>
              </a:rPr>
              <a:t>(teacher MobileBERT → student 4,4M tham số, chạy CPU)</a:t>
            </a:r>
          </a:p>
          <a:p>
            <a:pPr>
              <a:spcAft>
                <a:spcPts val="900"/>
              </a:spcAft>
            </a:pPr>
            <a:r>
              <a:rPr sz="1600" b="0" i="0">
                <a:solidFill>
                  <a:srgbClr val="2A78D6"/>
                </a:solidFill>
                <a:latin typeface="Arial"/>
              </a:rPr>
              <a:t>•  </a:t>
            </a:r>
            <a:r>
              <a:rPr sz="1600" b="1" i="0">
                <a:solidFill>
                  <a:srgbClr val="0B0B0B"/>
                </a:solidFill>
                <a:latin typeface="Arial"/>
              </a:rPr>
              <a:t>Huấn luyện lại </a:t>
            </a:r>
            <a:r>
              <a:rPr sz="1600" b="0" i="0">
                <a:solidFill>
                  <a:srgbClr val="0B0B0B"/>
                </a:solidFill>
                <a:latin typeface="Arial"/>
              </a:rPr>
              <a:t>trên email trường học tiếng Việt + email tiếng Anh, có cả bản viết lại kiểu LLM</a:t>
            </a:r>
          </a:p>
          <a:p>
            <a:pPr>
              <a:spcAft>
                <a:spcPts val="900"/>
              </a:spcAft>
            </a:pPr>
            <a:r>
              <a:rPr sz="1600" b="0" i="0">
                <a:solidFill>
                  <a:srgbClr val="2A78D6"/>
                </a:solidFill>
                <a:latin typeface="Arial"/>
              </a:rPr>
              <a:t>•  </a:t>
            </a:r>
            <a:r>
              <a:rPr sz="1600" b="1" i="0">
                <a:solidFill>
                  <a:srgbClr val="0B0B0B"/>
                </a:solidFill>
                <a:latin typeface="Arial"/>
              </a:rPr>
              <a:t>Attention → giải thích: </a:t>
            </a:r>
            <a:r>
              <a:rPr sz="1600" b="0" i="0">
                <a:solidFill>
                  <a:srgbClr val="0B0B0B"/>
                </a:solidFill>
                <a:latin typeface="Arial"/>
              </a:rPr>
              <a:t>hiển thị các từ mô hình chú ý nhiều nhất (ánh xạ về chữ có dấu)</a:t>
            </a:r>
          </a:p>
          <a:p>
            <a:pPr>
              <a:spcAft>
                <a:spcPts val="900"/>
              </a:spcAft>
            </a:pPr>
            <a:r>
              <a:rPr sz="1600" b="0" i="0">
                <a:solidFill>
                  <a:srgbClr val="2A78D6"/>
                </a:solidFill>
                <a:latin typeface="Arial"/>
              </a:rPr>
              <a:t>•  </a:t>
            </a:r>
            <a:r>
              <a:rPr sz="1600" b="1" i="0">
                <a:solidFill>
                  <a:srgbClr val="0B0B0B"/>
                </a:solidFill>
                <a:latin typeface="Arial"/>
              </a:rPr>
              <a:t>Mô hình chỉ là 1 trong 5 kênh: </a:t>
            </a:r>
            <a:r>
              <a:rPr sz="1600" b="0" i="0">
                <a:solidFill>
                  <a:srgbClr val="0B0B0B"/>
                </a:solidFill>
                <a:latin typeface="Arial"/>
              </a:rPr>
              <a:t>khi văn bản bị giấu vào ảnh/tệp, các kênh khác bù lại</a:t>
            </a:r>
          </a:p>
          <a:p>
            <a:pPr>
              <a:spcAft>
                <a:spcPts val="900"/>
              </a:spcAft>
            </a:pPr>
            <a:r>
              <a:rPr sz="1600" b="0" i="0">
                <a:solidFill>
                  <a:srgbClr val="2A78D6"/>
                </a:solidFill>
                <a:latin typeface="Arial"/>
              </a:rPr>
              <a:t>•  </a:t>
            </a:r>
            <a:r>
              <a:rPr sz="1600" b="1" i="0">
                <a:solidFill>
                  <a:srgbClr val="0B0B0B"/>
                </a:solidFill>
                <a:latin typeface="Arial"/>
              </a:rPr>
              <a:t>Có mô hình TF-IDF để đối chiếu </a:t>
            </a:r>
            <a:r>
              <a:rPr sz="1600" b="0" i="0">
                <a:solidFill>
                  <a:srgbClr val="0B0B0B"/>
                </a:solidFill>
                <a:latin typeface="Arial"/>
              </a:rPr>
              <a:t>(chọn được trên giao diện)</a:t>
            </a:r>
          </a:p>
        </p:txBody>
      </p:sp>
      <p:pic>
        <p:nvPicPr>
          <p:cNvPr id="7" name="Picture 6" descr="c_qr_evidence.png"/>
          <p:cNvPicPr>
            <a:picLocks noChangeAspect="1"/>
          </p:cNvPicPr>
          <p:nvPr/>
        </p:nvPicPr>
        <p:blipFill>
          <a:blip r:embed="rId2"/>
          <a:stretch>
            <a:fillRect/>
          </a:stretch>
        </p:blipFill>
        <p:spPr>
          <a:xfrm>
            <a:off x="6675120" y="1417320"/>
            <a:ext cx="5029200" cy="3265081"/>
          </a:xfrm>
          <a:prstGeom prst="rect">
            <a:avLst/>
          </a:prstGeom>
          <a:ln w="9525">
            <a:solidFill>
              <a:srgbClr val="E1E0D9"/>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4 · ỨNG DỤNG · DEMO</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Demo: email chỉ có ảnh + mã QR (quishing)</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13</a:t>
            </a:r>
          </a:p>
        </p:txBody>
      </p:sp>
      <p:pic>
        <p:nvPicPr>
          <p:cNvPr id="6" name="Picture 5" descr="s04_qr_m365_top.png"/>
          <p:cNvPicPr>
            <a:picLocks noChangeAspect="1"/>
          </p:cNvPicPr>
          <p:nvPr/>
        </p:nvPicPr>
        <p:blipFill>
          <a:blip r:embed="rId2"/>
          <a:stretch>
            <a:fillRect/>
          </a:stretch>
        </p:blipFill>
        <p:spPr>
          <a:xfrm>
            <a:off x="457200" y="1371600"/>
            <a:ext cx="7315200" cy="4572000"/>
          </a:xfrm>
          <a:prstGeom prst="rect">
            <a:avLst/>
          </a:prstGeom>
          <a:ln w="9525">
            <a:solidFill>
              <a:srgbClr val="E1E0D9"/>
            </a:solidFill>
          </a:ln>
        </p:spPr>
      </p:pic>
      <p:pic>
        <p:nvPicPr>
          <p:cNvPr id="7" name="Picture 6" descr="c_qr_figure.png"/>
          <p:cNvPicPr>
            <a:picLocks noChangeAspect="1"/>
          </p:cNvPicPr>
          <p:nvPr/>
        </p:nvPicPr>
        <p:blipFill>
          <a:blip r:embed="rId3"/>
          <a:stretch>
            <a:fillRect/>
          </a:stretch>
        </p:blipFill>
        <p:spPr>
          <a:xfrm>
            <a:off x="8046720" y="1371600"/>
            <a:ext cx="3657600" cy="3392905"/>
          </a:xfrm>
          <a:prstGeom prst="rect">
            <a:avLst/>
          </a:prstGeom>
          <a:ln w="9525">
            <a:solidFill>
              <a:srgbClr val="E1E0D9"/>
            </a:solidFill>
          </a:ln>
        </p:spPr>
      </p:pic>
      <p:sp>
        <p:nvSpPr>
          <p:cNvPr id="8" name="TextBox 7"/>
          <p:cNvSpPr txBox="1"/>
          <p:nvPr/>
        </p:nvSpPr>
        <p:spPr>
          <a:xfrm>
            <a:off x="8046720" y="5394960"/>
            <a:ext cx="3657600" cy="1097280"/>
          </a:xfrm>
          <a:prstGeom prst="rect">
            <a:avLst/>
          </a:prstGeom>
          <a:noFill/>
        </p:spPr>
        <p:txBody>
          <a:bodyPr wrap="square" anchor="t" lIns="45720" rIns="45720">
            <a:spAutoFit/>
          </a:bodyPr>
          <a:lstStyle/>
          <a:p>
            <a:pPr>
              <a:spcAft>
                <a:spcPts val="600"/>
              </a:spcAft>
            </a:pPr>
            <a:r>
              <a:rPr sz="1300" b="0" i="0">
                <a:solidFill>
                  <a:srgbClr val="52514E"/>
                </a:solidFill>
                <a:latin typeface="Arial"/>
              </a:rPr>
              <a:t>OCR đọc chữ tiếng Việt trong ảnh; QR giải mã ra link .click giả mạo → 98–100/100.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4 · ỨNG DỤNG · DEMO</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Demo: tệp đính kèm &amp; mạo danh thầy cô</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14</a:t>
            </a:r>
          </a:p>
        </p:txBody>
      </p:sp>
      <p:pic>
        <p:nvPicPr>
          <p:cNvPr id="6" name="Picture 5" descr="c_zip_att.png"/>
          <p:cNvPicPr>
            <a:picLocks noChangeAspect="1"/>
          </p:cNvPicPr>
          <p:nvPr/>
        </p:nvPicPr>
        <p:blipFill>
          <a:blip r:embed="rId2"/>
          <a:stretch>
            <a:fillRect/>
          </a:stretch>
        </p:blipFill>
        <p:spPr>
          <a:xfrm>
            <a:off x="457200" y="1371600"/>
            <a:ext cx="5669280" cy="2362200"/>
          </a:xfrm>
          <a:prstGeom prst="rect">
            <a:avLst/>
          </a:prstGeom>
          <a:ln w="9525">
            <a:solidFill>
              <a:srgbClr val="E1E0D9"/>
            </a:solidFill>
          </a:ln>
        </p:spPr>
      </p:pic>
      <p:sp>
        <p:nvSpPr>
          <p:cNvPr id="7" name="TextBox 6"/>
          <p:cNvSpPr txBox="1"/>
          <p:nvPr/>
        </p:nvSpPr>
        <p:spPr>
          <a:xfrm>
            <a:off x="457200" y="4754880"/>
            <a:ext cx="5669280" cy="1463040"/>
          </a:xfrm>
          <a:prstGeom prst="rect">
            <a:avLst/>
          </a:prstGeom>
          <a:noFill/>
        </p:spPr>
        <p:txBody>
          <a:bodyPr wrap="square" anchor="t" lIns="45720" rIns="45720">
            <a:spAutoFit/>
          </a:bodyPr>
          <a:lstStyle/>
          <a:p>
            <a:pPr>
              <a:spcAft>
                <a:spcPts val="600"/>
              </a:spcAft>
            </a:pPr>
            <a:r>
              <a:rPr sz="1300" b="0" i="0">
                <a:solidFill>
                  <a:srgbClr val="52514E"/>
                </a:solidFill>
                <a:latin typeface="Arial"/>
              </a:rPr>
              <a:t>ZIP có mật khẩu (né diệt virus) chứa HoaDon_T10.pdf.exe: hệ thống vẫn đọc được tên tệp bên trong → phát hiện đuôi kép + tệp chạy được. Tệp không bao giờ được mở.</a:t>
            </a:r>
          </a:p>
        </p:txBody>
      </p:sp>
      <p:pic>
        <p:nvPicPr>
          <p:cNvPr id="8" name="Picture 7" descr="s08_the_cao_top.png"/>
          <p:cNvPicPr>
            <a:picLocks noChangeAspect="1"/>
          </p:cNvPicPr>
          <p:nvPr/>
        </p:nvPicPr>
        <p:blipFill>
          <a:blip r:embed="rId3"/>
          <a:stretch>
            <a:fillRect/>
          </a:stretch>
        </p:blipFill>
        <p:spPr>
          <a:xfrm>
            <a:off x="6400800" y="1371600"/>
            <a:ext cx="5394960" cy="3371850"/>
          </a:xfrm>
          <a:prstGeom prst="rect">
            <a:avLst/>
          </a:prstGeom>
          <a:ln w="9525">
            <a:solidFill>
              <a:srgbClr val="E1E0D9"/>
            </a:solidFill>
          </a:ln>
        </p:spPr>
      </p:pic>
      <p:sp>
        <p:nvSpPr>
          <p:cNvPr id="9" name="TextBox 8"/>
          <p:cNvSpPr txBox="1"/>
          <p:nvPr/>
        </p:nvSpPr>
        <p:spPr>
          <a:xfrm>
            <a:off x="6400800" y="4754880"/>
            <a:ext cx="5394960" cy="1463040"/>
          </a:xfrm>
          <a:prstGeom prst="rect">
            <a:avLst/>
          </a:prstGeom>
          <a:noFill/>
        </p:spPr>
        <p:txBody>
          <a:bodyPr wrap="square" anchor="t" lIns="45720" rIns="45720">
            <a:spAutoFit/>
          </a:bodyPr>
          <a:lstStyle/>
          <a:p>
            <a:pPr>
              <a:spcAft>
                <a:spcPts val="600"/>
              </a:spcAft>
            </a:pPr>
            <a:r>
              <a:rPr sz="1300" b="0" i="0">
                <a:solidFill>
                  <a:srgbClr val="52514E"/>
                </a:solidFill>
                <a:latin typeface="Arial"/>
              </a:rPr>
              <a:t>“Thầy nhờ mua thẻ cào”: không link, không tệp. Mô hình văn bản chỉ cho 4%, nhưng hệ đa kênh chấm 78/100 nhờ tên hiển thị mạo danh + yêu cầu giữ bí mật + đòi mã thẻ.</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4 · ỨNG DỤNG · DEMO</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Demo: 12 email mẫu &amp; chế độ luyện tập</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15</a:t>
            </a:r>
          </a:p>
        </p:txBody>
      </p:sp>
      <p:graphicFrame>
        <p:nvGraphicFramePr>
          <p:cNvPr id="6" name="Table 5"/>
          <p:cNvGraphicFramePr>
            <a:graphicFrameLocks noGrp="1"/>
          </p:cNvGraphicFramePr>
          <p:nvPr/>
        </p:nvGraphicFramePr>
        <p:xfrm>
          <a:off x="457200" y="1325880"/>
          <a:ext cx="5486400" cy="4636008"/>
        </p:xfrm>
        <a:graphic>
          <a:graphicData uri="http://schemas.openxmlformats.org/drawingml/2006/table">
            <a:tbl>
              <a:tblPr firstRow="1" bandRow="1">
                <a:tableStyleId>{5C22544A-7EE6-4342-B048-85BDC9FD1C3A}</a:tableStyleId>
              </a:tblPr>
              <a:tblGrid>
                <a:gridCol w="3657600"/>
                <a:gridCol w="609600"/>
                <a:gridCol w="1219200"/>
              </a:tblGrid>
              <a:tr h="356616">
                <a:tc>
                  <a:txBody>
                    <a:bodyPr wrap="square"/>
                    <a:lstStyle/>
                    <a:p>
                      <a:r>
                        <a:rPr sz="1100" b="1" i="0">
                          <a:solidFill>
                            <a:srgbClr val="0B0B0B"/>
                          </a:solidFill>
                          <a:latin typeface="Arial"/>
                        </a:rPr>
                        <a:t>Email mẫu</a:t>
                      </a:r>
                    </a:p>
                  </a:txBody>
                  <a:tcPr marL="64008" marR="64008" marT="27432" marB="27432" anchor="ctr">
                    <a:solidFill>
                      <a:srgbClr val="CDE2FB"/>
                    </a:solidFill>
                  </a:tcPr>
                </a:tc>
                <a:tc>
                  <a:txBody>
                    <a:bodyPr wrap="square"/>
                    <a:lstStyle/>
                    <a:p>
                      <a:r>
                        <a:rPr sz="1100" b="1" i="0">
                          <a:solidFill>
                            <a:srgbClr val="0B0B0B"/>
                          </a:solidFill>
                          <a:latin typeface="Arial"/>
                        </a:rPr>
                        <a:t>Điểm</a:t>
                      </a:r>
                    </a:p>
                  </a:txBody>
                  <a:tcPr marL="64008" marR="64008" marT="27432" marB="27432" anchor="ctr">
                    <a:solidFill>
                      <a:srgbClr val="CDE2FB"/>
                    </a:solidFill>
                  </a:tcPr>
                </a:tc>
                <a:tc>
                  <a:txBody>
                    <a:bodyPr wrap="square"/>
                    <a:lstStyle/>
                    <a:p>
                      <a:r>
                        <a:rPr sz="1100" b="1" i="0">
                          <a:solidFill>
                            <a:srgbClr val="0B0B0B"/>
                          </a:solidFill>
                          <a:latin typeface="Arial"/>
                        </a:rPr>
                        <a:t>Mức</a:t>
                      </a:r>
                    </a:p>
                  </a:txBody>
                  <a:tcPr marL="64008" marR="64008" marT="27432" marB="27432" anchor="ctr">
                    <a:solidFill>
                      <a:srgbClr val="CDE2FB"/>
                    </a:solidFill>
                  </a:tcPr>
                </a:tc>
              </a:tr>
              <a:tr h="356616">
                <a:tc>
                  <a:txBody>
                    <a:bodyPr wrap="square"/>
                    <a:lstStyle/>
                    <a:p>
                      <a:r>
                        <a:rPr sz="1100" b="0" i="0">
                          <a:solidFill>
                            <a:srgbClr val="0B0B0B"/>
                          </a:solidFill>
                          <a:latin typeface="Arial"/>
                        </a:rPr>
                        <a:t>Lịch thi cuối kỳ (thật)</a:t>
                      </a:r>
                    </a:p>
                  </a:txBody>
                  <a:tcPr marL="64008" marR="64008" marT="27432" marB="27432" anchor="ctr">
                    <a:solidFill>
                      <a:srgbClr val="FFFFFF"/>
                    </a:solidFill>
                  </a:tcPr>
                </a:tc>
                <a:tc>
                  <a:txBody>
                    <a:bodyPr wrap="square"/>
                    <a:lstStyle/>
                    <a:p>
                      <a:r>
                        <a:rPr sz="1100" b="0" i="0">
                          <a:solidFill>
                            <a:srgbClr val="0B0B0B"/>
                          </a:solidFill>
                          <a:latin typeface="Arial"/>
                        </a:rPr>
                        <a:t>0</a:t>
                      </a:r>
                    </a:p>
                  </a:txBody>
                  <a:tcPr marL="64008" marR="64008" marT="27432" marB="27432" anchor="ctr">
                    <a:solidFill>
                      <a:srgbClr val="FFFFFF"/>
                    </a:solidFill>
                  </a:tcPr>
                </a:tc>
                <a:tc>
                  <a:txBody>
                    <a:bodyPr wrap="square"/>
                    <a:lstStyle/>
                    <a:p>
                      <a:r>
                        <a:rPr sz="1100" b="0" i="0">
                          <a:solidFill>
                            <a:srgbClr val="0CA30C"/>
                          </a:solidFill>
                          <a:latin typeface="Arial"/>
                        </a:rPr>
                        <a:t>An toàn</a:t>
                      </a:r>
                    </a:p>
                  </a:txBody>
                  <a:tcPr marL="64008" marR="64008" marT="27432" marB="27432" anchor="ctr">
                    <a:solidFill>
                      <a:srgbClr val="FFFFFF"/>
                    </a:solidFill>
                  </a:tcPr>
                </a:tc>
              </a:tr>
              <a:tr h="356616">
                <a:tc>
                  <a:txBody>
                    <a:bodyPr wrap="square"/>
                    <a:lstStyle/>
                    <a:p>
                      <a:r>
                        <a:rPr sz="1100" b="0" i="0">
                          <a:solidFill>
                            <a:srgbClr val="0B0B0B"/>
                          </a:solidFill>
                          <a:latin typeface="Arial"/>
                        </a:rPr>
                        <a:t>Tài khoản sẽ bị khóa (cổ điển)</a:t>
                      </a:r>
                    </a:p>
                  </a:txBody>
                  <a:tcPr marL="64008" marR="64008" marT="27432" marB="27432" anchor="ctr">
                    <a:solidFill>
                      <a:srgbClr val="F9F9F7"/>
                    </a:solidFill>
                  </a:tcPr>
                </a:tc>
                <a:tc>
                  <a:txBody>
                    <a:bodyPr wrap="square"/>
                    <a:lstStyle/>
                    <a:p>
                      <a:r>
                        <a:rPr sz="1100" b="0" i="0">
                          <a:solidFill>
                            <a:srgbClr val="0B0B0B"/>
                          </a:solidFill>
                          <a:latin typeface="Arial"/>
                        </a:rPr>
                        <a:t>100</a:t>
                      </a:r>
                    </a:p>
                  </a:txBody>
                  <a:tcPr marL="64008" marR="64008" marT="27432" marB="27432" anchor="ctr">
                    <a:solidFill>
                      <a:srgbClr val="F9F9F7"/>
                    </a:solidFill>
                  </a:tcPr>
                </a:tc>
                <a:tc>
                  <a:txBody>
                    <a:bodyPr wrap="square"/>
                    <a:lstStyle/>
                    <a:p>
                      <a:r>
                        <a:rPr sz="1100" b="0" i="0">
                          <a:solidFill>
                            <a:srgbClr val="D03B3B"/>
                          </a:solidFill>
                          <a:latin typeface="Arial"/>
                        </a:rPr>
                        <a:t>Rất nguy hiểm</a:t>
                      </a:r>
                    </a:p>
                  </a:txBody>
                  <a:tcPr marL="64008" marR="64008" marT="27432" marB="27432" anchor="ctr">
                    <a:solidFill>
                      <a:srgbClr val="F9F9F7"/>
                    </a:solidFill>
                  </a:tcPr>
                </a:tc>
              </a:tr>
              <a:tr h="356616">
                <a:tc>
                  <a:txBody>
                    <a:bodyPr wrap="square"/>
                    <a:lstStyle/>
                    <a:p>
                      <a:r>
                        <a:rPr sz="1100" b="0" i="0">
                          <a:solidFill>
                            <a:srgbClr val="0B0B0B"/>
                          </a:solidFill>
                          <a:latin typeface="Arial"/>
                        </a:rPr>
                        <a:t>Học bổng - viết trau chuốt kiểu LLM</a:t>
                      </a:r>
                    </a:p>
                  </a:txBody>
                  <a:tcPr marL="64008" marR="64008" marT="27432" marB="27432" anchor="ctr">
                    <a:solidFill>
                      <a:srgbClr val="FFFFFF"/>
                    </a:solidFill>
                  </a:tcPr>
                </a:tc>
                <a:tc>
                  <a:txBody>
                    <a:bodyPr wrap="square"/>
                    <a:lstStyle/>
                    <a:p>
                      <a:r>
                        <a:rPr sz="1100" b="0" i="0">
                          <a:solidFill>
                            <a:srgbClr val="0B0B0B"/>
                          </a:solidFill>
                          <a:latin typeface="Arial"/>
                        </a:rPr>
                        <a:t>94</a:t>
                      </a:r>
                    </a:p>
                  </a:txBody>
                  <a:tcPr marL="64008" marR="64008" marT="27432" marB="27432" anchor="ctr">
                    <a:solidFill>
                      <a:srgbClr val="FFFFFF"/>
                    </a:solidFill>
                  </a:tcPr>
                </a:tc>
                <a:tc>
                  <a:txBody>
                    <a:bodyPr wrap="square"/>
                    <a:lstStyle/>
                    <a:p>
                      <a:r>
                        <a:rPr sz="1100" b="0" i="0">
                          <a:solidFill>
                            <a:srgbClr val="D03B3B"/>
                          </a:solidFill>
                          <a:latin typeface="Arial"/>
                        </a:rPr>
                        <a:t>Rất nguy hiểm</a:t>
                      </a:r>
                    </a:p>
                  </a:txBody>
                  <a:tcPr marL="64008" marR="64008" marT="27432" marB="27432" anchor="ctr">
                    <a:solidFill>
                      <a:srgbClr val="FFFFFF"/>
                    </a:solidFill>
                  </a:tcPr>
                </a:tc>
              </a:tr>
              <a:tr h="356616">
                <a:tc>
                  <a:txBody>
                    <a:bodyPr wrap="square"/>
                    <a:lstStyle/>
                    <a:p>
                      <a:r>
                        <a:rPr sz="1100" b="0" i="0">
                          <a:solidFill>
                            <a:srgbClr val="0B0B0B"/>
                          </a:solidFill>
                          <a:latin typeface="Arial"/>
                        </a:rPr>
                        <a:t>Chỉ có ảnh + mã QR</a:t>
                      </a:r>
                    </a:p>
                  </a:txBody>
                  <a:tcPr marL="64008" marR="64008" marT="27432" marB="27432" anchor="ctr">
                    <a:solidFill>
                      <a:srgbClr val="F9F9F7"/>
                    </a:solidFill>
                  </a:tcPr>
                </a:tc>
                <a:tc>
                  <a:txBody>
                    <a:bodyPr wrap="square"/>
                    <a:lstStyle/>
                    <a:p>
                      <a:r>
                        <a:rPr sz="1100" b="0" i="0">
                          <a:solidFill>
                            <a:srgbClr val="0B0B0B"/>
                          </a:solidFill>
                          <a:latin typeface="Arial"/>
                        </a:rPr>
                        <a:t>98</a:t>
                      </a:r>
                    </a:p>
                  </a:txBody>
                  <a:tcPr marL="64008" marR="64008" marT="27432" marB="27432" anchor="ctr">
                    <a:solidFill>
                      <a:srgbClr val="F9F9F7"/>
                    </a:solidFill>
                  </a:tcPr>
                </a:tc>
                <a:tc>
                  <a:txBody>
                    <a:bodyPr wrap="square"/>
                    <a:lstStyle/>
                    <a:p>
                      <a:r>
                        <a:rPr sz="1100" b="0" i="0">
                          <a:solidFill>
                            <a:srgbClr val="D03B3B"/>
                          </a:solidFill>
                          <a:latin typeface="Arial"/>
                        </a:rPr>
                        <a:t>Rất nguy hiểm</a:t>
                      </a:r>
                    </a:p>
                  </a:txBody>
                  <a:tcPr marL="64008" marR="64008" marT="27432" marB="27432" anchor="ctr">
                    <a:solidFill>
                      <a:srgbClr val="F9F9F7"/>
                    </a:solidFill>
                  </a:tcPr>
                </a:tc>
              </a:tr>
              <a:tr h="356616">
                <a:tc>
                  <a:txBody>
                    <a:bodyPr wrap="square"/>
                    <a:lstStyle/>
                    <a:p>
                      <a:r>
                        <a:rPr sz="1100" b="0" i="0">
                          <a:solidFill>
                            <a:srgbClr val="0B0B0B"/>
                          </a:solidFill>
                          <a:latin typeface="Arial"/>
                        </a:rPr>
                        <a:t>Biên lai học phí (tệp HTML)</a:t>
                      </a:r>
                    </a:p>
                  </a:txBody>
                  <a:tcPr marL="64008" marR="64008" marT="27432" marB="27432" anchor="ctr">
                    <a:solidFill>
                      <a:srgbClr val="FFFFFF"/>
                    </a:solidFill>
                  </a:tcPr>
                </a:tc>
                <a:tc>
                  <a:txBody>
                    <a:bodyPr wrap="square"/>
                    <a:lstStyle/>
                    <a:p>
                      <a:r>
                        <a:rPr sz="1100" b="0" i="0">
                          <a:solidFill>
                            <a:srgbClr val="0B0B0B"/>
                          </a:solidFill>
                          <a:latin typeface="Arial"/>
                        </a:rPr>
                        <a:t>100</a:t>
                      </a:r>
                    </a:p>
                  </a:txBody>
                  <a:tcPr marL="64008" marR="64008" marT="27432" marB="27432" anchor="ctr">
                    <a:solidFill>
                      <a:srgbClr val="FFFFFF"/>
                    </a:solidFill>
                  </a:tcPr>
                </a:tc>
                <a:tc>
                  <a:txBody>
                    <a:bodyPr wrap="square"/>
                    <a:lstStyle/>
                    <a:p>
                      <a:r>
                        <a:rPr sz="1100" b="0" i="0">
                          <a:solidFill>
                            <a:srgbClr val="D03B3B"/>
                          </a:solidFill>
                          <a:latin typeface="Arial"/>
                        </a:rPr>
                        <a:t>Rất nguy hiểm</a:t>
                      </a:r>
                    </a:p>
                  </a:txBody>
                  <a:tcPr marL="64008" marR="64008" marT="27432" marB="27432" anchor="ctr">
                    <a:solidFill>
                      <a:srgbClr val="FFFFFF"/>
                    </a:solidFill>
                  </a:tcPr>
                </a:tc>
              </a:tr>
              <a:tr h="356616">
                <a:tc>
                  <a:txBody>
                    <a:bodyPr wrap="square"/>
                    <a:lstStyle/>
                    <a:p>
                      <a:r>
                        <a:rPr sz="1100" b="0" i="0">
                          <a:solidFill>
                            <a:srgbClr val="0B0B0B"/>
                          </a:solidFill>
                          <a:latin typeface="Arial"/>
                        </a:rPr>
                        <a:t>Danh sách cảnh cáo (Word macro)</a:t>
                      </a:r>
                    </a:p>
                  </a:txBody>
                  <a:tcPr marL="64008" marR="64008" marT="27432" marB="27432" anchor="ctr">
                    <a:solidFill>
                      <a:srgbClr val="F9F9F7"/>
                    </a:solidFill>
                  </a:tcPr>
                </a:tc>
                <a:tc>
                  <a:txBody>
                    <a:bodyPr wrap="square"/>
                    <a:lstStyle/>
                    <a:p>
                      <a:r>
                        <a:rPr sz="1100" b="0" i="0">
                          <a:solidFill>
                            <a:srgbClr val="0B0B0B"/>
                          </a:solidFill>
                          <a:latin typeface="Arial"/>
                        </a:rPr>
                        <a:t>100</a:t>
                      </a:r>
                    </a:p>
                  </a:txBody>
                  <a:tcPr marL="64008" marR="64008" marT="27432" marB="27432" anchor="ctr">
                    <a:solidFill>
                      <a:srgbClr val="F9F9F7"/>
                    </a:solidFill>
                  </a:tcPr>
                </a:tc>
                <a:tc>
                  <a:txBody>
                    <a:bodyPr wrap="square"/>
                    <a:lstStyle/>
                    <a:p>
                      <a:r>
                        <a:rPr sz="1100" b="0" i="0">
                          <a:solidFill>
                            <a:srgbClr val="D03B3B"/>
                          </a:solidFill>
                          <a:latin typeface="Arial"/>
                        </a:rPr>
                        <a:t>Rất nguy hiểm</a:t>
                      </a:r>
                    </a:p>
                  </a:txBody>
                  <a:tcPr marL="64008" marR="64008" marT="27432" marB="27432" anchor="ctr">
                    <a:solidFill>
                      <a:srgbClr val="F9F9F7"/>
                    </a:solidFill>
                  </a:tcPr>
                </a:tc>
              </a:tr>
              <a:tr h="356616">
                <a:tc>
                  <a:txBody>
                    <a:bodyPr wrap="square"/>
                    <a:lstStyle/>
                    <a:p>
                      <a:r>
                        <a:rPr sz="1100" b="0" i="0">
                          <a:solidFill>
                            <a:srgbClr val="0B0B0B"/>
                          </a:solidFill>
                          <a:latin typeface="Arial"/>
                        </a:rPr>
                        <a:t>Hóa đơn (ZIP mật khẩu, .pdf.exe)</a:t>
                      </a:r>
                    </a:p>
                  </a:txBody>
                  <a:tcPr marL="64008" marR="64008" marT="27432" marB="27432" anchor="ctr">
                    <a:solidFill>
                      <a:srgbClr val="FFFFFF"/>
                    </a:solidFill>
                  </a:tcPr>
                </a:tc>
                <a:tc>
                  <a:txBody>
                    <a:bodyPr wrap="square"/>
                    <a:lstStyle/>
                    <a:p>
                      <a:r>
                        <a:rPr sz="1100" b="0" i="0">
                          <a:solidFill>
                            <a:srgbClr val="0B0B0B"/>
                          </a:solidFill>
                          <a:latin typeface="Arial"/>
                        </a:rPr>
                        <a:t>100</a:t>
                      </a:r>
                    </a:p>
                  </a:txBody>
                  <a:tcPr marL="64008" marR="64008" marT="27432" marB="27432" anchor="ctr">
                    <a:solidFill>
                      <a:srgbClr val="FFFFFF"/>
                    </a:solidFill>
                  </a:tcPr>
                </a:tc>
                <a:tc>
                  <a:txBody>
                    <a:bodyPr wrap="square"/>
                    <a:lstStyle/>
                    <a:p>
                      <a:r>
                        <a:rPr sz="1100" b="0" i="0">
                          <a:solidFill>
                            <a:srgbClr val="D03B3B"/>
                          </a:solidFill>
                          <a:latin typeface="Arial"/>
                        </a:rPr>
                        <a:t>Rất nguy hiểm</a:t>
                      </a:r>
                    </a:p>
                  </a:txBody>
                  <a:tcPr marL="64008" marR="64008" marT="27432" marB="27432" anchor="ctr">
                    <a:solidFill>
                      <a:srgbClr val="FFFFFF"/>
                    </a:solidFill>
                  </a:tcPr>
                </a:tc>
              </a:tr>
              <a:tr h="356616">
                <a:tc>
                  <a:txBody>
                    <a:bodyPr wrap="square"/>
                    <a:lstStyle/>
                    <a:p>
                      <a:r>
                        <a:rPr sz="1100" b="0" i="0">
                          <a:solidFill>
                            <a:srgbClr val="0B0B0B"/>
                          </a:solidFill>
                          <a:latin typeface="Arial"/>
                        </a:rPr>
                        <a:t>Thầy nhờ mua thẻ cào (BEC)</a:t>
                      </a:r>
                    </a:p>
                  </a:txBody>
                  <a:tcPr marL="64008" marR="64008" marT="27432" marB="27432" anchor="ctr">
                    <a:solidFill>
                      <a:srgbClr val="F9F9F7"/>
                    </a:solidFill>
                  </a:tcPr>
                </a:tc>
                <a:tc>
                  <a:txBody>
                    <a:bodyPr wrap="square"/>
                    <a:lstStyle/>
                    <a:p>
                      <a:r>
                        <a:rPr sz="1100" b="0" i="0">
                          <a:solidFill>
                            <a:srgbClr val="0B0B0B"/>
                          </a:solidFill>
                          <a:latin typeface="Arial"/>
                        </a:rPr>
                        <a:t>78</a:t>
                      </a:r>
                    </a:p>
                  </a:txBody>
                  <a:tcPr marL="64008" marR="64008" marT="27432" marB="27432" anchor="ctr">
                    <a:solidFill>
                      <a:srgbClr val="F9F9F7"/>
                    </a:solidFill>
                  </a:tcPr>
                </a:tc>
                <a:tc>
                  <a:txBody>
                    <a:bodyPr wrap="square"/>
                    <a:lstStyle/>
                    <a:p>
                      <a:r>
                        <a:rPr sz="1100" b="0" i="0">
                          <a:solidFill>
                            <a:srgbClr val="D03B3B"/>
                          </a:solidFill>
                          <a:latin typeface="Arial"/>
                        </a:rPr>
                        <a:t>Rất nguy hiểm</a:t>
                      </a:r>
                    </a:p>
                  </a:txBody>
                  <a:tcPr marL="64008" marR="64008" marT="27432" marB="27432" anchor="ctr">
                    <a:solidFill>
                      <a:srgbClr val="F9F9F7"/>
                    </a:solidFill>
                  </a:tcPr>
                </a:tc>
              </a:tr>
              <a:tr h="356616">
                <a:tc>
                  <a:txBody>
                    <a:bodyPr wrap="square"/>
                    <a:lstStyle/>
                    <a:p>
                      <a:r>
                        <a:rPr sz="1100" b="0" i="0">
                          <a:solidFill>
                            <a:srgbClr val="0B0B0B"/>
                          </a:solidFill>
                          <a:latin typeface="Arial"/>
                        </a:rPr>
                        <a:t>Workshop CLB (poster + QR, thật)</a:t>
                      </a:r>
                    </a:p>
                  </a:txBody>
                  <a:tcPr marL="64008" marR="64008" marT="27432" marB="27432" anchor="ctr">
                    <a:solidFill>
                      <a:srgbClr val="FFFFFF"/>
                    </a:solidFill>
                  </a:tcPr>
                </a:tc>
                <a:tc>
                  <a:txBody>
                    <a:bodyPr wrap="square"/>
                    <a:lstStyle/>
                    <a:p>
                      <a:r>
                        <a:rPr sz="1100" b="0" i="0">
                          <a:solidFill>
                            <a:srgbClr val="0B0B0B"/>
                          </a:solidFill>
                          <a:latin typeface="Arial"/>
                        </a:rPr>
                        <a:t>5</a:t>
                      </a:r>
                    </a:p>
                  </a:txBody>
                  <a:tcPr marL="64008" marR="64008" marT="27432" marB="27432" anchor="ctr">
                    <a:solidFill>
                      <a:srgbClr val="FFFFFF"/>
                    </a:solidFill>
                  </a:tcPr>
                </a:tc>
                <a:tc>
                  <a:txBody>
                    <a:bodyPr wrap="square"/>
                    <a:lstStyle/>
                    <a:p>
                      <a:r>
                        <a:rPr sz="1100" b="0" i="0">
                          <a:solidFill>
                            <a:srgbClr val="0CA30C"/>
                          </a:solidFill>
                          <a:latin typeface="Arial"/>
                        </a:rPr>
                        <a:t>An toàn</a:t>
                      </a:r>
                    </a:p>
                  </a:txBody>
                  <a:tcPr marL="64008" marR="64008" marT="27432" marB="27432" anchor="ctr">
                    <a:solidFill>
                      <a:srgbClr val="FFFFFF"/>
                    </a:solidFill>
                  </a:tcPr>
                </a:tc>
              </a:tr>
              <a:tr h="356616">
                <a:tc>
                  <a:txBody>
                    <a:bodyPr wrap="square"/>
                    <a:lstStyle/>
                    <a:p>
                      <a:r>
                        <a:rPr sz="1100" b="0" i="0">
                          <a:solidFill>
                            <a:srgbClr val="0B0B0B"/>
                          </a:solidFill>
                          <a:latin typeface="Arial"/>
                        </a:rPr>
                        <a:t>Điều chỉnh học phí (giả mạo tên miền trường, PDF JS)</a:t>
                      </a:r>
                    </a:p>
                  </a:txBody>
                  <a:tcPr marL="64008" marR="64008" marT="27432" marB="27432" anchor="ctr">
                    <a:solidFill>
                      <a:srgbClr val="F9F9F7"/>
                    </a:solidFill>
                  </a:tcPr>
                </a:tc>
                <a:tc>
                  <a:txBody>
                    <a:bodyPr wrap="square"/>
                    <a:lstStyle/>
                    <a:p>
                      <a:r>
                        <a:rPr sz="1100" b="0" i="0">
                          <a:solidFill>
                            <a:srgbClr val="0B0B0B"/>
                          </a:solidFill>
                          <a:latin typeface="Arial"/>
                        </a:rPr>
                        <a:t>97</a:t>
                      </a:r>
                    </a:p>
                  </a:txBody>
                  <a:tcPr marL="64008" marR="64008" marT="27432" marB="27432" anchor="ctr">
                    <a:solidFill>
                      <a:srgbClr val="F9F9F7"/>
                    </a:solidFill>
                  </a:tcPr>
                </a:tc>
                <a:tc>
                  <a:txBody>
                    <a:bodyPr wrap="square"/>
                    <a:lstStyle/>
                    <a:p>
                      <a:r>
                        <a:rPr sz="1100" b="0" i="0">
                          <a:solidFill>
                            <a:srgbClr val="D03B3B"/>
                          </a:solidFill>
                          <a:latin typeface="Arial"/>
                        </a:rPr>
                        <a:t>Rất nguy hiểm</a:t>
                      </a:r>
                    </a:p>
                  </a:txBody>
                  <a:tcPr marL="64008" marR="64008" marT="27432" marB="27432" anchor="ctr">
                    <a:solidFill>
                      <a:srgbClr val="F9F9F7"/>
                    </a:solidFill>
                  </a:tcPr>
                </a:tc>
              </a:tr>
              <a:tr h="356616">
                <a:tc>
                  <a:txBody>
                    <a:bodyPr wrap="square"/>
                    <a:lstStyle/>
                    <a:p>
                      <a:r>
                        <a:rPr sz="1100" b="0" i="0">
                          <a:solidFill>
                            <a:srgbClr val="0B0B0B"/>
                          </a:solidFill>
                          <a:latin typeface="Arial"/>
                        </a:rPr>
                        <a:t>Microsoft 365 password (English)</a:t>
                      </a:r>
                    </a:p>
                  </a:txBody>
                  <a:tcPr marL="64008" marR="64008" marT="27432" marB="27432" anchor="ctr">
                    <a:solidFill>
                      <a:srgbClr val="FFFFFF"/>
                    </a:solidFill>
                  </a:tcPr>
                </a:tc>
                <a:tc>
                  <a:txBody>
                    <a:bodyPr wrap="square"/>
                    <a:lstStyle/>
                    <a:p>
                      <a:r>
                        <a:rPr sz="1100" b="0" i="0">
                          <a:solidFill>
                            <a:srgbClr val="0B0B0B"/>
                          </a:solidFill>
                          <a:latin typeface="Arial"/>
                        </a:rPr>
                        <a:t>99</a:t>
                      </a:r>
                    </a:p>
                  </a:txBody>
                  <a:tcPr marL="64008" marR="64008" marT="27432" marB="27432" anchor="ctr">
                    <a:solidFill>
                      <a:srgbClr val="FFFFFF"/>
                    </a:solidFill>
                  </a:tcPr>
                </a:tc>
                <a:tc>
                  <a:txBody>
                    <a:bodyPr wrap="square"/>
                    <a:lstStyle/>
                    <a:p>
                      <a:r>
                        <a:rPr sz="1100" b="0" i="0">
                          <a:solidFill>
                            <a:srgbClr val="D03B3B"/>
                          </a:solidFill>
                          <a:latin typeface="Arial"/>
                        </a:rPr>
                        <a:t>Rất nguy hiểm</a:t>
                      </a:r>
                    </a:p>
                  </a:txBody>
                  <a:tcPr marL="64008" marR="64008" marT="27432" marB="27432" anchor="ctr">
                    <a:solidFill>
                      <a:srgbClr val="FFFFFF"/>
                    </a:solidFill>
                  </a:tcPr>
                </a:tc>
              </a:tr>
              <a:tr h="356616">
                <a:tc>
                  <a:txBody>
                    <a:bodyPr wrap="square"/>
                    <a:lstStyle/>
                    <a:p>
                      <a:r>
                        <a:rPr sz="1100" b="0" i="0">
                          <a:solidFill>
                            <a:srgbClr val="0B0B0B"/>
                          </a:solidFill>
                          <a:latin typeface="Arial"/>
                        </a:rPr>
                        <a:t>Bảo trì email (thật, có chữ 'mật khẩu')</a:t>
                      </a:r>
                    </a:p>
                  </a:txBody>
                  <a:tcPr marL="64008" marR="64008" marT="27432" marB="27432" anchor="ctr">
                    <a:solidFill>
                      <a:srgbClr val="F9F9F7"/>
                    </a:solidFill>
                  </a:tcPr>
                </a:tc>
                <a:tc>
                  <a:txBody>
                    <a:bodyPr wrap="square"/>
                    <a:lstStyle/>
                    <a:p>
                      <a:r>
                        <a:rPr sz="1100" b="0" i="0">
                          <a:solidFill>
                            <a:srgbClr val="0B0B0B"/>
                          </a:solidFill>
                          <a:latin typeface="Arial"/>
                        </a:rPr>
                        <a:t>7</a:t>
                      </a:r>
                    </a:p>
                  </a:txBody>
                  <a:tcPr marL="64008" marR="64008" marT="27432" marB="27432" anchor="ctr">
                    <a:solidFill>
                      <a:srgbClr val="F9F9F7"/>
                    </a:solidFill>
                  </a:tcPr>
                </a:tc>
                <a:tc>
                  <a:txBody>
                    <a:bodyPr wrap="square"/>
                    <a:lstStyle/>
                    <a:p>
                      <a:r>
                        <a:rPr sz="1100" b="0" i="0">
                          <a:solidFill>
                            <a:srgbClr val="0CA30C"/>
                          </a:solidFill>
                          <a:latin typeface="Arial"/>
                        </a:rPr>
                        <a:t>An toàn</a:t>
                      </a:r>
                    </a:p>
                  </a:txBody>
                  <a:tcPr marL="64008" marR="64008" marT="27432" marB="27432" anchor="ctr">
                    <a:solidFill>
                      <a:srgbClr val="F9F9F7"/>
                    </a:solidFill>
                  </a:tcPr>
                </a:tc>
              </a:tr>
            </a:tbl>
          </a:graphicData>
        </a:graphic>
      </p:graphicFrame>
      <p:pic>
        <p:nvPicPr>
          <p:cNvPr id="7" name="Picture 6" descr="quiz_a.png"/>
          <p:cNvPicPr>
            <a:picLocks noChangeAspect="1"/>
          </p:cNvPicPr>
          <p:nvPr/>
        </p:nvPicPr>
        <p:blipFill>
          <a:blip r:embed="rId2"/>
          <a:stretch>
            <a:fillRect/>
          </a:stretch>
        </p:blipFill>
        <p:spPr>
          <a:xfrm>
            <a:off x="6217920" y="1325880"/>
            <a:ext cx="5577840" cy="3677242"/>
          </a:xfrm>
          <a:prstGeom prst="rect">
            <a:avLst/>
          </a:prstGeom>
          <a:ln w="9525">
            <a:solidFill>
              <a:srgbClr val="E1E0D9"/>
            </a:solidFill>
          </a:ln>
        </p:spPr>
      </p:pic>
      <p:sp>
        <p:nvSpPr>
          <p:cNvPr id="8" name="TextBox 7"/>
          <p:cNvSpPr txBox="1"/>
          <p:nvPr/>
        </p:nvSpPr>
        <p:spPr>
          <a:xfrm>
            <a:off x="6217920" y="5623560"/>
            <a:ext cx="5577840" cy="822960"/>
          </a:xfrm>
          <a:prstGeom prst="rect">
            <a:avLst/>
          </a:prstGeom>
          <a:noFill/>
        </p:spPr>
        <p:txBody>
          <a:bodyPr wrap="square" anchor="t" lIns="45720" rIns="45720">
            <a:spAutoFit/>
          </a:bodyPr>
          <a:lstStyle/>
          <a:p>
            <a:pPr>
              <a:spcAft>
                <a:spcPts val="600"/>
              </a:spcAft>
            </a:pPr>
            <a:r>
              <a:rPr sz="1300" b="0" i="0">
                <a:solidFill>
                  <a:srgbClr val="52514E"/>
                </a:solidFill>
                <a:latin typeface="Arial"/>
              </a:rPr>
              <a:t>Luyện tập: tự đoán trước → xem đáp án, phân tích và bài học; có bảng điểm, chuỗi đúng.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5 · ĐÁNH GIÁ</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Đánh giá độ bền: thiết kế thí nghiệm</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16</a:t>
            </a:r>
          </a:p>
        </p:txBody>
      </p:sp>
      <p:sp>
        <p:nvSpPr>
          <p:cNvPr id="6" name="TextBox 5"/>
          <p:cNvSpPr txBox="1"/>
          <p:nvPr/>
        </p:nvSpPr>
        <p:spPr>
          <a:xfrm>
            <a:off x="548640" y="1325880"/>
            <a:ext cx="11155680" cy="822960"/>
          </a:xfrm>
          <a:prstGeom prst="rect">
            <a:avLst/>
          </a:prstGeom>
          <a:noFill/>
        </p:spPr>
        <p:txBody>
          <a:bodyPr wrap="square" anchor="t" lIns="45720" rIns="45720">
            <a:spAutoFit/>
          </a:bodyPr>
          <a:lstStyle/>
          <a:p>
            <a:pPr>
              <a:spcAft>
                <a:spcPts val="600"/>
              </a:spcAft>
            </a:pPr>
            <a:r>
              <a:rPr sz="1600" b="0" i="0">
                <a:solidFill>
                  <a:srgbClr val="52514E"/>
                </a:solidFill>
                <a:latin typeface="Arial"/>
              </a:rPr>
              <a:t>Câu hỏi: khi kẻ tấn công dùng AI viết lại email, hoặc chuyển thông điệp vào ảnh, mã QR, tệp đính kèm, bộ phát hiện còn bắt được bao nhiêu? Có báo nhầm email hợp lệ không?</a:t>
            </a:r>
          </a:p>
        </p:txBody>
      </p:sp>
      <p:graphicFrame>
        <p:nvGraphicFramePr>
          <p:cNvPr id="7" name="Table 6"/>
          <p:cNvGraphicFramePr>
            <a:graphicFrameLocks noGrp="1"/>
          </p:cNvGraphicFramePr>
          <p:nvPr/>
        </p:nvGraphicFramePr>
        <p:xfrm>
          <a:off x="548640" y="2286000"/>
          <a:ext cx="6583680" cy="3072384"/>
        </p:xfrm>
        <a:graphic>
          <a:graphicData uri="http://schemas.openxmlformats.org/drawingml/2006/table">
            <a:tbl>
              <a:tblPr firstRow="1" bandRow="1">
                <a:tableStyleId>{5C22544A-7EE6-4342-B048-85BDC9FD1C3A}</a:tableStyleId>
              </a:tblPr>
              <a:tblGrid>
                <a:gridCol w="1828800"/>
                <a:gridCol w="4754880"/>
              </a:tblGrid>
              <a:tr h="438912">
                <a:tc>
                  <a:txBody>
                    <a:bodyPr wrap="square"/>
                    <a:lstStyle/>
                    <a:p>
                      <a:r>
                        <a:rPr sz="1300" b="1" i="0">
                          <a:solidFill>
                            <a:srgbClr val="0B0B0B"/>
                          </a:solidFill>
                          <a:latin typeface="Arial"/>
                        </a:rPr>
                        <a:t>Kịch bản</a:t>
                      </a:r>
                    </a:p>
                  </a:txBody>
                  <a:tcPr marL="64008" marR="64008" marT="27432" marB="27432" anchor="ctr">
                    <a:solidFill>
                      <a:srgbClr val="CDE2FB"/>
                    </a:solidFill>
                  </a:tcPr>
                </a:tc>
                <a:tc>
                  <a:txBody>
                    <a:bodyPr wrap="square"/>
                    <a:lstStyle/>
                    <a:p>
                      <a:r>
                        <a:rPr sz="1300" b="1" i="0">
                          <a:solidFill>
                            <a:srgbClr val="0B0B0B"/>
                          </a:solidFill>
                          <a:latin typeface="Arial"/>
                        </a:rPr>
                        <a:t>Mô tả</a:t>
                      </a:r>
                    </a:p>
                  </a:txBody>
                  <a:tcPr marL="64008" marR="64008" marT="27432" marB="27432" anchor="ctr">
                    <a:solidFill>
                      <a:srgbClr val="CDE2FB"/>
                    </a:solidFill>
                  </a:tcPr>
                </a:tc>
              </a:tr>
              <a:tr h="438912">
                <a:tc>
                  <a:txBody>
                    <a:bodyPr wrap="square"/>
                    <a:lstStyle/>
                    <a:p>
                      <a:r>
                        <a:rPr sz="1300" b="1" i="0">
                          <a:solidFill>
                            <a:srgbClr val="0B0B0B"/>
                          </a:solidFill>
                          <a:latin typeface="Arial"/>
                        </a:rPr>
                        <a:t>Gốc (văn bản)</a:t>
                      </a:r>
                    </a:p>
                  </a:txBody>
                  <a:tcPr marL="64008" marR="64008" marT="27432" marB="27432" anchor="ctr">
                    <a:solidFill>
                      <a:srgbClr val="FFFFFF"/>
                    </a:solidFill>
                  </a:tcPr>
                </a:tc>
                <a:tc>
                  <a:txBody>
                    <a:bodyPr wrap="square"/>
                    <a:lstStyle/>
                    <a:p>
                      <a:r>
                        <a:rPr sz="1300" b="0" i="0">
                          <a:solidFill>
                            <a:srgbClr val="0B0B0B"/>
                          </a:solidFill>
                          <a:latin typeface="Arial"/>
                        </a:rPr>
                        <a:t>email lừa đảo nguyên bản trong thân thư</a:t>
                      </a:r>
                    </a:p>
                  </a:txBody>
                  <a:tcPr marL="64008" marR="64008" marT="27432" marB="27432" anchor="ctr">
                    <a:solidFill>
                      <a:srgbClr val="FFFFFF"/>
                    </a:solidFill>
                  </a:tcPr>
                </a:tc>
              </a:tr>
              <a:tr h="438912">
                <a:tc>
                  <a:txBody>
                    <a:bodyPr wrap="square"/>
                    <a:lstStyle/>
                    <a:p>
                      <a:r>
                        <a:rPr sz="1300" b="1" i="0">
                          <a:solidFill>
                            <a:srgbClr val="0B0B0B"/>
                          </a:solidFill>
                          <a:latin typeface="Arial"/>
                        </a:rPr>
                        <a:t>LLM viết lại</a:t>
                      </a:r>
                    </a:p>
                  </a:txBody>
                  <a:tcPr marL="64008" marR="64008" marT="27432" marB="27432" anchor="ctr">
                    <a:solidFill>
                      <a:srgbClr val="F9F9F7"/>
                    </a:solidFill>
                  </a:tcPr>
                </a:tc>
                <a:tc>
                  <a:txBody>
                    <a:bodyPr wrap="square"/>
                    <a:lstStyle/>
                    <a:p>
                      <a:r>
                        <a:rPr sz="1300" b="0" i="0">
                          <a:solidFill>
                            <a:srgbClr val="0B0B0B"/>
                          </a:solidFill>
                          <a:latin typeface="Arial"/>
                        </a:rPr>
                        <a:t>paraphrase + masking + personalization</a:t>
                      </a:r>
                    </a:p>
                  </a:txBody>
                  <a:tcPr marL="64008" marR="64008" marT="27432" marB="27432" anchor="ctr">
                    <a:solidFill>
                      <a:srgbClr val="F9F9F7"/>
                    </a:solidFill>
                  </a:tcPr>
                </a:tc>
              </a:tr>
              <a:tr h="438912">
                <a:tc>
                  <a:txBody>
                    <a:bodyPr wrap="square"/>
                    <a:lstStyle/>
                    <a:p>
                      <a:r>
                        <a:rPr sz="1300" b="1" i="0">
                          <a:solidFill>
                            <a:srgbClr val="0B0B0B"/>
                          </a:solidFill>
                          <a:latin typeface="Arial"/>
                        </a:rPr>
                        <a:t>Chuyển vào ảnh</a:t>
                      </a:r>
                    </a:p>
                  </a:txBody>
                  <a:tcPr marL="64008" marR="64008" marT="27432" marB="27432" anchor="ctr">
                    <a:solidFill>
                      <a:srgbClr val="FFFFFF"/>
                    </a:solidFill>
                  </a:tcPr>
                </a:tc>
                <a:tc>
                  <a:txBody>
                    <a:bodyPr wrap="square"/>
                    <a:lstStyle/>
                    <a:p>
                      <a:r>
                        <a:rPr sz="1300" b="0" i="0">
                          <a:solidFill>
                            <a:srgbClr val="0B0B0B"/>
                          </a:solidFill>
                          <a:latin typeface="Arial"/>
                        </a:rPr>
                        <a:t>nội dung (đã viết lại) được đặt trong ảnh, thân thư gần như trống</a:t>
                      </a:r>
                    </a:p>
                  </a:txBody>
                  <a:tcPr marL="64008" marR="64008" marT="27432" marB="27432" anchor="ctr">
                    <a:solidFill>
                      <a:srgbClr val="FFFFFF"/>
                    </a:solidFill>
                  </a:tcPr>
                </a:tc>
              </a:tr>
              <a:tr h="438912">
                <a:tc>
                  <a:txBody>
                    <a:bodyPr wrap="square"/>
                    <a:lstStyle/>
                    <a:p>
                      <a:r>
                        <a:rPr sz="1300" b="1" i="0">
                          <a:solidFill>
                            <a:srgbClr val="0B0B0B"/>
                          </a:solidFill>
                          <a:latin typeface="Arial"/>
                        </a:rPr>
                        <a:t>Ảnh + mã QR</a:t>
                      </a:r>
                    </a:p>
                  </a:txBody>
                  <a:tcPr marL="64008" marR="64008" marT="27432" marB="27432" anchor="ctr">
                    <a:solidFill>
                      <a:srgbClr val="F9F9F7"/>
                    </a:solidFill>
                  </a:tcPr>
                </a:tc>
                <a:tc>
                  <a:txBody>
                    <a:bodyPr wrap="square"/>
                    <a:lstStyle/>
                    <a:p>
                      <a:r>
                        <a:rPr sz="1300" b="0" i="0">
                          <a:solidFill>
                            <a:srgbClr val="0B0B0B"/>
                          </a:solidFill>
                          <a:latin typeface="Arial"/>
                        </a:rPr>
                        <a:t>như trên, liên kết được giấu trong mã QR</a:t>
                      </a:r>
                    </a:p>
                  </a:txBody>
                  <a:tcPr marL="64008" marR="64008" marT="27432" marB="27432" anchor="ctr">
                    <a:solidFill>
                      <a:srgbClr val="F9F9F7"/>
                    </a:solidFill>
                  </a:tcPr>
                </a:tc>
              </a:tr>
              <a:tr h="438912">
                <a:tc>
                  <a:txBody>
                    <a:bodyPr wrap="square"/>
                    <a:lstStyle/>
                    <a:p>
                      <a:r>
                        <a:rPr sz="1300" b="1" i="0">
                          <a:solidFill>
                            <a:srgbClr val="0B0B0B"/>
                          </a:solidFill>
                          <a:latin typeface="Arial"/>
                        </a:rPr>
                        <a:t>Tệp Word đính kèm</a:t>
                      </a:r>
                    </a:p>
                  </a:txBody>
                  <a:tcPr marL="64008" marR="64008" marT="27432" marB="27432" anchor="ctr">
                    <a:solidFill>
                      <a:srgbClr val="FFFFFF"/>
                    </a:solidFill>
                  </a:tcPr>
                </a:tc>
                <a:tc>
                  <a:txBody>
                    <a:bodyPr wrap="square"/>
                    <a:lstStyle/>
                    <a:p>
                      <a:r>
                        <a:rPr sz="1300" b="0" i="0">
                          <a:solidFill>
                            <a:srgbClr val="0B0B0B"/>
                          </a:solidFill>
                          <a:latin typeface="Arial"/>
                        </a:rPr>
                        <a:t>nội dung nằm trong tệp .docx (không macro)</a:t>
                      </a:r>
                    </a:p>
                  </a:txBody>
                  <a:tcPr marL="64008" marR="64008" marT="27432" marB="27432" anchor="ctr">
                    <a:solidFill>
                      <a:srgbClr val="FFFFFF"/>
                    </a:solidFill>
                  </a:tcPr>
                </a:tc>
              </a:tr>
              <a:tr h="438912">
                <a:tc>
                  <a:txBody>
                    <a:bodyPr wrap="square"/>
                    <a:lstStyle/>
                    <a:p>
                      <a:r>
                        <a:rPr sz="1300" b="1" i="0">
                          <a:solidFill>
                            <a:srgbClr val="0B0B0B"/>
                          </a:solidFill>
                          <a:latin typeface="Arial"/>
                        </a:rPr>
                        <a:t>Tệp HTML đính kèm</a:t>
                      </a:r>
                    </a:p>
                  </a:txBody>
                  <a:tcPr marL="64008" marR="64008" marT="27432" marB="27432" anchor="ctr">
                    <a:solidFill>
                      <a:srgbClr val="F9F9F7"/>
                    </a:solidFill>
                  </a:tcPr>
                </a:tc>
                <a:tc>
                  <a:txBody>
                    <a:bodyPr wrap="square"/>
                    <a:lstStyle/>
                    <a:p>
                      <a:r>
                        <a:rPr sz="1300" b="0" i="0">
                          <a:solidFill>
                            <a:srgbClr val="0B0B0B"/>
                          </a:solidFill>
                          <a:latin typeface="Arial"/>
                        </a:rPr>
                        <a:t>nội dung nằm trong tệp .html (không có form)</a:t>
                      </a:r>
                    </a:p>
                  </a:txBody>
                  <a:tcPr marL="64008" marR="64008" marT="27432" marB="27432" anchor="ctr">
                    <a:solidFill>
                      <a:srgbClr val="F9F9F7"/>
                    </a:solidFill>
                  </a:tcPr>
                </a:tc>
              </a:tr>
            </a:tbl>
          </a:graphicData>
        </a:graphic>
      </p:graphicFrame>
      <p:sp>
        <p:nvSpPr>
          <p:cNvPr id="8" name="Rounded Rectangle 7"/>
          <p:cNvSpPr/>
          <p:nvPr/>
        </p:nvSpPr>
        <p:spPr>
          <a:xfrm>
            <a:off x="7498079" y="2286000"/>
            <a:ext cx="4206240" cy="173736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35239" y="2395728"/>
            <a:ext cx="3931920" cy="1554480"/>
          </a:xfrm>
          <a:prstGeom prst="rect">
            <a:avLst/>
          </a:prstGeom>
          <a:noFill/>
        </p:spPr>
        <p:txBody>
          <a:bodyPr wrap="square" anchor="t" lIns="45720" rIns="45720">
            <a:spAutoFit/>
          </a:bodyPr>
          <a:lstStyle/>
          <a:p>
            <a:pPr>
              <a:spcAft>
                <a:spcPts val="400"/>
              </a:spcAft>
            </a:pPr>
            <a:r>
              <a:rPr sz="1500" b="1" i="0">
                <a:solidFill>
                  <a:srgbClr val="0B0B0B"/>
                </a:solidFill>
                <a:latin typeface="Arial"/>
              </a:rPr>
              <a:t>Dữ liệu</a:t>
            </a:r>
          </a:p>
          <a:p>
            <a:pPr>
              <a:spcAft>
                <a:spcPts val="600"/>
              </a:spcAft>
            </a:pPr>
            <a:r>
              <a:rPr sz="1300" b="0" i="0">
                <a:solidFill>
                  <a:srgbClr val="52514E"/>
                </a:solidFill>
                <a:latin typeface="Arial"/>
              </a:rPr>
              <a:t>30 email lừa đảo + 30 email hợp lệ / kịch bản, lấy từ template held-out (chưa từng dùng để huấn luyện). Header người gửi giữ trung tính.</a:t>
            </a:r>
          </a:p>
        </p:txBody>
      </p:sp>
      <p:sp>
        <p:nvSpPr>
          <p:cNvPr id="10" name="Rounded Rectangle 9"/>
          <p:cNvSpPr/>
          <p:nvPr/>
        </p:nvSpPr>
        <p:spPr>
          <a:xfrm>
            <a:off x="7498079" y="4206240"/>
            <a:ext cx="4206240" cy="160020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35239" y="4315968"/>
            <a:ext cx="3931920" cy="1417320"/>
          </a:xfrm>
          <a:prstGeom prst="rect">
            <a:avLst/>
          </a:prstGeom>
          <a:noFill/>
        </p:spPr>
        <p:txBody>
          <a:bodyPr wrap="square" anchor="t" lIns="45720" rIns="45720">
            <a:spAutoFit/>
          </a:bodyPr>
          <a:lstStyle/>
          <a:p>
            <a:pPr>
              <a:spcAft>
                <a:spcPts val="400"/>
              </a:spcAft>
            </a:pPr>
            <a:r>
              <a:rPr sz="1500" b="1" i="0">
                <a:solidFill>
                  <a:srgbClr val="0B0B0B"/>
                </a:solidFill>
                <a:latin typeface="Arial"/>
              </a:rPr>
              <a:t>4 bộ phát hiện</a:t>
            </a:r>
          </a:p>
          <a:p>
            <a:pPr>
              <a:spcAft>
                <a:spcPts val="600"/>
              </a:spcAft>
            </a:pPr>
            <a:r>
              <a:rPr sz="1300" b="0" i="0">
                <a:solidFill>
                  <a:srgbClr val="52514E"/>
                </a:solidFill>
                <a:latin typeface="Arial"/>
              </a:rPr>
              <a:t>Chỉ văn bản: TF-IDF · KD-BiLSTM
Đa kênh PhishLens: TF-IDF · KD-BiLSTM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5 · ĐÁNH GIÁ</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Kết quả: tỉ lệ phát hiện email lừa đảo</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17</a:t>
            </a:r>
          </a:p>
        </p:txBody>
      </p:sp>
      <p:graphicFrame>
        <p:nvGraphicFramePr>
          <p:cNvPr id="6" name="Chart 5"/>
          <p:cNvGraphicFramePr>
            <a:graphicFrameLocks noGrp="1"/>
          </p:cNvGraphicFramePr>
          <p:nvPr/>
        </p:nvGraphicFramePr>
        <p:xfrm>
          <a:off x="457200" y="1280160"/>
          <a:ext cx="7863840" cy="5120640"/>
        </p:xfrm>
        <a:graphic>
          <a:graphicData uri="http://schemas.openxmlformats.org/drawingml/2006/chart">
            <c:chart xmlns:c="http://schemas.openxmlformats.org/drawingml/2006/chart" r:id="rId2"/>
          </a:graphicData>
        </a:graphic>
      </p:graphicFrame>
      <p:sp>
        <p:nvSpPr>
          <p:cNvPr id="7" name="TextBox 6"/>
          <p:cNvSpPr txBox="1"/>
          <p:nvPr/>
        </p:nvSpPr>
        <p:spPr>
          <a:xfrm>
            <a:off x="8503920" y="1325880"/>
            <a:ext cx="3291840" cy="365760"/>
          </a:xfrm>
          <a:prstGeom prst="rect">
            <a:avLst/>
          </a:prstGeom>
          <a:noFill/>
        </p:spPr>
        <p:txBody>
          <a:bodyPr wrap="square" anchor="t" lIns="45720" rIns="45720">
            <a:spAutoFit/>
          </a:bodyPr>
          <a:lstStyle/>
          <a:p>
            <a:pPr>
              <a:spcAft>
                <a:spcPts val="600"/>
              </a:spcAft>
            </a:pPr>
            <a:r>
              <a:rPr sz="1400" b="1" i="0">
                <a:solidFill>
                  <a:srgbClr val="0B0B0B"/>
                </a:solidFill>
                <a:latin typeface="Arial"/>
              </a:rPr>
              <a:t>Báo nhầm trên email hợp lệ</a:t>
            </a:r>
          </a:p>
        </p:txBody>
      </p:sp>
      <p:graphicFrame>
        <p:nvGraphicFramePr>
          <p:cNvPr id="8" name="Table 7"/>
          <p:cNvGraphicFramePr>
            <a:graphicFrameLocks noGrp="1"/>
          </p:cNvGraphicFramePr>
          <p:nvPr/>
        </p:nvGraphicFramePr>
        <p:xfrm>
          <a:off x="8503920" y="1737360"/>
          <a:ext cx="3291839" cy="2304288"/>
        </p:xfrm>
        <a:graphic>
          <a:graphicData uri="http://schemas.openxmlformats.org/drawingml/2006/table">
            <a:tbl>
              <a:tblPr firstRow="1" bandRow="1">
                <a:tableStyleId>{5C22544A-7EE6-4342-B048-85BDC9FD1C3A}</a:tableStyleId>
              </a:tblPr>
              <a:tblGrid>
                <a:gridCol w="1276427"/>
                <a:gridCol w="503853"/>
                <a:gridCol w="503853"/>
                <a:gridCol w="503853"/>
                <a:gridCol w="503853"/>
              </a:tblGrid>
              <a:tr h="329184">
                <a:tc>
                  <a:txBody>
                    <a:bodyPr wrap="square"/>
                    <a:lstStyle/>
                    <a:p>
                      <a:r>
                        <a:rPr sz="1000" b="1" i="0">
                          <a:solidFill>
                            <a:srgbClr val="0B0B0B"/>
                          </a:solidFill>
                          <a:latin typeface="Arial"/>
                        </a:rPr>
                        <a:t>Báo nhầm</a:t>
                      </a:r>
                    </a:p>
                  </a:txBody>
                  <a:tcPr marL="64008" marR="64008" marT="27432" marB="27432" anchor="ctr">
                    <a:solidFill>
                      <a:srgbClr val="CDE2FB"/>
                    </a:solidFill>
                  </a:tcPr>
                </a:tc>
                <a:tc>
                  <a:txBody>
                    <a:bodyPr wrap="square"/>
                    <a:lstStyle/>
                    <a:p>
                      <a:r>
                        <a:rPr sz="1000" b="1" i="0">
                          <a:solidFill>
                            <a:srgbClr val="0B0B0B"/>
                          </a:solidFill>
                          <a:latin typeface="Arial"/>
                        </a:rPr>
                        <a:t>VB/TF</a:t>
                      </a:r>
                    </a:p>
                  </a:txBody>
                  <a:tcPr marL="64008" marR="64008" marT="27432" marB="27432" anchor="ctr">
                    <a:solidFill>
                      <a:srgbClr val="CDE2FB"/>
                    </a:solidFill>
                  </a:tcPr>
                </a:tc>
                <a:tc>
                  <a:txBody>
                    <a:bodyPr wrap="square"/>
                    <a:lstStyle/>
                    <a:p>
                      <a:r>
                        <a:rPr sz="1000" b="1" i="0">
                          <a:solidFill>
                            <a:srgbClr val="0B0B0B"/>
                          </a:solidFill>
                          <a:latin typeface="Arial"/>
                        </a:rPr>
                        <a:t>VB/KD</a:t>
                      </a:r>
                    </a:p>
                  </a:txBody>
                  <a:tcPr marL="64008" marR="64008" marT="27432" marB="27432" anchor="ctr">
                    <a:solidFill>
                      <a:srgbClr val="CDE2FB"/>
                    </a:solidFill>
                  </a:tcPr>
                </a:tc>
                <a:tc>
                  <a:txBody>
                    <a:bodyPr wrap="square"/>
                    <a:lstStyle/>
                    <a:p>
                      <a:r>
                        <a:rPr sz="1000" b="1" i="0">
                          <a:solidFill>
                            <a:srgbClr val="0B0B0B"/>
                          </a:solidFill>
                          <a:latin typeface="Arial"/>
                        </a:rPr>
                        <a:t>ĐK/TF</a:t>
                      </a:r>
                    </a:p>
                  </a:txBody>
                  <a:tcPr marL="64008" marR="64008" marT="27432" marB="27432" anchor="ctr">
                    <a:solidFill>
                      <a:srgbClr val="CDE2FB"/>
                    </a:solidFill>
                  </a:tcPr>
                </a:tc>
                <a:tc>
                  <a:txBody>
                    <a:bodyPr wrap="square"/>
                    <a:lstStyle/>
                    <a:p>
                      <a:r>
                        <a:rPr sz="1000" b="1" i="0">
                          <a:solidFill>
                            <a:srgbClr val="0B0B0B"/>
                          </a:solidFill>
                          <a:latin typeface="Arial"/>
                        </a:rPr>
                        <a:t>ĐK/KD</a:t>
                      </a:r>
                    </a:p>
                  </a:txBody>
                  <a:tcPr marL="64008" marR="64008" marT="27432" marB="27432" anchor="ctr">
                    <a:solidFill>
                      <a:srgbClr val="CDE2FB"/>
                    </a:solidFill>
                  </a:tcPr>
                </a:tc>
              </a:tr>
              <a:tr h="329184">
                <a:tc>
                  <a:txBody>
                    <a:bodyPr wrap="square"/>
                    <a:lstStyle/>
                    <a:p>
                      <a:r>
                        <a:rPr sz="1000" b="0" i="0">
                          <a:solidFill>
                            <a:srgbClr val="0B0B0B"/>
                          </a:solidFill>
                          <a:latin typeface="Arial"/>
                        </a:rPr>
                        <a:t>Gốc (văn bản)</a:t>
                      </a:r>
                    </a:p>
                  </a:txBody>
                  <a:tcPr marL="64008" marR="64008" marT="27432" marB="27432" anchor="ctr">
                    <a:solidFill>
                      <a:srgbClr val="FFFFFF"/>
                    </a:solidFill>
                  </a:tcPr>
                </a:tc>
                <a:tc>
                  <a:txBody>
                    <a:bodyPr wrap="square"/>
                    <a:lstStyle/>
                    <a:p>
                      <a:r>
                        <a:rPr sz="1000" b="0" i="0">
                          <a:solidFill>
                            <a:srgbClr val="0B0B0B"/>
                          </a:solidFill>
                          <a:latin typeface="Arial"/>
                        </a:rPr>
                        <a:t>0%</a:t>
                      </a:r>
                    </a:p>
                  </a:txBody>
                  <a:tcPr marL="64008" marR="64008" marT="27432" marB="27432" anchor="ctr">
                    <a:solidFill>
                      <a:srgbClr val="FFFFFF"/>
                    </a:solidFill>
                  </a:tcPr>
                </a:tc>
                <a:tc>
                  <a:txBody>
                    <a:bodyPr wrap="square"/>
                    <a:lstStyle/>
                    <a:p>
                      <a:r>
                        <a:rPr sz="1000" b="0" i="0">
                          <a:solidFill>
                            <a:srgbClr val="0B0B0B"/>
                          </a:solidFill>
                          <a:latin typeface="Arial"/>
                        </a:rPr>
                        <a:t>23%</a:t>
                      </a:r>
                    </a:p>
                  </a:txBody>
                  <a:tcPr marL="64008" marR="64008" marT="27432" marB="27432" anchor="ctr">
                    <a:solidFill>
                      <a:srgbClr val="FFFFFF"/>
                    </a:solidFill>
                  </a:tcPr>
                </a:tc>
                <a:tc>
                  <a:txBody>
                    <a:bodyPr wrap="square"/>
                    <a:lstStyle/>
                    <a:p>
                      <a:r>
                        <a:rPr sz="1000" b="0" i="0">
                          <a:solidFill>
                            <a:srgbClr val="0B0B0B"/>
                          </a:solidFill>
                          <a:latin typeface="Arial"/>
                        </a:rPr>
                        <a:t>0%</a:t>
                      </a:r>
                    </a:p>
                  </a:txBody>
                  <a:tcPr marL="64008" marR="64008" marT="27432" marB="27432" anchor="ctr">
                    <a:solidFill>
                      <a:srgbClr val="FFFFFF"/>
                    </a:solidFill>
                  </a:tcPr>
                </a:tc>
                <a:tc>
                  <a:txBody>
                    <a:bodyPr wrap="square"/>
                    <a:lstStyle/>
                    <a:p>
                      <a:r>
                        <a:rPr sz="1000" b="0" i="0">
                          <a:solidFill>
                            <a:srgbClr val="0B0B0B"/>
                          </a:solidFill>
                          <a:latin typeface="Arial"/>
                        </a:rPr>
                        <a:t>10%</a:t>
                      </a:r>
                    </a:p>
                  </a:txBody>
                  <a:tcPr marL="64008" marR="64008" marT="27432" marB="27432" anchor="ctr">
                    <a:solidFill>
                      <a:srgbClr val="FFFFFF"/>
                    </a:solidFill>
                  </a:tcPr>
                </a:tc>
              </a:tr>
              <a:tr h="329184">
                <a:tc>
                  <a:txBody>
                    <a:bodyPr wrap="square"/>
                    <a:lstStyle/>
                    <a:p>
                      <a:r>
                        <a:rPr sz="1000" b="0" i="0">
                          <a:solidFill>
                            <a:srgbClr val="0B0B0B"/>
                          </a:solidFill>
                          <a:latin typeface="Arial"/>
                        </a:rPr>
                        <a:t>LLM viết lại</a:t>
                      </a:r>
                    </a:p>
                  </a:txBody>
                  <a:tcPr marL="64008" marR="64008" marT="27432" marB="27432" anchor="ctr">
                    <a:solidFill>
                      <a:srgbClr val="F9F9F7"/>
                    </a:solidFill>
                  </a:tcPr>
                </a:tc>
                <a:tc>
                  <a:txBody>
                    <a:bodyPr wrap="square"/>
                    <a:lstStyle/>
                    <a:p>
                      <a:r>
                        <a:rPr sz="1000" b="0" i="0">
                          <a:solidFill>
                            <a:srgbClr val="0B0B0B"/>
                          </a:solidFill>
                          <a:latin typeface="Arial"/>
                        </a:rPr>
                        <a:t>0%</a:t>
                      </a:r>
                    </a:p>
                  </a:txBody>
                  <a:tcPr marL="64008" marR="64008" marT="27432" marB="27432" anchor="ctr">
                    <a:solidFill>
                      <a:srgbClr val="F9F9F7"/>
                    </a:solidFill>
                  </a:tcPr>
                </a:tc>
                <a:tc>
                  <a:txBody>
                    <a:bodyPr wrap="square"/>
                    <a:lstStyle/>
                    <a:p>
                      <a:r>
                        <a:rPr sz="1000" b="0" i="0">
                          <a:solidFill>
                            <a:srgbClr val="0B0B0B"/>
                          </a:solidFill>
                          <a:latin typeface="Arial"/>
                        </a:rPr>
                        <a:t>23%</a:t>
                      </a:r>
                    </a:p>
                  </a:txBody>
                  <a:tcPr marL="64008" marR="64008" marT="27432" marB="27432" anchor="ctr">
                    <a:solidFill>
                      <a:srgbClr val="F9F9F7"/>
                    </a:solidFill>
                  </a:tcPr>
                </a:tc>
                <a:tc>
                  <a:txBody>
                    <a:bodyPr wrap="square"/>
                    <a:lstStyle/>
                    <a:p>
                      <a:r>
                        <a:rPr sz="1000" b="0" i="0">
                          <a:solidFill>
                            <a:srgbClr val="0B0B0B"/>
                          </a:solidFill>
                          <a:latin typeface="Arial"/>
                        </a:rPr>
                        <a:t>0%</a:t>
                      </a:r>
                    </a:p>
                  </a:txBody>
                  <a:tcPr marL="64008" marR="64008" marT="27432" marB="27432" anchor="ctr">
                    <a:solidFill>
                      <a:srgbClr val="F9F9F7"/>
                    </a:solidFill>
                  </a:tcPr>
                </a:tc>
                <a:tc>
                  <a:txBody>
                    <a:bodyPr wrap="square"/>
                    <a:lstStyle/>
                    <a:p>
                      <a:r>
                        <a:rPr sz="1000" b="0" i="0">
                          <a:solidFill>
                            <a:srgbClr val="0B0B0B"/>
                          </a:solidFill>
                          <a:latin typeface="Arial"/>
                        </a:rPr>
                        <a:t>10%</a:t>
                      </a:r>
                    </a:p>
                  </a:txBody>
                  <a:tcPr marL="64008" marR="64008" marT="27432" marB="27432" anchor="ctr">
                    <a:solidFill>
                      <a:srgbClr val="F9F9F7"/>
                    </a:solidFill>
                  </a:tcPr>
                </a:tc>
              </a:tr>
              <a:tr h="329184">
                <a:tc>
                  <a:txBody>
                    <a:bodyPr wrap="square"/>
                    <a:lstStyle/>
                    <a:p>
                      <a:r>
                        <a:rPr sz="1000" b="0" i="0">
                          <a:solidFill>
                            <a:srgbClr val="0B0B0B"/>
                          </a:solidFill>
                          <a:latin typeface="Arial"/>
                        </a:rPr>
                        <a:t>Chuyển vào ảnh</a:t>
                      </a:r>
                    </a:p>
                  </a:txBody>
                  <a:tcPr marL="64008" marR="64008" marT="27432" marB="27432" anchor="ctr">
                    <a:solidFill>
                      <a:srgbClr val="FFFFFF"/>
                    </a:solidFill>
                  </a:tcPr>
                </a:tc>
                <a:tc>
                  <a:txBody>
                    <a:bodyPr wrap="square"/>
                    <a:lstStyle/>
                    <a:p>
                      <a:r>
                        <a:rPr sz="1000" b="0" i="0">
                          <a:solidFill>
                            <a:srgbClr val="0B0B0B"/>
                          </a:solidFill>
                          <a:latin typeface="Arial"/>
                        </a:rPr>
                        <a:t>0%</a:t>
                      </a:r>
                    </a:p>
                  </a:txBody>
                  <a:tcPr marL="64008" marR="64008" marT="27432" marB="27432" anchor="ctr">
                    <a:solidFill>
                      <a:srgbClr val="FFFFFF"/>
                    </a:solidFill>
                  </a:tcPr>
                </a:tc>
                <a:tc>
                  <a:txBody>
                    <a:bodyPr wrap="square"/>
                    <a:lstStyle/>
                    <a:p>
                      <a:r>
                        <a:rPr sz="1000" b="0" i="0">
                          <a:solidFill>
                            <a:srgbClr val="0B0B0B"/>
                          </a:solidFill>
                          <a:latin typeface="Arial"/>
                        </a:rPr>
                        <a:t>0%</a:t>
                      </a:r>
                    </a:p>
                  </a:txBody>
                  <a:tcPr marL="64008" marR="64008" marT="27432" marB="27432" anchor="ctr">
                    <a:solidFill>
                      <a:srgbClr val="FFFFFF"/>
                    </a:solidFill>
                  </a:tcPr>
                </a:tc>
                <a:tc>
                  <a:txBody>
                    <a:bodyPr wrap="square"/>
                    <a:lstStyle/>
                    <a:p>
                      <a:r>
                        <a:rPr sz="1000" b="0" i="0">
                          <a:solidFill>
                            <a:srgbClr val="0B0B0B"/>
                          </a:solidFill>
                          <a:latin typeface="Arial"/>
                        </a:rPr>
                        <a:t>0%</a:t>
                      </a:r>
                    </a:p>
                  </a:txBody>
                  <a:tcPr marL="64008" marR="64008" marT="27432" marB="27432" anchor="ctr">
                    <a:solidFill>
                      <a:srgbClr val="FFFFFF"/>
                    </a:solidFill>
                  </a:tcPr>
                </a:tc>
                <a:tc>
                  <a:txBody>
                    <a:bodyPr wrap="square"/>
                    <a:lstStyle/>
                    <a:p>
                      <a:r>
                        <a:rPr sz="1000" b="0" i="0">
                          <a:solidFill>
                            <a:srgbClr val="0B0B0B"/>
                          </a:solidFill>
                          <a:latin typeface="Arial"/>
                        </a:rPr>
                        <a:t>17%</a:t>
                      </a:r>
                    </a:p>
                  </a:txBody>
                  <a:tcPr marL="64008" marR="64008" marT="27432" marB="27432" anchor="ctr">
                    <a:solidFill>
                      <a:srgbClr val="FFFFFF"/>
                    </a:solidFill>
                  </a:tcPr>
                </a:tc>
              </a:tr>
              <a:tr h="329184">
                <a:tc>
                  <a:txBody>
                    <a:bodyPr wrap="square"/>
                    <a:lstStyle/>
                    <a:p>
                      <a:r>
                        <a:rPr sz="1000" b="0" i="0">
                          <a:solidFill>
                            <a:srgbClr val="0B0B0B"/>
                          </a:solidFill>
                          <a:latin typeface="Arial"/>
                        </a:rPr>
                        <a:t>Ảnh + mã QR</a:t>
                      </a:r>
                    </a:p>
                  </a:txBody>
                  <a:tcPr marL="64008" marR="64008" marT="27432" marB="27432" anchor="ctr">
                    <a:solidFill>
                      <a:srgbClr val="F9F9F7"/>
                    </a:solidFill>
                  </a:tcPr>
                </a:tc>
                <a:tc>
                  <a:txBody>
                    <a:bodyPr wrap="square"/>
                    <a:lstStyle/>
                    <a:p>
                      <a:r>
                        <a:rPr sz="1000" b="0" i="0">
                          <a:solidFill>
                            <a:srgbClr val="0B0B0B"/>
                          </a:solidFill>
                          <a:latin typeface="Arial"/>
                        </a:rPr>
                        <a:t>0%</a:t>
                      </a:r>
                    </a:p>
                  </a:txBody>
                  <a:tcPr marL="64008" marR="64008" marT="27432" marB="27432" anchor="ctr">
                    <a:solidFill>
                      <a:srgbClr val="F9F9F7"/>
                    </a:solidFill>
                  </a:tcPr>
                </a:tc>
                <a:tc>
                  <a:txBody>
                    <a:bodyPr wrap="square"/>
                    <a:lstStyle/>
                    <a:p>
                      <a:r>
                        <a:rPr sz="1000" b="0" i="0">
                          <a:solidFill>
                            <a:srgbClr val="0B0B0B"/>
                          </a:solidFill>
                          <a:latin typeface="Arial"/>
                        </a:rPr>
                        <a:t>0%</a:t>
                      </a:r>
                    </a:p>
                  </a:txBody>
                  <a:tcPr marL="64008" marR="64008" marT="27432" marB="27432" anchor="ctr">
                    <a:solidFill>
                      <a:srgbClr val="F9F9F7"/>
                    </a:solidFill>
                  </a:tcPr>
                </a:tc>
                <a:tc>
                  <a:txBody>
                    <a:bodyPr wrap="square"/>
                    <a:lstStyle/>
                    <a:p>
                      <a:r>
                        <a:rPr sz="1000" b="0" i="0">
                          <a:solidFill>
                            <a:srgbClr val="0B0B0B"/>
                          </a:solidFill>
                          <a:latin typeface="Arial"/>
                        </a:rPr>
                        <a:t>7%</a:t>
                      </a:r>
                    </a:p>
                  </a:txBody>
                  <a:tcPr marL="64008" marR="64008" marT="27432" marB="27432" anchor="ctr">
                    <a:solidFill>
                      <a:srgbClr val="F9F9F7"/>
                    </a:solidFill>
                  </a:tcPr>
                </a:tc>
                <a:tc>
                  <a:txBody>
                    <a:bodyPr wrap="square"/>
                    <a:lstStyle/>
                    <a:p>
                      <a:r>
                        <a:rPr sz="1000" b="0" i="0">
                          <a:solidFill>
                            <a:srgbClr val="0B0B0B"/>
                          </a:solidFill>
                          <a:latin typeface="Arial"/>
                        </a:rPr>
                        <a:t>20%</a:t>
                      </a:r>
                    </a:p>
                  </a:txBody>
                  <a:tcPr marL="64008" marR="64008" marT="27432" marB="27432" anchor="ctr">
                    <a:solidFill>
                      <a:srgbClr val="F9F9F7"/>
                    </a:solidFill>
                  </a:tcPr>
                </a:tc>
              </a:tr>
              <a:tr h="329184">
                <a:tc>
                  <a:txBody>
                    <a:bodyPr wrap="square"/>
                    <a:lstStyle/>
                    <a:p>
                      <a:r>
                        <a:rPr sz="1000" b="0" i="0">
                          <a:solidFill>
                            <a:srgbClr val="0B0B0B"/>
                          </a:solidFill>
                          <a:latin typeface="Arial"/>
                        </a:rPr>
                        <a:t>Tệp Word đính kèm</a:t>
                      </a:r>
                    </a:p>
                  </a:txBody>
                  <a:tcPr marL="64008" marR="64008" marT="27432" marB="27432" anchor="ctr">
                    <a:solidFill>
                      <a:srgbClr val="FFFFFF"/>
                    </a:solidFill>
                  </a:tcPr>
                </a:tc>
                <a:tc>
                  <a:txBody>
                    <a:bodyPr wrap="square"/>
                    <a:lstStyle/>
                    <a:p>
                      <a:r>
                        <a:rPr sz="1000" b="0" i="0">
                          <a:solidFill>
                            <a:srgbClr val="0B0B0B"/>
                          </a:solidFill>
                          <a:latin typeface="Arial"/>
                        </a:rPr>
                        <a:t>0%</a:t>
                      </a:r>
                    </a:p>
                  </a:txBody>
                  <a:tcPr marL="64008" marR="64008" marT="27432" marB="27432" anchor="ctr">
                    <a:solidFill>
                      <a:srgbClr val="FFFFFF"/>
                    </a:solidFill>
                  </a:tcPr>
                </a:tc>
                <a:tc>
                  <a:txBody>
                    <a:bodyPr wrap="square"/>
                    <a:lstStyle/>
                    <a:p>
                      <a:r>
                        <a:rPr sz="1000" b="0" i="0">
                          <a:solidFill>
                            <a:srgbClr val="0B0B0B"/>
                          </a:solidFill>
                          <a:latin typeface="Arial"/>
                        </a:rPr>
                        <a:t>0%</a:t>
                      </a:r>
                    </a:p>
                  </a:txBody>
                  <a:tcPr marL="64008" marR="64008" marT="27432" marB="27432" anchor="ctr">
                    <a:solidFill>
                      <a:srgbClr val="FFFFFF"/>
                    </a:solidFill>
                  </a:tcPr>
                </a:tc>
                <a:tc>
                  <a:txBody>
                    <a:bodyPr wrap="square"/>
                    <a:lstStyle/>
                    <a:p>
                      <a:r>
                        <a:rPr sz="1000" b="0" i="0">
                          <a:solidFill>
                            <a:srgbClr val="0B0B0B"/>
                          </a:solidFill>
                          <a:latin typeface="Arial"/>
                        </a:rPr>
                        <a:t>0%</a:t>
                      </a:r>
                    </a:p>
                  </a:txBody>
                  <a:tcPr marL="64008" marR="64008" marT="27432" marB="27432" anchor="ctr">
                    <a:solidFill>
                      <a:srgbClr val="FFFFFF"/>
                    </a:solidFill>
                  </a:tcPr>
                </a:tc>
                <a:tc>
                  <a:txBody>
                    <a:bodyPr wrap="square"/>
                    <a:lstStyle/>
                    <a:p>
                      <a:r>
                        <a:rPr sz="1000" b="0" i="0">
                          <a:solidFill>
                            <a:srgbClr val="0B0B0B"/>
                          </a:solidFill>
                          <a:latin typeface="Arial"/>
                        </a:rPr>
                        <a:t>10%</a:t>
                      </a:r>
                    </a:p>
                  </a:txBody>
                  <a:tcPr marL="64008" marR="64008" marT="27432" marB="27432" anchor="ctr">
                    <a:solidFill>
                      <a:srgbClr val="FFFFFF"/>
                    </a:solidFill>
                  </a:tcPr>
                </a:tc>
              </a:tr>
              <a:tr h="329184">
                <a:tc>
                  <a:txBody>
                    <a:bodyPr wrap="square"/>
                    <a:lstStyle/>
                    <a:p>
                      <a:r>
                        <a:rPr sz="1000" b="0" i="0">
                          <a:solidFill>
                            <a:srgbClr val="0B0B0B"/>
                          </a:solidFill>
                          <a:latin typeface="Arial"/>
                        </a:rPr>
                        <a:t>Tệp HTML đính kèm</a:t>
                      </a:r>
                    </a:p>
                  </a:txBody>
                  <a:tcPr marL="64008" marR="64008" marT="27432" marB="27432" anchor="ctr">
                    <a:solidFill>
                      <a:srgbClr val="F9F9F7"/>
                    </a:solidFill>
                  </a:tcPr>
                </a:tc>
                <a:tc>
                  <a:txBody>
                    <a:bodyPr wrap="square"/>
                    <a:lstStyle/>
                    <a:p>
                      <a:r>
                        <a:rPr sz="1000" b="0" i="0">
                          <a:solidFill>
                            <a:srgbClr val="0B0B0B"/>
                          </a:solidFill>
                          <a:latin typeface="Arial"/>
                        </a:rPr>
                        <a:t>0%</a:t>
                      </a:r>
                    </a:p>
                  </a:txBody>
                  <a:tcPr marL="64008" marR="64008" marT="27432" marB="27432" anchor="ctr">
                    <a:solidFill>
                      <a:srgbClr val="F9F9F7"/>
                    </a:solidFill>
                  </a:tcPr>
                </a:tc>
                <a:tc>
                  <a:txBody>
                    <a:bodyPr wrap="square"/>
                    <a:lstStyle/>
                    <a:p>
                      <a:r>
                        <a:rPr sz="1000" b="0" i="0">
                          <a:solidFill>
                            <a:srgbClr val="0B0B0B"/>
                          </a:solidFill>
                          <a:latin typeface="Arial"/>
                        </a:rPr>
                        <a:t>0%</a:t>
                      </a:r>
                    </a:p>
                  </a:txBody>
                  <a:tcPr marL="64008" marR="64008" marT="27432" marB="27432" anchor="ctr">
                    <a:solidFill>
                      <a:srgbClr val="F9F9F7"/>
                    </a:solidFill>
                  </a:tcPr>
                </a:tc>
                <a:tc>
                  <a:txBody>
                    <a:bodyPr wrap="square"/>
                    <a:lstStyle/>
                    <a:p>
                      <a:r>
                        <a:rPr sz="1000" b="0" i="0">
                          <a:solidFill>
                            <a:srgbClr val="0B0B0B"/>
                          </a:solidFill>
                          <a:latin typeface="Arial"/>
                        </a:rPr>
                        <a:t>0%</a:t>
                      </a:r>
                    </a:p>
                  </a:txBody>
                  <a:tcPr marL="64008" marR="64008" marT="27432" marB="27432" anchor="ctr">
                    <a:solidFill>
                      <a:srgbClr val="F9F9F7"/>
                    </a:solidFill>
                  </a:tcPr>
                </a:tc>
                <a:tc>
                  <a:txBody>
                    <a:bodyPr wrap="square"/>
                    <a:lstStyle/>
                    <a:p>
                      <a:r>
                        <a:rPr sz="1000" b="0" i="0">
                          <a:solidFill>
                            <a:srgbClr val="0B0B0B"/>
                          </a:solidFill>
                          <a:latin typeface="Arial"/>
                        </a:rPr>
                        <a:t>17%</a:t>
                      </a:r>
                    </a:p>
                  </a:txBody>
                  <a:tcPr marL="64008" marR="64008" marT="27432" marB="27432" anchor="ctr">
                    <a:solidFill>
                      <a:srgbClr val="F9F9F7"/>
                    </a:solidFill>
                  </a:tcPr>
                </a:tc>
              </a:tr>
            </a:tbl>
          </a:graphicData>
        </a:graphic>
      </p:graphicFrame>
      <p:sp>
        <p:nvSpPr>
          <p:cNvPr id="9" name="TextBox 8"/>
          <p:cNvSpPr txBox="1"/>
          <p:nvPr/>
        </p:nvSpPr>
        <p:spPr>
          <a:xfrm>
            <a:off x="8503920" y="4206240"/>
            <a:ext cx="3291840" cy="2103120"/>
          </a:xfrm>
          <a:prstGeom prst="rect">
            <a:avLst/>
          </a:prstGeom>
          <a:noFill/>
        </p:spPr>
        <p:txBody>
          <a:bodyPr wrap="square" anchor="t" lIns="45720" rIns="45720">
            <a:spAutoFit/>
          </a:bodyPr>
          <a:lstStyle/>
          <a:p>
            <a:pPr>
              <a:spcAft>
                <a:spcPts val="600"/>
              </a:spcAft>
            </a:pPr>
            <a:r>
              <a:rPr sz="1100" b="0" i="0">
                <a:solidFill>
                  <a:srgbClr val="898781"/>
                </a:solidFill>
                <a:latin typeface="Arial"/>
              </a:rPr>
              <a:t>VB = chỉ đọc văn bản thân thư; ĐK = PhishLens đa kênh. Ngưỡng: điểm ≥ 50 hoặc P ≥ 0,5.</a:t>
            </a:r>
          </a:p>
          <a:p>
            <a:pPr>
              <a:spcAft>
                <a:spcPts val="600"/>
              </a:spcAft>
            </a:pPr>
            <a:r>
              <a:rPr sz="1100" b="0" i="1">
                <a:solidFill>
                  <a:srgbClr val="898781"/>
                </a:solidFill>
                <a:latin typeface="Arial"/>
              </a:rPr>
              <a:t>Dữ liệu tổng hợp; 'LLM viết lại' là bộ luật mô phỏng - con số thể hiện xu hướng.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5 · ĐÁNH GIÁ</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Phát hiện chính</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18</a:t>
            </a:r>
          </a:p>
        </p:txBody>
      </p:sp>
      <p:sp>
        <p:nvSpPr>
          <p:cNvPr id="6" name="Rounded Rectangle 5"/>
          <p:cNvSpPr/>
          <p:nvPr/>
        </p:nvSpPr>
        <p:spPr>
          <a:xfrm>
            <a:off x="548640" y="1371600"/>
            <a:ext cx="5486400" cy="146304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81328"/>
            <a:ext cx="5212080" cy="1280160"/>
          </a:xfrm>
          <a:prstGeom prst="rect">
            <a:avLst/>
          </a:prstGeom>
          <a:noFill/>
        </p:spPr>
        <p:txBody>
          <a:bodyPr wrap="square" anchor="t" lIns="45720" rIns="45720">
            <a:spAutoFit/>
          </a:bodyPr>
          <a:lstStyle/>
          <a:p>
            <a:pPr>
              <a:spcAft>
                <a:spcPts val="400"/>
              </a:spcAft>
            </a:pPr>
            <a:r>
              <a:rPr sz="1500" b="1" i="0">
                <a:solidFill>
                  <a:srgbClr val="0B0B0B"/>
                </a:solidFill>
                <a:latin typeface="Arial"/>
              </a:rPr>
              <a:t>Chuyển kênh vô hiệu hóa mô hình chỉ đọc văn bản</a:t>
            </a:r>
          </a:p>
          <a:p>
            <a:pPr>
              <a:spcAft>
                <a:spcPts val="600"/>
              </a:spcAft>
            </a:pPr>
            <a:r>
              <a:rPr sz="1300" b="0" i="0">
                <a:solidFill>
                  <a:srgbClr val="52514E"/>
                </a:solidFill>
                <a:latin typeface="Arial"/>
              </a:rPr>
              <a:t>Ảnh / QR / Word / HTML: chỉ văn bản 0% → đa kênh 57–100%. Trả lời câu hỏi “email có ảnh + file thì sao”.</a:t>
            </a:r>
          </a:p>
        </p:txBody>
      </p:sp>
      <p:sp>
        <p:nvSpPr>
          <p:cNvPr id="8" name="Rounded Rectangle 7"/>
          <p:cNvSpPr/>
          <p:nvPr/>
        </p:nvSpPr>
        <p:spPr>
          <a:xfrm>
            <a:off x="6217920" y="1371600"/>
            <a:ext cx="5486400" cy="146304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481328"/>
            <a:ext cx="5212080" cy="1280160"/>
          </a:xfrm>
          <a:prstGeom prst="rect">
            <a:avLst/>
          </a:prstGeom>
          <a:noFill/>
        </p:spPr>
        <p:txBody>
          <a:bodyPr wrap="square" anchor="t" lIns="45720" rIns="45720">
            <a:spAutoFit/>
          </a:bodyPr>
          <a:lstStyle/>
          <a:p>
            <a:pPr>
              <a:spcAft>
                <a:spcPts val="400"/>
              </a:spcAft>
            </a:pPr>
            <a:r>
              <a:rPr sz="1500" b="1" i="0">
                <a:solidFill>
                  <a:srgbClr val="0B0B0B"/>
                </a:solidFill>
                <a:latin typeface="Arial"/>
              </a:rPr>
              <a:t>LLM viết lại làm giảm mô hình văn bản</a:t>
            </a:r>
          </a:p>
          <a:p>
            <a:pPr>
              <a:spcAft>
                <a:spcPts val="600"/>
              </a:spcAft>
            </a:pPr>
            <a:r>
              <a:rPr sz="1300" b="0" i="0">
                <a:solidFill>
                  <a:srgbClr val="52514E"/>
                </a:solidFill>
                <a:latin typeface="Arial"/>
              </a:rPr>
              <a:t>TF-IDF 80% → 67%, KD-BiLSTM 67% → 60%; hệ đa kênh giữ 80%.</a:t>
            </a:r>
          </a:p>
        </p:txBody>
      </p:sp>
      <p:sp>
        <p:nvSpPr>
          <p:cNvPr id="10" name="Rounded Rectangle 9"/>
          <p:cNvSpPr/>
          <p:nvPr/>
        </p:nvSpPr>
        <p:spPr>
          <a:xfrm>
            <a:off x="548640" y="3017520"/>
            <a:ext cx="5486400" cy="146304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127248"/>
            <a:ext cx="5212080" cy="1280160"/>
          </a:xfrm>
          <a:prstGeom prst="rect">
            <a:avLst/>
          </a:prstGeom>
          <a:noFill/>
        </p:spPr>
        <p:txBody>
          <a:bodyPr wrap="square" anchor="t" lIns="45720" rIns="45720">
            <a:spAutoFit/>
          </a:bodyPr>
          <a:lstStyle/>
          <a:p>
            <a:pPr>
              <a:spcAft>
                <a:spcPts val="400"/>
              </a:spcAft>
            </a:pPr>
            <a:r>
              <a:rPr sz="1500" b="1" i="0">
                <a:solidFill>
                  <a:srgbClr val="0B0B0B"/>
                </a:solidFill>
                <a:latin typeface="Arial"/>
              </a:rPr>
              <a:t>BEC (mạo danh nhờ chuyển tiền/thẻ cào) khó nhất</a:t>
            </a:r>
          </a:p>
          <a:p>
            <a:pPr>
              <a:spcAft>
                <a:spcPts val="600"/>
              </a:spcAft>
            </a:pPr>
            <a:r>
              <a:rPr sz="1300" b="0" i="0">
                <a:solidFill>
                  <a:srgbClr val="52514E"/>
                </a:solidFill>
                <a:latin typeface="Arial"/>
              </a:rPr>
              <a:t>Không link, không tệp: bỏ sót 50% khi bỏ tín hiệu người gửi. Thực tế: người gửi là tín hiệu mạnh nhất (mẫu demo 78/100).</a:t>
            </a:r>
          </a:p>
        </p:txBody>
      </p:sp>
      <p:sp>
        <p:nvSpPr>
          <p:cNvPr id="12" name="Rounded Rectangle 11"/>
          <p:cNvSpPr/>
          <p:nvPr/>
        </p:nvSpPr>
        <p:spPr>
          <a:xfrm>
            <a:off x="6217920" y="3017520"/>
            <a:ext cx="5486400" cy="146304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3127248"/>
            <a:ext cx="5212080" cy="1280160"/>
          </a:xfrm>
          <a:prstGeom prst="rect">
            <a:avLst/>
          </a:prstGeom>
          <a:noFill/>
        </p:spPr>
        <p:txBody>
          <a:bodyPr wrap="square" anchor="t" lIns="45720" rIns="45720">
            <a:spAutoFit/>
          </a:bodyPr>
          <a:lstStyle/>
          <a:p>
            <a:pPr>
              <a:spcAft>
                <a:spcPts val="400"/>
              </a:spcAft>
            </a:pPr>
            <a:r>
              <a:rPr sz="1500" b="1" i="0">
                <a:solidFill>
                  <a:srgbClr val="0B0B0B"/>
                </a:solidFill>
                <a:latin typeface="Arial"/>
              </a:rPr>
              <a:t>Mô hình bài báo khi sang tiếng Việt</a:t>
            </a:r>
          </a:p>
          <a:p>
            <a:pPr>
              <a:spcAft>
                <a:spcPts val="600"/>
              </a:spcAft>
            </a:pPr>
            <a:r>
              <a:rPr sz="1300" b="0" i="0">
                <a:solidFill>
                  <a:srgbClr val="52514E"/>
                </a:solidFill>
                <a:latin typeface="Arial"/>
              </a:rPr>
              <a:t>KD-BiLSTM báo nhầm 14% so với 1% của TF-IDF trên email hợp lệ chưa thấy - tokenizer tiếng Anh xóa dấu → cần teacher đa ngôn ngữ.</a:t>
            </a:r>
          </a:p>
        </p:txBody>
      </p:sp>
      <p:sp>
        <p:nvSpPr>
          <p:cNvPr id="14" name="Rounded Rectangle 13"/>
          <p:cNvSpPr/>
          <p:nvPr/>
        </p:nvSpPr>
        <p:spPr>
          <a:xfrm>
            <a:off x="548640" y="4663440"/>
            <a:ext cx="11155680" cy="146304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773168"/>
            <a:ext cx="10881360" cy="1280160"/>
          </a:xfrm>
          <a:prstGeom prst="rect">
            <a:avLst/>
          </a:prstGeom>
          <a:noFill/>
        </p:spPr>
        <p:txBody>
          <a:bodyPr wrap="square" anchor="t" lIns="45720" rIns="45720">
            <a:spAutoFit/>
          </a:bodyPr>
          <a:lstStyle/>
          <a:p>
            <a:pPr>
              <a:spcAft>
                <a:spcPts val="400"/>
              </a:spcAft>
            </a:pPr>
            <a:r>
              <a:rPr sz="1500" b="1" i="0">
                <a:solidFill>
                  <a:srgbClr val="0B0B0B"/>
                </a:solidFill>
                <a:latin typeface="Arial"/>
              </a:rPr>
              <a:t>Học đường tắt</a:t>
            </a:r>
          </a:p>
          <a:p>
            <a:pPr>
              <a:spcAft>
                <a:spcPts val="600"/>
              </a:spcAft>
            </a:pPr>
            <a:r>
              <a:rPr sz="1300" b="0" i="0">
                <a:solidFill>
                  <a:srgbClr val="52514E"/>
                </a:solidFill>
                <a:latin typeface="Arial"/>
              </a:rPr>
              <a:t>Bản đầu báo nhầm email thật có link trường vì dữ liệu tổng hợp lệch. Che URL + email hợp lệ 'khó' đã khắc phục.</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6 · KẾT LUẬN</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Hạn chế &amp; hướng tiếp theo</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19</a:t>
            </a:r>
          </a:p>
        </p:txBody>
      </p:sp>
      <p:sp>
        <p:nvSpPr>
          <p:cNvPr id="6" name="TextBox 5"/>
          <p:cNvSpPr txBox="1"/>
          <p:nvPr/>
        </p:nvSpPr>
        <p:spPr>
          <a:xfrm>
            <a:off x="548640" y="1463040"/>
            <a:ext cx="5486400" cy="4572000"/>
          </a:xfrm>
          <a:prstGeom prst="rect">
            <a:avLst/>
          </a:prstGeom>
          <a:noFill/>
        </p:spPr>
        <p:txBody>
          <a:bodyPr wrap="square" anchor="t" lIns="45720" rIns="45720">
            <a:spAutoFit/>
          </a:bodyPr>
          <a:lstStyle/>
          <a:p>
            <a:pPr>
              <a:spcAft>
                <a:spcPts val="900"/>
              </a:spcAft>
            </a:pPr>
            <a:r>
              <a:rPr sz="1600" b="0" i="0">
                <a:solidFill>
                  <a:srgbClr val="2A78D6"/>
                </a:solidFill>
                <a:latin typeface="Arial"/>
              </a:rPr>
              <a:t>•  </a:t>
            </a:r>
            <a:r>
              <a:rPr sz="1600" b="1" i="0">
                <a:solidFill>
                  <a:srgbClr val="0B0B0B"/>
                </a:solidFill>
                <a:latin typeface="Arial"/>
              </a:rPr>
              <a:t>Hạn chế</a:t>
            </a:r>
            <a:r>
              <a:rPr sz="1600" b="0" i="0">
                <a:solidFill>
                  <a:srgbClr val="0B0B0B"/>
                </a:solidFill>
                <a:latin typeface="Arial"/>
              </a:rPr>
              <a:t/>
            </a:r>
          </a:p>
          <a:p>
            <a:pPr lvl="1">
              <a:spcAft>
                <a:spcPts val="500"/>
              </a:spcAft>
            </a:pPr>
            <a:r>
              <a:rPr sz="1400" b="0" i="0">
                <a:solidFill>
                  <a:srgbClr val="898781"/>
                </a:solidFill>
                <a:latin typeface="Arial"/>
              </a:rPr>
              <a:t>–  </a:t>
            </a:r>
            <a:r>
              <a:rPr sz="1400" b="0" i="0">
                <a:solidFill>
                  <a:srgbClr val="52514E"/>
                </a:solidFill>
                <a:latin typeface="Arial"/>
              </a:rPr>
              <a:t>Dữ liệu tổng hợp; chưa có email lừa đảo thật của trường</a:t>
            </a:r>
          </a:p>
          <a:p>
            <a:pPr lvl="1">
              <a:spcAft>
                <a:spcPts val="500"/>
              </a:spcAft>
            </a:pPr>
            <a:r>
              <a:rPr sz="1400" b="0" i="0">
                <a:solidFill>
                  <a:srgbClr val="898781"/>
                </a:solidFill>
                <a:latin typeface="Arial"/>
              </a:rPr>
              <a:t>–  </a:t>
            </a:r>
            <a:r>
              <a:rPr sz="1400" b="0" i="0">
                <a:solidFill>
                  <a:srgbClr val="52514E"/>
                </a:solidFill>
                <a:latin typeface="Arial"/>
              </a:rPr>
              <a:t>'LLM viết lại' mới là bộ luật mô phỏng</a:t>
            </a:r>
          </a:p>
          <a:p>
            <a:pPr lvl="1">
              <a:spcAft>
                <a:spcPts val="500"/>
              </a:spcAft>
            </a:pPr>
            <a:r>
              <a:rPr sz="1400" b="0" i="0">
                <a:solidFill>
                  <a:srgbClr val="898781"/>
                </a:solidFill>
                <a:latin typeface="Arial"/>
              </a:rPr>
              <a:t>–  </a:t>
            </a:r>
            <a:r>
              <a:rPr sz="1400" b="0" i="0">
                <a:solidFill>
                  <a:srgbClr val="52514E"/>
                </a:solidFill>
                <a:latin typeface="Arial"/>
              </a:rPr>
              <a:t>Chưa tái hiện Table 7–8 (ModernBERT, DeBERTa, Qwen, Phi-4, XGBoost…)</a:t>
            </a:r>
          </a:p>
          <a:p>
            <a:pPr lvl="1">
              <a:spcAft>
                <a:spcPts val="500"/>
              </a:spcAft>
            </a:pPr>
            <a:r>
              <a:rPr sz="1400" b="0" i="0">
                <a:solidFill>
                  <a:srgbClr val="898781"/>
                </a:solidFill>
                <a:latin typeface="Arial"/>
              </a:rPr>
              <a:t>–  </a:t>
            </a:r>
            <a:r>
              <a:rPr sz="1400" b="0" i="0">
                <a:solidFill>
                  <a:srgbClr val="52514E"/>
                </a:solidFill>
                <a:latin typeface="Arial"/>
              </a:rPr>
              <a:t>Tokenizer MobileBERT không giữ dấu tiếng Việt</a:t>
            </a:r>
          </a:p>
          <a:p>
            <a:pPr lvl="1">
              <a:spcAft>
                <a:spcPts val="500"/>
              </a:spcAft>
            </a:pPr>
            <a:r>
              <a:rPr sz="1400" b="0" i="0">
                <a:solidFill>
                  <a:srgbClr val="898781"/>
                </a:solidFill>
                <a:latin typeface="Arial"/>
              </a:rPr>
              <a:t>–  </a:t>
            </a:r>
            <a:r>
              <a:rPr sz="1400" b="0" i="0">
                <a:solidFill>
                  <a:srgbClr val="52514E"/>
                </a:solidFill>
                <a:latin typeface="Arial"/>
              </a:rPr>
              <a:t>Chưa kiểm tra danh tiếng URL trực tuyến, chưa sandbox tệp</a:t>
            </a:r>
          </a:p>
          <a:p>
            <a:pPr lvl="1">
              <a:spcAft>
                <a:spcPts val="500"/>
              </a:spcAft>
            </a:pPr>
            <a:r>
              <a:rPr sz="1400" b="0" i="0">
                <a:solidFill>
                  <a:srgbClr val="898781"/>
                </a:solidFill>
                <a:latin typeface="Arial"/>
              </a:rPr>
              <a:t>–  </a:t>
            </a:r>
            <a:r>
              <a:rPr sz="1400" b="0" i="0">
                <a:solidFill>
                  <a:srgbClr val="52514E"/>
                </a:solidFill>
                <a:latin typeface="Arial"/>
              </a:rPr>
              <a:t>OCR trên CPU mất vài giây mỗi ảnh</a:t>
            </a:r>
          </a:p>
        </p:txBody>
      </p:sp>
      <p:sp>
        <p:nvSpPr>
          <p:cNvPr id="7" name="TextBox 6"/>
          <p:cNvSpPr txBox="1"/>
          <p:nvPr/>
        </p:nvSpPr>
        <p:spPr>
          <a:xfrm>
            <a:off x="6309360" y="1463040"/>
            <a:ext cx="5486400" cy="4572000"/>
          </a:xfrm>
          <a:prstGeom prst="rect">
            <a:avLst/>
          </a:prstGeom>
          <a:noFill/>
        </p:spPr>
        <p:txBody>
          <a:bodyPr wrap="square" anchor="t" lIns="45720" rIns="45720">
            <a:spAutoFit/>
          </a:bodyPr>
          <a:lstStyle/>
          <a:p>
            <a:pPr>
              <a:spcAft>
                <a:spcPts val="900"/>
              </a:spcAft>
            </a:pPr>
            <a:r>
              <a:rPr sz="1600" b="0" i="0">
                <a:solidFill>
                  <a:srgbClr val="2A78D6"/>
                </a:solidFill>
                <a:latin typeface="Arial"/>
              </a:rPr>
              <a:t>•  </a:t>
            </a:r>
            <a:r>
              <a:rPr sz="1600" b="1" i="0">
                <a:solidFill>
                  <a:srgbClr val="0B0B0B"/>
                </a:solidFill>
                <a:latin typeface="Arial"/>
              </a:rPr>
              <a:t>Hướng tiếp theo</a:t>
            </a:r>
            <a:r>
              <a:rPr sz="1600" b="0" i="0">
                <a:solidFill>
                  <a:srgbClr val="0B0B0B"/>
                </a:solidFill>
                <a:latin typeface="Arial"/>
              </a:rPr>
              <a:t/>
            </a:r>
          </a:p>
          <a:p>
            <a:pPr lvl="1">
              <a:spcAft>
                <a:spcPts val="500"/>
              </a:spcAft>
            </a:pPr>
            <a:r>
              <a:rPr sz="1400" b="0" i="0">
                <a:solidFill>
                  <a:srgbClr val="898781"/>
                </a:solidFill>
                <a:latin typeface="Arial"/>
              </a:rPr>
              <a:t>–  </a:t>
            </a:r>
            <a:r>
              <a:rPr sz="1400" b="0" i="0">
                <a:solidFill>
                  <a:srgbClr val="52514E"/>
                </a:solidFill>
                <a:latin typeface="Arial"/>
              </a:rPr>
              <a:t>Thu thập email lừa đảo thật (ẩn danh) qua hộp thư báo cáo của Phòng CNTT</a:t>
            </a:r>
          </a:p>
          <a:p>
            <a:pPr lvl="1">
              <a:spcAft>
                <a:spcPts val="500"/>
              </a:spcAft>
            </a:pPr>
            <a:r>
              <a:rPr sz="1400" b="0" i="0">
                <a:solidFill>
                  <a:srgbClr val="898781"/>
                </a:solidFill>
                <a:latin typeface="Arial"/>
              </a:rPr>
              <a:t>–  </a:t>
            </a:r>
            <a:r>
              <a:rPr sz="1400" b="0" i="0">
                <a:solidFill>
                  <a:srgbClr val="52514E"/>
                </a:solidFill>
                <a:latin typeface="Arial"/>
              </a:rPr>
              <a:t>Sinh biến thể bằng LLM thật chạy cục bộ (đã có chỗ cắm Ollama)</a:t>
            </a:r>
          </a:p>
          <a:p>
            <a:pPr lvl="1">
              <a:spcAft>
                <a:spcPts val="500"/>
              </a:spcAft>
            </a:pPr>
            <a:r>
              <a:rPr sz="1400" b="0" i="0">
                <a:solidFill>
                  <a:srgbClr val="898781"/>
                </a:solidFill>
                <a:latin typeface="Arial"/>
              </a:rPr>
              <a:t>–  </a:t>
            </a:r>
            <a:r>
              <a:rPr sz="1400" b="0" i="0">
                <a:solidFill>
                  <a:srgbClr val="52514E"/>
                </a:solidFill>
                <a:latin typeface="Arial"/>
              </a:rPr>
              <a:t>Teacher đa ngôn ngữ: PhoBERT / XLM-R</a:t>
            </a:r>
          </a:p>
          <a:p>
            <a:pPr lvl="1">
              <a:spcAft>
                <a:spcPts val="500"/>
              </a:spcAft>
            </a:pPr>
            <a:r>
              <a:rPr sz="1400" b="0" i="0">
                <a:solidFill>
                  <a:srgbClr val="898781"/>
                </a:solidFill>
                <a:latin typeface="Arial"/>
              </a:rPr>
              <a:t>–  </a:t>
            </a:r>
            <a:r>
              <a:rPr sz="1400" b="0" i="0">
                <a:solidFill>
                  <a:srgbClr val="52514E"/>
                </a:solidFill>
                <a:latin typeface="Arial"/>
              </a:rPr>
              <a:t>Khảo sát người dùng: kiểm tra trước/sau 2 tuần luyện tập</a:t>
            </a:r>
          </a:p>
          <a:p>
            <a:pPr lvl="1">
              <a:spcAft>
                <a:spcPts val="500"/>
              </a:spcAft>
            </a:pPr>
            <a:r>
              <a:rPr sz="1400" b="0" i="0">
                <a:solidFill>
                  <a:srgbClr val="898781"/>
                </a:solidFill>
                <a:latin typeface="Arial"/>
              </a:rPr>
              <a:t>–  </a:t>
            </a:r>
            <a:r>
              <a:rPr sz="1400" b="0" i="0">
                <a:solidFill>
                  <a:srgbClr val="52514E"/>
                </a:solidFill>
                <a:latin typeface="Arial"/>
              </a:rPr>
              <a:t>Tích hợp: add-in Outlook/Gmail hoặc hộp thư “chuyển tiếp để kiểm tra”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320040"/>
          </a:xfrm>
          <a:prstGeom prst="rect">
            <a:avLst/>
          </a:prstGeom>
          <a:noFill/>
        </p:spPr>
        <p:txBody>
          <a:bodyPr wrap="square" anchor="t" lIns="45720" rIns="45720">
            <a:spAutoFit/>
          </a:bodyPr>
          <a:lstStyle/>
          <a:p>
            <a:pPr>
              <a:spcAft>
                <a:spcPts val="600"/>
              </a:spcAft>
            </a:pPr>
            <a:r>
              <a:rPr sz="1200" b="1" i="0">
                <a:solidFill>
                  <a:srgbClr val="2A78D6"/>
                </a:solidFill>
                <a:latin typeface="Arial"/>
              </a:rPr>
              <a:t>6 · KẾT LUẬN</a:t>
            </a:r>
          </a:p>
        </p:txBody>
      </p:sp>
      <p:sp>
        <p:nvSpPr>
          <p:cNvPr id="4" name="TextBox 3"/>
          <p:cNvSpPr txBox="1"/>
          <p:nvPr/>
        </p:nvSpPr>
        <p:spPr>
          <a:xfrm>
            <a:off x="502920" y="566928"/>
            <a:ext cx="11155680" cy="731520"/>
          </a:xfrm>
          <a:prstGeom prst="rect">
            <a:avLst/>
          </a:prstGeom>
          <a:noFill/>
        </p:spPr>
        <p:txBody>
          <a:bodyPr wrap="square" anchor="t" lIns="45720" rIns="45720">
            <a:spAutoFit/>
          </a:bodyPr>
          <a:lstStyle/>
          <a:p>
            <a:pPr>
              <a:spcAft>
                <a:spcPts val="600"/>
              </a:spcAft>
            </a:pPr>
            <a:r>
              <a:rPr sz="2800" b="1" i="0">
                <a:solidFill>
                  <a:srgbClr val="0B0B0B"/>
                </a:solidFill>
                <a:latin typeface="Arial"/>
              </a:rPr>
              <a:t>Kết luận</a:t>
            </a:r>
          </a:p>
        </p:txBody>
      </p:sp>
      <p:sp>
        <p:nvSpPr>
          <p:cNvPr id="5" name="TextBox 4"/>
          <p:cNvSpPr txBox="1"/>
          <p:nvPr/>
        </p:nvSpPr>
        <p:spPr>
          <a:xfrm>
            <a:off x="11247120" y="6400800"/>
            <a:ext cx="731520" cy="274320"/>
          </a:xfrm>
          <a:prstGeom prst="rect">
            <a:avLst/>
          </a:prstGeom>
          <a:noFill/>
        </p:spPr>
        <p:txBody>
          <a:bodyPr wrap="square" anchor="t" lIns="45720" rIns="45720">
            <a:spAutoFit/>
          </a:bodyPr>
          <a:lstStyle/>
          <a:p>
            <a:pPr algn="r">
              <a:spcAft>
                <a:spcPts val="600"/>
              </a:spcAft>
            </a:pPr>
            <a:r>
              <a:rPr sz="1100" b="0" i="0">
                <a:solidFill>
                  <a:srgbClr val="898781"/>
                </a:solidFill>
                <a:latin typeface="Arial"/>
              </a:rPr>
              <a:t>20</a:t>
            </a:r>
          </a:p>
        </p:txBody>
      </p:sp>
      <p:sp>
        <p:nvSpPr>
          <p:cNvPr id="6" name="Rounded Rectangle 5"/>
          <p:cNvSpPr/>
          <p:nvPr/>
        </p:nvSpPr>
        <p:spPr>
          <a:xfrm>
            <a:off x="548640" y="1463040"/>
            <a:ext cx="3566160" cy="420624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72768"/>
            <a:ext cx="3291840" cy="4023360"/>
          </a:xfrm>
          <a:prstGeom prst="rect">
            <a:avLst/>
          </a:prstGeom>
          <a:noFill/>
        </p:spPr>
        <p:txBody>
          <a:bodyPr wrap="square" anchor="t" lIns="45720" rIns="45720">
            <a:spAutoFit/>
          </a:bodyPr>
          <a:lstStyle/>
          <a:p>
            <a:pPr>
              <a:spcAft>
                <a:spcPts val="400"/>
              </a:spcAft>
            </a:pPr>
            <a:r>
              <a:rPr sz="1600" b="1" i="0">
                <a:solidFill>
                  <a:srgbClr val="0B0B0B"/>
                </a:solidFill>
                <a:latin typeface="Arial"/>
              </a:rPr>
              <a:t>Tái hiện</a:t>
            </a:r>
          </a:p>
          <a:p>
            <a:pPr>
              <a:spcAft>
                <a:spcPts val="600"/>
              </a:spcAft>
            </a:pPr>
            <a:r>
              <a:rPr sz="1400" b="0" i="0">
                <a:solidFill>
                  <a:srgbClr val="52514E"/>
                </a:solidFill>
                <a:latin typeface="Arial"/>
              </a:rPr>
              <a:t>Đã dựng lại đầy đủ phương pháp: dữ liệu, 4 baseline, teacher MobileBERT, KD-BiLSTM, 5 kịch bản × 5-fold. Số tham số và xu hướng khớp bài báo; số liệu tuyệt đối chưa so được vì thiếu dữ liệu gốc.</a:t>
            </a:r>
          </a:p>
        </p:txBody>
      </p:sp>
      <p:sp>
        <p:nvSpPr>
          <p:cNvPr id="8" name="Rounded Rectangle 7"/>
          <p:cNvSpPr/>
          <p:nvPr/>
        </p:nvSpPr>
        <p:spPr>
          <a:xfrm>
            <a:off x="4343400" y="1463040"/>
            <a:ext cx="3566160" cy="420624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1572768"/>
            <a:ext cx="3291840" cy="4023360"/>
          </a:xfrm>
          <a:prstGeom prst="rect">
            <a:avLst/>
          </a:prstGeom>
          <a:noFill/>
        </p:spPr>
        <p:txBody>
          <a:bodyPr wrap="square" anchor="t" lIns="45720" rIns="45720">
            <a:spAutoFit/>
          </a:bodyPr>
          <a:lstStyle/>
          <a:p>
            <a:pPr>
              <a:spcAft>
                <a:spcPts val="400"/>
              </a:spcAft>
            </a:pPr>
            <a:r>
              <a:rPr sz="1600" b="1" i="0">
                <a:solidFill>
                  <a:srgbClr val="0B0B0B"/>
                </a:solidFill>
                <a:latin typeface="Arial"/>
              </a:rPr>
              <a:t>Bổ sung</a:t>
            </a:r>
          </a:p>
          <a:p>
            <a:pPr>
              <a:spcAft>
                <a:spcPts val="600"/>
              </a:spcAft>
            </a:pPr>
            <a:r>
              <a:rPr sz="1400" b="0" i="0">
                <a:solidFill>
                  <a:srgbClr val="52514E"/>
                </a:solidFill>
                <a:latin typeface="Arial"/>
              </a:rPr>
              <a:t>Notebook Colab, sửa lỗi huấn luyện teacher, corpus tiếng Việt có template held-out, che URL chống học đường tắt, giải thích attention có dấu.</a:t>
            </a:r>
          </a:p>
        </p:txBody>
      </p:sp>
      <p:sp>
        <p:nvSpPr>
          <p:cNvPr id="10" name="Rounded Rectangle 9"/>
          <p:cNvSpPr/>
          <p:nvPr/>
        </p:nvSpPr>
        <p:spPr>
          <a:xfrm>
            <a:off x="8138160" y="1463040"/>
            <a:ext cx="3566160" cy="4206240"/>
          </a:xfrm>
          <a:prstGeom prst="roundRect">
            <a:avLst>
              <a:gd name="adj" fmla="val 6000"/>
            </a:avLst>
          </a:prstGeom>
          <a:solidFill>
            <a:srgbClr val="CDE2FB"/>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20" y="1572768"/>
            <a:ext cx="3291840" cy="4023360"/>
          </a:xfrm>
          <a:prstGeom prst="rect">
            <a:avLst/>
          </a:prstGeom>
          <a:noFill/>
        </p:spPr>
        <p:txBody>
          <a:bodyPr wrap="square" anchor="t" lIns="45720" rIns="45720">
            <a:spAutoFit/>
          </a:bodyPr>
          <a:lstStyle/>
          <a:p>
            <a:pPr>
              <a:spcAft>
                <a:spcPts val="400"/>
              </a:spcAft>
            </a:pPr>
            <a:r>
              <a:rPr sz="1600" b="1" i="0">
                <a:solidFill>
                  <a:srgbClr val="2A78D6"/>
                </a:solidFill>
                <a:latin typeface="Arial"/>
              </a:rPr>
              <a:t>Ứng dụng</a:t>
            </a:r>
          </a:p>
          <a:p>
            <a:pPr>
              <a:spcAft>
                <a:spcPts val="600"/>
              </a:spcAft>
            </a:pPr>
            <a:r>
              <a:rPr sz="1400" b="0" i="0">
                <a:solidFill>
                  <a:srgbClr val="52514E"/>
                </a:solidFill>
                <a:latin typeface="Arial"/>
              </a:rPr>
              <a:t>PhishLens Edu: lớp phân tích đa kênh có giải thích cho trường học. Mô hình bài báo là kênh nội dung; ảnh/QR/tệp bù cho điểm yếu chuyển kênh (0% → 57–100%).</a:t>
            </a:r>
          </a:p>
        </p:txBody>
      </p:sp>
      <p:sp>
        <p:nvSpPr>
          <p:cNvPr id="12" name="TextBox 11"/>
          <p:cNvSpPr txBox="1"/>
          <p:nvPr/>
        </p:nvSpPr>
        <p:spPr>
          <a:xfrm>
            <a:off x="548640" y="5852160"/>
            <a:ext cx="11155680" cy="548640"/>
          </a:xfrm>
          <a:prstGeom prst="rect">
            <a:avLst/>
          </a:prstGeom>
          <a:noFill/>
        </p:spPr>
        <p:txBody>
          <a:bodyPr wrap="square" anchor="t" lIns="45720" rIns="45720">
            <a:spAutoFit/>
          </a:bodyPr>
          <a:lstStyle/>
          <a:p>
            <a:pPr algn="ctr">
              <a:spcAft>
                <a:spcPts val="600"/>
              </a:spcAft>
            </a:pPr>
            <a:r>
              <a:rPr sz="2000" b="1" i="0">
                <a:solidFill>
                  <a:srgbClr val="2A78D6"/>
                </a:solidFill>
                <a:latin typeface="Arial"/>
              </a:rPr>
              <a:t>Cảm ơn thầy và các bạn đã lắng nghe!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